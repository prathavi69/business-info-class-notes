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1" r:id="rId1"/>
  </p:sldMasterIdLst>
  <p:notesMasterIdLst>
    <p:notesMasterId r:id="rId13"/>
  </p:notesMasterIdLst>
  <p:sldIdLst>
    <p:sldId id="256" r:id="rId2"/>
    <p:sldId id="266" r:id="rId3"/>
    <p:sldId id="257" r:id="rId4"/>
    <p:sldId id="258" r:id="rId5"/>
    <p:sldId id="267" r:id="rId6"/>
    <p:sldId id="259" r:id="rId7"/>
    <p:sldId id="260" r:id="rId8"/>
    <p:sldId id="261" r:id="rId9"/>
    <p:sldId id="262" r:id="rId10"/>
    <p:sldId id="264" r:id="rId11"/>
    <p:sldId id="265" r:id="rId12"/>
  </p:sldIdLst>
  <p:sldSz cx="12192000" cy="6858000"/>
  <p:notesSz cx="6858000" cy="12192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7"/>
    <p:restoredTop sz="96247" autoAdjust="0"/>
  </p:normalViewPr>
  <p:slideViewPr>
    <p:cSldViewPr snapToGrid="0" snapToObjects="1">
      <p:cViewPr>
        <p:scale>
          <a:sx n="110" d="100"/>
          <a:sy n="110" d="100"/>
        </p:scale>
        <p:origin x="51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369080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https://stripe.com/ (Stripe overview)
- https://en.wikipedia.org/wiki/Stripe,_Inc. (Stripe founded 2010; APIs for payment processing)
- https://commons.wikimedia.org/wiki/File:Stripe_Logo,_revised_2016.svg (logo)
- https://www.vodafone.com/news/newsroom/digital-society/m-pesa-created (M‑Pesa launch)
- https://commons.wikimedia.org/wiki/File:M-PESA_LOGO-01.svg (logo)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0583203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6FD7D-B432-CE42-8A4D-73613CE1C5D6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32392-790F-6C45-8A9B-D015707D56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93787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3035359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5722626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4/15/2026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8011630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4/15/2026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6153603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4/15/2026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6038615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4886044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732335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1560817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7952041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994665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4/15/2026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09582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2011680"/>
            <a:ext cx="5669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Fintech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658368" y="2926080"/>
            <a:ext cx="5669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FinTech in practice: evolution, business models</a:t>
            </a:r>
            <a:endParaRPr lang="en-US" sz="1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real‑world cases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58368" y="3977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629400" y="777240"/>
            <a:ext cx="5212080" cy="5440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508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0" descr="/mnt/data/pFintech_assets/contactless.jpg"/>
          <p:cNvPicPr>
            <a:picLocks noChangeAspect="1"/>
          </p:cNvPicPr>
          <p:nvPr/>
        </p:nvPicPr>
        <p:blipFill>
          <a:blip r:embed="rId3"/>
          <a:srcRect l="18067" r="18067"/>
          <a:stretch/>
        </p:blipFill>
        <p:spPr>
          <a:xfrm>
            <a:off x="6629400" y="777240"/>
            <a:ext cx="5212080" cy="54406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629400" y="5897880"/>
            <a:ext cx="5212080" cy="5029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812280" y="6007608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• Banking • Lending • Crypto • RegTech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1185855" y="64465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1/10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055F33-A9ED-1672-7EA8-C0C762BB0E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b="1" dirty="0"/>
              <a:t>                       Definition: FINTECH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AFE4AA-E51A-1812-695F-3C92AE015F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endParaRPr lang="en-IE" dirty="0"/>
          </a:p>
          <a:p>
            <a:pPr marL="0" indent="0">
              <a:buNone/>
            </a:pPr>
            <a:br>
              <a:rPr lang="en-IE" dirty="0"/>
            </a:br>
            <a:r>
              <a:rPr lang="en-IE" dirty="0"/>
              <a:t>      Fintech = Financial Technology — </a:t>
            </a:r>
          </a:p>
          <a:p>
            <a:pPr marL="0" indent="0">
              <a:buNone/>
            </a:pPr>
            <a:r>
              <a:rPr lang="en-IE" dirty="0"/>
              <a:t>      -application of technology to improve or automate financial services.</a:t>
            </a:r>
          </a:p>
          <a:p>
            <a:pPr marL="0" indent="0">
              <a:buNone/>
            </a:pPr>
            <a:endParaRPr lang="en-IE" dirty="0"/>
          </a:p>
          <a:p>
            <a:r>
              <a:rPr lang="en-IE" b="1" dirty="0"/>
              <a:t>Core Points:</a:t>
            </a:r>
            <a:endParaRPr lang="en-IE" dirty="0"/>
          </a:p>
          <a:p>
            <a:r>
              <a:rPr lang="en-IE" dirty="0"/>
              <a:t>Combines finance + innovation</a:t>
            </a:r>
          </a:p>
          <a:p>
            <a:r>
              <a:rPr lang="en-IE" dirty="0"/>
              <a:t>Reduces cost of services</a:t>
            </a:r>
          </a:p>
          <a:p>
            <a:r>
              <a:rPr lang="en-IE" dirty="0"/>
              <a:t>Improves speed &amp; accessibility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26339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09728"/>
            <a:ext cx="100584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256032"/>
            <a:ext cx="1109441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FinTech?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207008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" y="1508760"/>
            <a:ext cx="5760720" cy="461772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blurRad="38100" dist="190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173736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practical definition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2103120"/>
            <a:ext cx="5303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“Technology‑enabled innovation in financial services” that changes products, processes, or business models.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288036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drivers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68680" y="3246120"/>
            <a:ext cx="53949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0020" indent="-16002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Smartphones + always‑on connectivity</a:t>
            </a:r>
            <a:endParaRPr lang="en-US" sz="1400" dirty="0"/>
          </a:p>
          <a:p>
            <a:pPr marL="160020" indent="-16002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+ APIs (faster product iteration)</a:t>
            </a:r>
            <a:endParaRPr lang="en-US" sz="1400" dirty="0"/>
          </a:p>
          <a:p>
            <a:pPr marL="160020" indent="-16002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+ AI (personalisation, fraud}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525780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it’s not “startups vs banks” — it’s a stack of new capabilities.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629400" y="1508760"/>
            <a:ext cx="5559552" cy="461772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blurRad="38100" dist="190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903720" y="17373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pic>
        <p:nvPicPr>
          <p:cNvPr id="15" name="Image 0" descr="/mnt/data/pFintech_assets/fintech_ecosystem_dzo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7416" y="2057400"/>
            <a:ext cx="5303520" cy="397764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1185855" y="64465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2/10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09728"/>
            <a:ext cx="100584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256032"/>
            <a:ext cx="1109441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Evolution: from charge cards to embedded finance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milestones that shaped modern FinTech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207008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22960" y="3520440"/>
            <a:ext cx="10545775" cy="0"/>
          </a:xfrm>
          <a:prstGeom prst="line">
            <a:avLst/>
          </a:prstGeom>
          <a:noFill/>
          <a:ln w="508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21792" y="3319272"/>
            <a:ext cx="402336" cy="402336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58368" y="3355848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17314" y="1874520"/>
            <a:ext cx="2103120" cy="114300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blurRad="38100" dist="190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E" dirty="0"/>
          </a:p>
        </p:txBody>
      </p:sp>
      <p:sp>
        <p:nvSpPr>
          <p:cNvPr id="11" name="Shape 9"/>
          <p:cNvSpPr/>
          <p:nvPr/>
        </p:nvSpPr>
        <p:spPr>
          <a:xfrm>
            <a:off x="139896" y="1874520"/>
            <a:ext cx="109728" cy="1143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-45720" y="20116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1950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-45720" y="228600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Diners Club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charge card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30947" y="3319272"/>
            <a:ext cx="402336" cy="402336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767523" y="3355848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880555" y="3977640"/>
            <a:ext cx="2103120" cy="114300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blurRad="38100" dist="190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880555" y="3977640"/>
            <a:ext cx="109728" cy="1143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063435" y="4114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1967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2063435" y="44348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ATM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(Barclays)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840102" y="3319272"/>
            <a:ext cx="402336" cy="402336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876678" y="3355848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989710" y="1874520"/>
            <a:ext cx="2103120" cy="114300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blurRad="38100" dist="190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989710" y="1874520"/>
            <a:ext cx="109728" cy="1143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172590" y="20116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1995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4172590" y="233172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949257" y="3319272"/>
            <a:ext cx="402336" cy="402336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985833" y="3355848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6098865" y="3977640"/>
            <a:ext cx="2103120" cy="114300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blurRad="38100" dist="190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098865" y="3977640"/>
            <a:ext cx="109728" cy="1143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281745" y="4114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2007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6281745" y="44348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Smartphones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M‑Pesa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9058412" y="3319272"/>
            <a:ext cx="402336" cy="402336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9094988" y="3355848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11167567" y="3319272"/>
            <a:ext cx="402336" cy="402336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11204143" y="3355848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822960" y="5897880"/>
            <a:ext cx="1054577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Pattern: new rails (cards/ATMs) → digital channels (internet/mobile) → platform models (APIs) → data‑sharing + embedded finance.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11185855" y="64465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3/10</a:t>
            </a:r>
            <a:endParaRPr lang="en-US" sz="1000" dirty="0"/>
          </a:p>
        </p:txBody>
      </p:sp>
      <p:sp>
        <p:nvSpPr>
          <p:cNvPr id="46" name="Shape 26">
            <a:extLst>
              <a:ext uri="{FF2B5EF4-FFF2-40B4-BE49-F238E27FC236}">
                <a16:creationId xmlns:a16="http://schemas.microsoft.com/office/drawing/2014/main" id="{EEC5C0D1-81AD-AD3A-0147-18DB89895582}"/>
              </a:ext>
            </a:extLst>
          </p:cNvPr>
          <p:cNvSpPr/>
          <p:nvPr/>
        </p:nvSpPr>
        <p:spPr>
          <a:xfrm>
            <a:off x="9058412" y="3921684"/>
            <a:ext cx="2103120" cy="114300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blurRad="38100" dist="190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r>
              <a:rPr lang="en-US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2020s</a:t>
            </a:r>
          </a:p>
          <a:p>
            <a:endParaRPr lang="en-US" dirty="0"/>
          </a:p>
        </p:txBody>
      </p:sp>
      <p:sp>
        <p:nvSpPr>
          <p:cNvPr id="48" name="Text 29">
            <a:extLst>
              <a:ext uri="{FF2B5EF4-FFF2-40B4-BE49-F238E27FC236}">
                <a16:creationId xmlns:a16="http://schemas.microsoft.com/office/drawing/2014/main" id="{8F5002B1-9916-CE80-6DE4-AF5D1211A6A2}"/>
              </a:ext>
            </a:extLst>
          </p:cNvPr>
          <p:cNvSpPr/>
          <p:nvPr/>
        </p:nvSpPr>
        <p:spPr>
          <a:xfrm>
            <a:off x="9138679" y="4354545"/>
            <a:ext cx="1920240" cy="9296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E" sz="1200" dirty="0"/>
              <a:t>AI &amp; embedded finance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73A771-C6B7-1DCA-31EC-F33138AFA0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Why Fintech Matters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5EC34E-D898-112E-553E-515205F0EC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b="1" dirty="0"/>
              <a:t>Benefits</a:t>
            </a:r>
            <a:endParaRPr lang="en-IE" dirty="0"/>
          </a:p>
          <a:p>
            <a:r>
              <a:rPr lang="en-IE" dirty="0"/>
              <a:t>Faster transactions</a:t>
            </a:r>
          </a:p>
          <a:p>
            <a:r>
              <a:rPr lang="en-IE" dirty="0"/>
              <a:t>Increased financial inclusion</a:t>
            </a:r>
          </a:p>
          <a:p>
            <a:r>
              <a:rPr lang="en-IE" dirty="0"/>
              <a:t>Lower fees</a:t>
            </a:r>
          </a:p>
          <a:p>
            <a:r>
              <a:rPr lang="en-IE" dirty="0"/>
              <a:t>Innovative user experience</a:t>
            </a:r>
          </a:p>
          <a:p>
            <a:r>
              <a:rPr lang="en-IE" b="1" dirty="0"/>
              <a:t>Challenges</a:t>
            </a:r>
            <a:endParaRPr lang="en-IE" dirty="0"/>
          </a:p>
          <a:p>
            <a:r>
              <a:rPr lang="en-IE" dirty="0"/>
              <a:t>Cybersecurity risks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29258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09728"/>
            <a:ext cx="100584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256032"/>
            <a:ext cx="1109441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1 — Payments: Stripe + M‑Pesa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different “rails”, both reshaping money movement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207008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" y="1508760"/>
            <a:ext cx="5486400" cy="461772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blurRad="38100" dist="190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355080" y="1508760"/>
            <a:ext cx="5486400" cy="461772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blurRad="38100" dist="190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" name="Image 0" descr="/mnt/data/pFintech_assets/strip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467" y="1828800"/>
            <a:ext cx="1756746" cy="7315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68680" y="265176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(payments infrastructure)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960120" y="3017520"/>
            <a:ext cx="46634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0020" indent="-16002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Developer‑first APIs: integrate cards, wallets and bank transfers.</a:t>
            </a:r>
            <a:endParaRPr lang="en-US" sz="1400" dirty="0"/>
          </a:p>
          <a:p>
            <a:pPr marL="160020" indent="-16002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pattern: payments + billing + fraud </a:t>
            </a:r>
            <a:endParaRPr lang="en-US" sz="1400" dirty="0"/>
          </a:p>
          <a:p>
            <a:pPr marL="160020" indent="-16002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“moving money” a reusable software component.</a:t>
            </a:r>
            <a:endParaRPr lang="en-US" sz="1400" dirty="0"/>
          </a:p>
        </p:txBody>
      </p:sp>
      <p:pic>
        <p:nvPicPr>
          <p:cNvPr id="12" name="Image 1" descr="/mnt/data/pFintech_assets/mpes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9480" y="1828800"/>
            <a:ext cx="1371600" cy="7315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675120" y="265176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M‑Pesa (mobile money)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6766560" y="3017520"/>
            <a:ext cx="46634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0020" indent="-16002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Cash‑in/cash‑out agent network: bridges physical cash to digital value.</a:t>
            </a:r>
            <a:endParaRPr lang="en-US" sz="1400" dirty="0"/>
          </a:p>
          <a:p>
            <a:pPr marL="160020" indent="-16002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Transfers, bill payments, merchant payments — even on basic phones.</a:t>
            </a:r>
            <a:endParaRPr lang="en-US" sz="1400" dirty="0"/>
          </a:p>
          <a:p>
            <a:pPr marL="160020" indent="-16002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canonical “inclusion” FinTech model in emerging markets.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548640" y="6355080"/>
            <a:ext cx="11094415" cy="384048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777240" y="6446520"/>
            <a:ext cx="106372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Note:— once money moves digitally, other services can be layered on top.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11185855" y="64465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4/10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09728"/>
            <a:ext cx="100584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256032"/>
            <a:ext cx="1109441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2 —</a:t>
            </a:r>
            <a:r>
              <a:rPr lang="en-US" sz="3000" b="1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Revolut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Mobile‑first distribution, multi‑product monetisation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207008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" y="1508760"/>
            <a:ext cx="5486400" cy="461772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blurRad="38100" dist="190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" name="Image 0" descr="/mnt/data/pFintech_assets/revolu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868805"/>
            <a:ext cx="2743200" cy="60579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68680" y="265176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Revolut (Europe/UK‑led super‑app pattern)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960120" y="3017520"/>
            <a:ext cx="46634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0020" indent="-16002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FX + cards + subscriptions → cross‑sell into savings, investing, crypto, loans.</a:t>
            </a:r>
            <a:endParaRPr lang="en-US" sz="1400" dirty="0"/>
          </a:p>
          <a:p>
            <a:pPr marL="160020" indent="-16002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lever: app distribution + automated onboarding/KYC.</a:t>
            </a:r>
            <a:endParaRPr lang="en-US" sz="1400" dirty="0"/>
          </a:p>
          <a:p>
            <a:pPr marL="160020" indent="-16002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Illustrates “banking as a product”, not just a charter.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960120" y="516636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6766560" y="3017520"/>
            <a:ext cx="46634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0020" indent="-160020">
              <a:buSzPct val="100000"/>
              <a:buChar char="•"/>
            </a:pP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548641" y="6355080"/>
            <a:ext cx="8046720" cy="384048"/>
          </a:xfrm>
          <a:prstGeom prst="rect">
            <a:avLst/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777240" y="6446520"/>
            <a:ext cx="106372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Discussion: Where do these banks make money — interchange, subscriptions, FX, lending spreads, or “everything everywhere”?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11185855" y="64465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5/10</a:t>
            </a:r>
            <a:endParaRPr lang="en-US" sz="1000" dirty="0"/>
          </a:p>
        </p:txBody>
      </p:sp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A0713401-0859-1798-0A61-1B9F2B22DB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3976856"/>
              </p:ext>
            </p:extLst>
          </p:nvPr>
        </p:nvGraphicFramePr>
        <p:xfrm>
          <a:off x="838200" y="1825625"/>
          <a:ext cx="5836920" cy="1554480"/>
        </p:xfrm>
        <a:graphic>
          <a:graphicData uri="http://schemas.openxmlformats.org/drawingml/2006/table">
            <a:tbl>
              <a:tblPr/>
              <a:tblGrid>
                <a:gridCol w="5836920">
                  <a:extLst>
                    <a:ext uri="{9D8B030D-6E8A-4147-A177-3AD203B41FA5}">
                      <a16:colId xmlns:a16="http://schemas.microsoft.com/office/drawing/2014/main" val="341957711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99307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endParaRPr lang="en-IE" dirty="0">
                        <a:effectLst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04895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latinLnBrk="0">
                        <a:buNone/>
                      </a:pPr>
                      <a:endParaRPr lang="en-IE" dirty="0">
                        <a:effectLst/>
                      </a:endParaRPr>
                    </a:p>
                  </a:txBody>
                  <a:tcPr marL="0" marR="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16847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latinLnBrk="0">
                        <a:buNone/>
                      </a:pPr>
                      <a:endParaRPr lang="en-IE" dirty="0">
                        <a:effectLst/>
                      </a:endParaRPr>
                    </a:p>
                  </a:txBody>
                  <a:tcPr marL="0" marR="0" marT="0" marB="152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3859361"/>
                  </a:ext>
                </a:extLst>
              </a:tr>
            </a:tbl>
          </a:graphicData>
        </a:graphic>
      </p:graphicFrame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2564507A-C192-B453-E7D0-19B0F0399B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5098223"/>
              </p:ext>
            </p:extLst>
          </p:nvPr>
        </p:nvGraphicFramePr>
        <p:xfrm>
          <a:off x="655093" y="4661394"/>
          <a:ext cx="5379947" cy="2072640"/>
        </p:xfrm>
        <a:graphic>
          <a:graphicData uri="http://schemas.openxmlformats.org/drawingml/2006/table">
            <a:tbl>
              <a:tblPr/>
              <a:tblGrid>
                <a:gridCol w="5379947">
                  <a:extLst>
                    <a:ext uri="{9D8B030D-6E8A-4147-A177-3AD203B41FA5}">
                      <a16:colId xmlns:a16="http://schemas.microsoft.com/office/drawing/2014/main" val="34544801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latinLnBrk="0">
                        <a:buNone/>
                      </a:pPr>
                      <a:r>
                        <a:rPr lang="en-IE" dirty="0">
                          <a:solidFill>
                            <a:srgbClr val="000000"/>
                          </a:solidFill>
                          <a:effectLst/>
                          <a:latin typeface="Inter"/>
                        </a:rPr>
                        <a:t>  2025 – Annual Report</a:t>
                      </a:r>
                    </a:p>
                    <a:p>
                      <a:pPr algn="l" latinLnBrk="0">
                        <a:buNone/>
                      </a:pPr>
                      <a:r>
                        <a:rPr lang="en-IE" dirty="0">
                          <a:solidFill>
                            <a:srgbClr val="000000"/>
                          </a:solidFill>
                          <a:effectLst/>
                          <a:latin typeface="Inter"/>
                        </a:rPr>
                        <a:t>   68.3M customers worldwide.</a:t>
                      </a:r>
                    </a:p>
                    <a:p>
                      <a:pPr algn="l" latinLnBrk="0">
                        <a:buNone/>
                      </a:pPr>
                      <a:r>
                        <a:rPr lang="en-IE" dirty="0">
                          <a:solidFill>
                            <a:srgbClr val="000000"/>
                          </a:solidFill>
                          <a:effectLst/>
                          <a:latin typeface="Inter"/>
                        </a:rPr>
                        <a:t>   Revenue increases by 46%</a:t>
                      </a:r>
                    </a:p>
                    <a:p>
                      <a:pPr algn="l" latinLnBrk="0">
                        <a:buNone/>
                      </a:pPr>
                      <a:r>
                        <a:rPr lang="en-IE" dirty="0">
                          <a:solidFill>
                            <a:srgbClr val="000000"/>
                          </a:solidFill>
                          <a:effectLst/>
                          <a:latin typeface="Inter"/>
                        </a:rPr>
                        <a:t>   Valued at $750m, USD</a:t>
                      </a:r>
                    </a:p>
                    <a:p>
                      <a:pPr algn="l" latinLnBrk="0">
                        <a:buNone/>
                      </a:pPr>
                      <a:r>
                        <a:rPr lang="en-IE" dirty="0">
                          <a:solidFill>
                            <a:srgbClr val="000000"/>
                          </a:solidFill>
                          <a:effectLst/>
                          <a:latin typeface="Inter"/>
                        </a:rPr>
                        <a:t>   Operating as a bank in 30+ markets</a:t>
                      </a:r>
                    </a:p>
                    <a:p>
                      <a:pPr algn="l" latinLnBrk="0">
                        <a:buNone/>
                      </a:pPr>
                      <a:endParaRPr lang="en-IE" dirty="0">
                        <a:solidFill>
                          <a:srgbClr val="000000"/>
                        </a:solidFill>
                        <a:effectLst/>
                        <a:latin typeface="Inter"/>
                      </a:endParaRPr>
                    </a:p>
                    <a:p>
                      <a:pPr algn="l" latinLnBrk="0">
                        <a:buNone/>
                      </a:pPr>
                      <a:endParaRPr lang="en-IE" dirty="0">
                        <a:solidFill>
                          <a:srgbClr val="000000"/>
                        </a:solidFill>
                        <a:effectLst/>
                        <a:latin typeface="Inter"/>
                      </a:endParaRPr>
                    </a:p>
                  </a:txBody>
                  <a:tcPr marL="0" marR="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727893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09728"/>
            <a:ext cx="100584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256032"/>
            <a:ext cx="1109441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3 — BNPL: Afterpay + Klarna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at checkout: convenience, fees, and regulation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207008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" y="1508760"/>
            <a:ext cx="5486400" cy="461772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blurRad="38100" dist="190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355080" y="1508760"/>
            <a:ext cx="5486400" cy="461772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blurRad="38100" dist="190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" name="Image 0" descr="/mnt/data/pFintech_assets/afterp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891284"/>
            <a:ext cx="2926080" cy="60655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68680" y="265176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Afterpay (Australia‑born BNPL)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960120" y="3017520"/>
            <a:ext cx="46634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0020" indent="-16002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Four‑instalment model: consumer adoption via “simple + fast” UX.</a:t>
            </a:r>
            <a:endParaRPr lang="en-US" sz="1400" dirty="0"/>
          </a:p>
          <a:p>
            <a:pPr marL="160020" indent="-16002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often driven by merchant fees (and late fees where allowed).</a:t>
            </a:r>
            <a:endParaRPr lang="en-US" sz="1400" dirty="0"/>
          </a:p>
          <a:p>
            <a:pPr marL="160020" indent="-16002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Scaled distribution through retailer checkout integration.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960120" y="521208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signal: acquired by Block (deal completed 2022).</a:t>
            </a:r>
            <a:endParaRPr lang="en-US" sz="1200" dirty="0"/>
          </a:p>
        </p:txBody>
      </p:sp>
      <p:pic>
        <p:nvPicPr>
          <p:cNvPr id="13" name="Image 1" descr="/mnt/data/pFintech_assets/klarn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8597" y="1828800"/>
            <a:ext cx="1739126" cy="7315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675120" y="265176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Klarna (early BNPL → broader commerce platform)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6766560" y="3017520"/>
            <a:ext cx="46634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0020" indent="-16002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BNPL grew from online checkout to marketing + shopping discovery.</a:t>
            </a:r>
            <a:endParaRPr lang="en-US" sz="1400" dirty="0"/>
          </a:p>
          <a:p>
            <a:pPr marL="160020" indent="-16002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risk + consumer outcomes drive regulatory attention.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6766560" y="521208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Founded 2005 (Stockholm) — one of the earliest large BNPL players.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548640" y="6355080"/>
            <a:ext cx="11094415" cy="384048"/>
          </a:xfrm>
          <a:prstGeom prst="rect">
            <a:avLst/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777240" y="6446520"/>
            <a:ext cx="106372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Watch‑outs: credit losses in downturns, merchant concentration, and tighter consumer‑credit regulation.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11185855" y="64465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6/10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09728"/>
            <a:ext cx="100584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256032"/>
            <a:ext cx="1109441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Crypto-  new risks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does it fit in the FinTech landscape?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207008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" y="1508760"/>
            <a:ext cx="6629400" cy="461772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blurRad="38100" dist="190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1737360"/>
            <a:ext cx="6126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understand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2148840"/>
            <a:ext cx="635508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0020" indent="-16002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 uses smart contracts to offer trading, lending, and other services without traditional intermediaries.</a:t>
            </a:r>
            <a:endParaRPr lang="en-US" sz="1400" dirty="0"/>
          </a:p>
          <a:p>
            <a:pPr marL="160020" indent="-16002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Stablecoins + exchanges often connect crypto markets to the real economy (“on/off‑ramps”).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4434840"/>
            <a:ext cx="6126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checklist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68680" y="4800600"/>
            <a:ext cx="63550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0020" indent="-16002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Volatility and liquidity shocks</a:t>
            </a:r>
            <a:endParaRPr lang="en-US" sz="1400" dirty="0"/>
          </a:p>
          <a:p>
            <a:pPr marL="160020" indent="-16002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risks</a:t>
            </a:r>
            <a:endParaRPr lang="en-US" sz="1400" dirty="0"/>
          </a:p>
          <a:p>
            <a:pPr marL="160020" indent="-16002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and consumer‑protection gaps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60920" y="1508760"/>
            <a:ext cx="4828032" cy="361188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blurRad="38100" dist="190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0" descr="/mnt/data/pFintech_assets/coinb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920" y="1783080"/>
            <a:ext cx="3838880" cy="6858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7635240" y="2560320"/>
            <a:ext cx="4297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Coinbase as an example of an exchange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7360920" y="5349240"/>
            <a:ext cx="4828032" cy="777240"/>
          </a:xfrm>
          <a:prstGeom prst="rect">
            <a:avLst/>
          </a:prstGeom>
          <a:solidFill>
            <a:srgbClr val="FFF7ED"/>
          </a:solidFill>
          <a:ln w="12700">
            <a:solidFill>
              <a:srgbClr val="FDBA7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11185855" y="64465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7/10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09728"/>
            <a:ext cx="100584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256032"/>
            <a:ext cx="1109441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What’s next?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Trends to watch (and the risks that come with them)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207008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" y="1508760"/>
            <a:ext cx="6629400" cy="461772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blurRad="38100" dist="190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1737360"/>
            <a:ext cx="6126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2148840"/>
            <a:ext cx="63550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0020" indent="-16002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finance (payments/lending inside non‑bank products)</a:t>
            </a:r>
            <a:endParaRPr lang="en-US" sz="1400" dirty="0"/>
          </a:p>
          <a:p>
            <a:pPr marL="160020" indent="-16002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Real‑time payments + instant settlement expectations</a:t>
            </a:r>
            <a:endParaRPr lang="en-US" sz="1400" dirty="0"/>
          </a:p>
          <a:p>
            <a:pPr marL="160020" indent="-16002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everywhere: fraud, service, underwriting, personal finance coaching</a:t>
            </a:r>
            <a:endParaRPr lang="en-US" sz="1400" dirty="0"/>
          </a:p>
          <a:p>
            <a:pPr marL="160020" indent="-16002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identity + wallets + tokenisation experiments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4251960"/>
            <a:ext cx="6126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risks &amp; controls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68680" y="4663440"/>
            <a:ext cx="63550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0020" indent="-16002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+ data protection</a:t>
            </a:r>
            <a:endParaRPr lang="en-US" sz="1400" dirty="0"/>
          </a:p>
          <a:p>
            <a:pPr marL="160020" indent="-16002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risk (AI): bias, drift, explainability</a:t>
            </a:r>
            <a:endParaRPr lang="en-US" sz="1400" dirty="0"/>
          </a:p>
          <a:p>
            <a:pPr marL="160020" indent="-16002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Concentration (a few cloud/API providers)</a:t>
            </a:r>
            <a:endParaRPr lang="en-US" sz="1400" dirty="0"/>
          </a:p>
          <a:p>
            <a:pPr marL="160020" indent="-16002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resilience + incident response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60920" y="1508760"/>
            <a:ext cx="4828032" cy="4617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508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0" descr="/mnt/data/pFintech_assets/ai_network.jpg"/>
          <p:cNvPicPr>
            <a:picLocks noChangeAspect="1"/>
          </p:cNvPicPr>
          <p:nvPr/>
        </p:nvPicPr>
        <p:blipFill>
          <a:blip r:embed="rId3"/>
          <a:srcRect l="20585" r="20585"/>
          <a:stretch/>
        </p:blipFill>
        <p:spPr>
          <a:xfrm>
            <a:off x="7360920" y="1508760"/>
            <a:ext cx="4828032" cy="461772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7360920" y="5577840"/>
            <a:ext cx="4828032" cy="548640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7543800" y="571500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+ data: big upside, but governance matters.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1185855" y="64465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9/10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09728"/>
            <a:ext cx="100584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256032"/>
            <a:ext cx="1109441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207008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" y="1508760"/>
            <a:ext cx="7086600" cy="461772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blurRad="38100" dist="190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1737360"/>
            <a:ext cx="6492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68680" y="2148840"/>
            <a:ext cx="66751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0020" indent="-16002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FinTech is a set of capabilities (APIs, data, UX, automation) that can be adopted by any institution.</a:t>
            </a:r>
            <a:endParaRPr lang="en-US" sz="1400" dirty="0"/>
          </a:p>
          <a:p>
            <a:pPr marL="160020" indent="-16002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success stories start with a wedge product, then expand via cross‑sell and platform effects.</a:t>
            </a:r>
            <a:endParaRPr lang="en-US" sz="1400" dirty="0"/>
          </a:p>
          <a:p>
            <a:pPr marL="160020" indent="-16002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Regulation and trust are not “constraints” — they are part of the product.</a:t>
            </a:r>
            <a:endParaRPr lang="en-US" sz="1400" dirty="0"/>
          </a:p>
          <a:p>
            <a:pPr marL="160020" indent="-16002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management (fraud, cyber, credit, model risk) is a competitive advantage.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22960" y="4480560"/>
            <a:ext cx="6492240" cy="1417320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05840" y="4617720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818120" y="1508760"/>
            <a:ext cx="4370832" cy="461772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blurRad="38100" dist="190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092440" y="17373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 covered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092440" y="2057400"/>
            <a:ext cx="1920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0" descr="/mnt/data/pFintech_assets/strip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3780" y="2194560"/>
            <a:ext cx="1317559" cy="548640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10241280" y="2057400"/>
            <a:ext cx="1920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1" descr="/mnt/data/pFintech_assets/mpes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87050" y="2194560"/>
            <a:ext cx="1028700" cy="548640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8092440" y="3108960"/>
            <a:ext cx="1920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2" descr="/mnt/data/pFintech_assets/revolu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0" y="3338703"/>
            <a:ext cx="1645920" cy="363474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8092440" y="4160520"/>
            <a:ext cx="1920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Image 4" descr="/mnt/data/pFintech_assets/afterpa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0" y="4401407"/>
            <a:ext cx="1645920" cy="341186"/>
          </a:xfrm>
          <a:prstGeom prst="rect">
            <a:avLst/>
          </a:prstGeom>
        </p:spPr>
      </p:pic>
      <p:sp>
        <p:nvSpPr>
          <p:cNvPr id="25" name="Shape 18"/>
          <p:cNvSpPr/>
          <p:nvPr/>
        </p:nvSpPr>
        <p:spPr>
          <a:xfrm>
            <a:off x="10241280" y="4160520"/>
            <a:ext cx="1920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5" descr="/mnt/data/pFintech_assets/klarn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49228" y="3243939"/>
            <a:ext cx="1304345" cy="548640"/>
          </a:xfrm>
          <a:prstGeom prst="rect">
            <a:avLst/>
          </a:prstGeom>
        </p:spPr>
      </p:pic>
      <p:sp>
        <p:nvSpPr>
          <p:cNvPr id="27" name="Shape 19"/>
          <p:cNvSpPr/>
          <p:nvPr/>
        </p:nvSpPr>
        <p:spPr>
          <a:xfrm>
            <a:off x="8092440" y="5212080"/>
            <a:ext cx="1920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8" name="Image 6" descr="/mnt/data/pFintech_assets/coinbas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29600" y="5476542"/>
            <a:ext cx="1645920" cy="294037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11185855" y="64465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36</TotalTime>
  <Words>974</Words>
  <Application>Microsoft Office PowerPoint</Application>
  <PresentationFormat>Widescreen</PresentationFormat>
  <Paragraphs>131</Paragraphs>
  <Slides>11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Inter</vt:lpstr>
      <vt:lpstr>Office 2013 - 2022 Theme</vt:lpstr>
      <vt:lpstr>PowerPoint Presentation</vt:lpstr>
      <vt:lpstr>                       Definition: FINTECH</vt:lpstr>
      <vt:lpstr>PowerPoint Presentation</vt:lpstr>
      <vt:lpstr>PowerPoint Presentation</vt:lpstr>
      <vt:lpstr>Why Fintech Matters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Lecturer</dc:creator>
  <cp:lastModifiedBy>ILTG</cp:lastModifiedBy>
  <cp:revision>9</cp:revision>
  <dcterms:created xsi:type="dcterms:W3CDTF">2026-02-21T14:44:42Z</dcterms:created>
  <dcterms:modified xsi:type="dcterms:W3CDTF">2026-04-15T08:35:34Z</dcterms:modified>
</cp:coreProperties>
</file>