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CA84-8DC2-4C97-8EDC-7356180420F2}" type="datetimeFigureOut">
              <a:rPr lang="en-IE" smtClean="0"/>
              <a:t>06/06/2024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0B04-0CFF-40DD-A848-15EC5019197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50872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CA84-8DC2-4C97-8EDC-7356180420F2}" type="datetimeFigureOut">
              <a:rPr lang="en-IE" smtClean="0"/>
              <a:t>06/06/2024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0B04-0CFF-40DD-A848-15EC5019197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8239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CA84-8DC2-4C97-8EDC-7356180420F2}" type="datetimeFigureOut">
              <a:rPr lang="en-IE" smtClean="0"/>
              <a:t>06/06/2024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0B04-0CFF-40DD-A848-15EC5019197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78280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CA84-8DC2-4C97-8EDC-7356180420F2}" type="datetimeFigureOut">
              <a:rPr lang="en-IE" smtClean="0"/>
              <a:t>06/06/2024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0B04-0CFF-40DD-A848-15EC5019197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3226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CA84-8DC2-4C97-8EDC-7356180420F2}" type="datetimeFigureOut">
              <a:rPr lang="en-IE" smtClean="0"/>
              <a:t>06/06/2024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0B04-0CFF-40DD-A848-15EC5019197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66649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CA84-8DC2-4C97-8EDC-7356180420F2}" type="datetimeFigureOut">
              <a:rPr lang="en-IE" smtClean="0"/>
              <a:t>06/06/2024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0B04-0CFF-40DD-A848-15EC5019197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0209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CA84-8DC2-4C97-8EDC-7356180420F2}" type="datetimeFigureOut">
              <a:rPr lang="en-IE" smtClean="0"/>
              <a:t>06/06/2024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0B04-0CFF-40DD-A848-15EC5019197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10455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CA84-8DC2-4C97-8EDC-7356180420F2}" type="datetimeFigureOut">
              <a:rPr lang="en-IE" smtClean="0"/>
              <a:t>06/06/2024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0B04-0CFF-40DD-A848-15EC5019197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18717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CA84-8DC2-4C97-8EDC-7356180420F2}" type="datetimeFigureOut">
              <a:rPr lang="en-IE" smtClean="0"/>
              <a:t>06/06/2024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0B04-0CFF-40DD-A848-15EC5019197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30338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CA84-8DC2-4C97-8EDC-7356180420F2}" type="datetimeFigureOut">
              <a:rPr lang="en-IE" smtClean="0"/>
              <a:t>06/06/2024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0B04-0CFF-40DD-A848-15EC5019197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55307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CA84-8DC2-4C97-8EDC-7356180420F2}" type="datetimeFigureOut">
              <a:rPr lang="en-IE" smtClean="0"/>
              <a:t>06/06/2024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90B04-0CFF-40DD-A848-15EC5019197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7833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0CA84-8DC2-4C97-8EDC-7356180420F2}" type="datetimeFigureOut">
              <a:rPr lang="en-IE" smtClean="0"/>
              <a:t>06/06/2024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90B04-0CFF-40DD-A848-15EC5019197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53792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yubico.co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73870"/>
            <a:ext cx="9144000" cy="1383506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r>
              <a:rPr lang="en-IE" b="1" dirty="0" smtClean="0"/>
              <a:t>Smart Phone Theft</a:t>
            </a:r>
            <a:endParaRPr lang="en-IE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6129561" cy="1655762"/>
          </a:xfrm>
        </p:spPr>
        <p:txBody>
          <a:bodyPr/>
          <a:lstStyle/>
          <a:p>
            <a:r>
              <a:rPr lang="en-IE" dirty="0" smtClean="0"/>
              <a:t> </a:t>
            </a:r>
            <a:endParaRPr lang="en-IE" dirty="0"/>
          </a:p>
        </p:txBody>
      </p:sp>
      <p:pic>
        <p:nvPicPr>
          <p:cNvPr id="8194" name="Picture 2" descr="Mobile Phone Theft – How at Risk Are You? – Switched On Insura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010" y="1857377"/>
            <a:ext cx="8064005" cy="500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0360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smtClean="0"/>
              <a:t> </a:t>
            </a:r>
            <a:endParaRPr lang="en-IE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1690688"/>
            <a:ext cx="5586412" cy="37309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9845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rPr lang="en-IE" dirty="0" smtClean="0"/>
              <a:t>London is the epicentre for phone theft.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smtClean="0"/>
              <a:t>There </a:t>
            </a:r>
            <a:r>
              <a:rPr lang="en-IE" dirty="0"/>
              <a:t>was a </a:t>
            </a:r>
            <a:r>
              <a:rPr lang="en-IE" dirty="0" smtClean="0"/>
              <a:t>33% increase </a:t>
            </a:r>
            <a:r>
              <a:rPr lang="en-IE" dirty="0"/>
              <a:t>in reported mobile phone theft from the person in the year to January 2024, and over </a:t>
            </a:r>
            <a:r>
              <a:rPr lang="en-IE" dirty="0" smtClean="0"/>
              <a:t>1/3 </a:t>
            </a:r>
            <a:r>
              <a:rPr lang="en-IE" dirty="0"/>
              <a:t>of offences took place in </a:t>
            </a:r>
            <a:r>
              <a:rPr lang="en-IE" dirty="0" smtClean="0"/>
              <a:t>Westminster.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387110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93700"/>
            <a:ext cx="10515600" cy="132556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rPr lang="en-IE" dirty="0" smtClean="0"/>
              <a:t> </a:t>
            </a:r>
            <a:r>
              <a:rPr lang="en-IE" dirty="0" smtClean="0"/>
              <a:t>Locked Handset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419850" cy="4351338"/>
          </a:xfrm>
        </p:spPr>
        <p:txBody>
          <a:bodyPr/>
          <a:lstStyle/>
          <a:p>
            <a:r>
              <a:rPr lang="en-IE" dirty="0"/>
              <a:t>A </a:t>
            </a:r>
            <a:r>
              <a:rPr lang="en-IE" b="1" dirty="0"/>
              <a:t>locked handset </a:t>
            </a:r>
            <a:r>
              <a:rPr lang="en-IE" dirty="0"/>
              <a:t>could have a street value of a few hundred pounds if it’s a recent </a:t>
            </a:r>
            <a:r>
              <a:rPr lang="en-IE" dirty="0" smtClean="0"/>
              <a:t>model.</a:t>
            </a:r>
          </a:p>
          <a:p>
            <a:r>
              <a:rPr lang="en-IE" dirty="0" smtClean="0"/>
              <a:t> </a:t>
            </a:r>
            <a:r>
              <a:rPr lang="en-IE" dirty="0"/>
              <a:t>But if unlocked, it could generate multiple thousands of pounds if criminals can get into the settings, change passwords and compromise other security </a:t>
            </a:r>
            <a:r>
              <a:rPr lang="en-IE" dirty="0" smtClean="0"/>
              <a:t>features</a:t>
            </a:r>
            <a:r>
              <a:rPr lang="en-IE" dirty="0"/>
              <a:t>.</a:t>
            </a:r>
          </a:p>
        </p:txBody>
      </p:sp>
      <p:pic>
        <p:nvPicPr>
          <p:cNvPr id="7170" name="Picture 2" descr="What is a Locked Phone? | Bobology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2510631"/>
            <a:ext cx="3648075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0665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rPr lang="en-IE" dirty="0" smtClean="0"/>
              <a:t> </a:t>
            </a:r>
            <a:r>
              <a:rPr lang="en-IE" dirty="0"/>
              <a:t>P</a:t>
            </a:r>
            <a:r>
              <a:rPr lang="en-IE" dirty="0" smtClean="0"/>
              <a:t>redatory </a:t>
            </a:r>
            <a:r>
              <a:rPr lang="en-IE" dirty="0"/>
              <a:t>B</a:t>
            </a:r>
            <a:r>
              <a:rPr lang="en-IE" dirty="0" smtClean="0"/>
              <a:t>ehaviour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819900" cy="4351338"/>
          </a:xfrm>
        </p:spPr>
        <p:txBody>
          <a:bodyPr/>
          <a:lstStyle/>
          <a:p>
            <a:r>
              <a:rPr lang="en-IE" dirty="0"/>
              <a:t>“It’s predatory behaviour,” says </a:t>
            </a:r>
            <a:r>
              <a:rPr lang="en-IE" dirty="0" smtClean="0"/>
              <a:t>FT article. </a:t>
            </a:r>
            <a:r>
              <a:rPr lang="en-IE" dirty="0"/>
              <a:t>“They are like lions stalking prey, and unfortunately, women make easier targets than men</a:t>
            </a:r>
            <a:r>
              <a:rPr lang="en-IE" dirty="0" smtClean="0"/>
              <a:t>.</a:t>
            </a:r>
          </a:p>
          <a:p>
            <a:r>
              <a:rPr lang="en-IE" dirty="0" smtClean="0"/>
              <a:t> </a:t>
            </a:r>
            <a:r>
              <a:rPr lang="en-IE" dirty="0"/>
              <a:t>It’s very unlikely a woman will try to punch you, and a man has more strength to grab someone.” </a:t>
            </a:r>
            <a:endParaRPr lang="en-IE" dirty="0" smtClean="0"/>
          </a:p>
          <a:p>
            <a:r>
              <a:rPr lang="en-IE" dirty="0" smtClean="0"/>
              <a:t>The </a:t>
            </a:r>
            <a:r>
              <a:rPr lang="en-IE" dirty="0"/>
              <a:t>cleaner the snatch, the less likely it is that a screen lock will be activated.</a:t>
            </a:r>
          </a:p>
        </p:txBody>
      </p:sp>
      <p:pic>
        <p:nvPicPr>
          <p:cNvPr id="1026" name="Picture 2" descr="Why Do Dogs Chase Cats?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0368" y="2900363"/>
            <a:ext cx="3763432" cy="2471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4300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smtClean="0"/>
              <a:t> </a:t>
            </a:r>
            <a:endParaRPr lang="en-IE" dirty="0"/>
          </a:p>
        </p:txBody>
      </p:sp>
      <p:pic>
        <p:nvPicPr>
          <p:cNvPr id="4" name="Content Placeholder 3" descr="Column chart of Number of offences 2023-24  ('000) showing London experienced a rise in mobile phone thefts at the end of last year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739" y="1143000"/>
            <a:ext cx="7243762" cy="46148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5668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/>
          <a:lstStyle/>
          <a:p>
            <a:r>
              <a:rPr lang="en-IE" dirty="0" smtClean="0"/>
              <a:t>Criminals can “shoulder surf”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1126" y="2409880"/>
            <a:ext cx="5133974" cy="3076519"/>
          </a:xfrm>
        </p:spPr>
        <p:txBody>
          <a:bodyPr>
            <a:normAutofit fontScale="85000" lnSpcReduction="20000"/>
          </a:bodyPr>
          <a:lstStyle/>
          <a:p>
            <a:r>
              <a:rPr lang="en-IE" dirty="0" smtClean="0"/>
              <a:t>Criminals can </a:t>
            </a:r>
            <a:r>
              <a:rPr lang="en-IE" dirty="0"/>
              <a:t>“shoulder surf” in crowded places, </a:t>
            </a:r>
            <a:r>
              <a:rPr lang="en-IE" dirty="0" smtClean="0"/>
              <a:t>or </a:t>
            </a:r>
            <a:r>
              <a:rPr lang="en-IE" dirty="0"/>
              <a:t>even hack into CCTV — then steal their phones to order. </a:t>
            </a:r>
            <a:endParaRPr lang="en-IE" dirty="0" smtClean="0"/>
          </a:p>
          <a:p>
            <a:r>
              <a:rPr lang="en-IE" dirty="0" smtClean="0"/>
              <a:t>Multiple </a:t>
            </a:r>
            <a:r>
              <a:rPr lang="en-IE" dirty="0"/>
              <a:t>bank and credit cards were stored in his smartphone’s digital wallet, and criminals wasted no time purchasing high-value electrical items, spending slightly less than £10,000 on each credit card to avoid triggering daily spending limits.</a:t>
            </a:r>
          </a:p>
        </p:txBody>
      </p:sp>
      <p:pic>
        <p:nvPicPr>
          <p:cNvPr id="6146" name="Picture 2" descr="Shoulder Surfing: What It Is And How to Prevent It - Rubl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714" y="2240018"/>
            <a:ext cx="4686299" cy="422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24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/>
          <a:lstStyle/>
          <a:p>
            <a:r>
              <a:rPr lang="en-IE" dirty="0" smtClean="0"/>
              <a:t>Phone theft in Dublin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691563" cy="4351338"/>
          </a:xfrm>
        </p:spPr>
        <p:txBody>
          <a:bodyPr>
            <a:normAutofit fontScale="92500"/>
          </a:bodyPr>
          <a:lstStyle/>
          <a:p>
            <a:r>
              <a:rPr lang="en-IE" dirty="0"/>
              <a:t>Tech executive James O’Sullivan was drinking with friends in a bar in Dublin last autumn when he realised his phone had been </a:t>
            </a:r>
            <a:r>
              <a:rPr lang="en-IE" dirty="0" smtClean="0"/>
              <a:t>pickpocketed.</a:t>
            </a:r>
          </a:p>
          <a:p>
            <a:r>
              <a:rPr lang="en-IE" dirty="0" smtClean="0"/>
              <a:t>Marking </a:t>
            </a:r>
            <a:r>
              <a:rPr lang="en-IE" dirty="0"/>
              <a:t>a phone as “lost” by logging into your account online via another device will disable its digital wallet, but O’Sullivan was unable to do this as criminals had reset his password</a:t>
            </a:r>
            <a:r>
              <a:rPr lang="en-IE" dirty="0" smtClean="0"/>
              <a:t>.</a:t>
            </a:r>
          </a:p>
          <a:p>
            <a:r>
              <a:rPr lang="en-IE" dirty="0" smtClean="0"/>
              <a:t> </a:t>
            </a:r>
            <a:r>
              <a:rPr lang="en-IE" dirty="0"/>
              <a:t>“Crypto and banking apps on your phone are very well protected from someone who hasn’t got your phone, but all of the two-factor security codes, notifications and emails to reset passwords are delivered on to the same device,” he says.</a:t>
            </a:r>
          </a:p>
        </p:txBody>
      </p:sp>
    </p:spTree>
    <p:extLst>
      <p:ext uri="{BB962C8B-B14F-4D97-AF65-F5344CB8AC3E}">
        <p14:creationId xmlns:p14="http://schemas.microsoft.com/office/powerpoint/2010/main" val="3853568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rPr lang="en-IE" dirty="0"/>
              <a:t>P</a:t>
            </a:r>
            <a:r>
              <a:rPr lang="en-IE" dirty="0" smtClean="0"/>
              <a:t>ersonal loans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smtClean="0"/>
              <a:t>Criminals can even </a:t>
            </a:r>
            <a:r>
              <a:rPr lang="en-IE" dirty="0"/>
              <a:t>apply for personal loans within banking </a:t>
            </a:r>
            <a:r>
              <a:rPr lang="en-IE" dirty="0" smtClean="0"/>
              <a:t>apps</a:t>
            </a:r>
            <a:endParaRPr lang="en-IE" dirty="0"/>
          </a:p>
        </p:txBody>
      </p:sp>
      <p:pic>
        <p:nvPicPr>
          <p:cNvPr id="2050" name="Picture 2" descr="What are Personal loans? How do they work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13" y="3263107"/>
            <a:ext cx="80200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766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en-IE" dirty="0" smtClean="0"/>
              <a:t>Losses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276975" cy="4351338"/>
          </a:xfrm>
        </p:spPr>
        <p:txBody>
          <a:bodyPr/>
          <a:lstStyle/>
          <a:p>
            <a:r>
              <a:rPr lang="en-IE" dirty="0"/>
              <a:t>Losses from mobile banking fraud increased by 17 per cent to £18.7mn in the first six months of 2023, the highest recorded total, according to banking trade body UK Finance.</a:t>
            </a:r>
          </a:p>
        </p:txBody>
      </p:sp>
      <p:pic>
        <p:nvPicPr>
          <p:cNvPr id="3074" name="Picture 2" descr="XL Catlin profit dives on catastrophe losses | Business Insura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25" y="3121025"/>
            <a:ext cx="5272088" cy="369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379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lang="en-IE" dirty="0" smtClean="0"/>
              <a:t> GSM Standard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661275" cy="4351338"/>
          </a:xfrm>
        </p:spPr>
        <p:txBody>
          <a:bodyPr/>
          <a:lstStyle/>
          <a:p>
            <a:r>
              <a:rPr lang="en-IE" dirty="0"/>
              <a:t>Because UK handsets operate on the GSM standard, barred handsets can be shipped overseas and used on foreign networks with a new Sim card.</a:t>
            </a:r>
          </a:p>
        </p:txBody>
      </p:sp>
      <p:pic>
        <p:nvPicPr>
          <p:cNvPr id="4098" name="Picture 2" descr="What is GSM Technology? - Vitel Glob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9475" y="3490913"/>
            <a:ext cx="3076575" cy="2281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492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lang="en-IE" dirty="0" smtClean="0"/>
              <a:t> </a:t>
            </a:r>
            <a:r>
              <a:rPr lang="en-IE" dirty="0" smtClean="0"/>
              <a:t>Organised Crime Gangs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2328863"/>
            <a:ext cx="6291263" cy="4157662"/>
          </a:xfrm>
        </p:spPr>
        <p:txBody>
          <a:bodyPr/>
          <a:lstStyle/>
          <a:p>
            <a:r>
              <a:rPr lang="en-IE" dirty="0"/>
              <a:t>“The suspicion is that there’s organised crime gangs behind this who are aggregating the stolen phones and re-exporting them around the world in shipping containers,” he says. </a:t>
            </a:r>
            <a:endParaRPr lang="en-IE" dirty="0" smtClean="0"/>
          </a:p>
          <a:p>
            <a:r>
              <a:rPr lang="en-IE" dirty="0" smtClean="0"/>
              <a:t>Within </a:t>
            </a:r>
            <a:r>
              <a:rPr lang="en-IE" dirty="0"/>
              <a:t>the UK, stolen handsets can be broken down for spare parts (screens and camera lenses are very valuable)</a:t>
            </a:r>
          </a:p>
        </p:txBody>
      </p:sp>
      <p:pic>
        <p:nvPicPr>
          <p:cNvPr id="5122" name="Picture 2" descr="The gangs of Britain: New TV series reveals 100 years of organised crime |  UK | News | Express.co.u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75" y="2328863"/>
            <a:ext cx="4500563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243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en-IE" dirty="0" smtClean="0"/>
              <a:t>What can you do?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smtClean="0"/>
              <a:t>Use a </a:t>
            </a:r>
            <a:r>
              <a:rPr lang="en-IE" dirty="0"/>
              <a:t>smartwatch to tap and pay on public transport and receive notifications from mapping and taxi apps, meaning </a:t>
            </a:r>
            <a:r>
              <a:rPr lang="en-IE" dirty="0" smtClean="0"/>
              <a:t>your </a:t>
            </a:r>
            <a:r>
              <a:rPr lang="en-IE" dirty="0"/>
              <a:t>phone can stay </a:t>
            </a:r>
            <a:r>
              <a:rPr lang="en-IE" dirty="0" smtClean="0"/>
              <a:t>hidden in a bag.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39748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rPr lang="en-IE" dirty="0" smtClean="0"/>
              <a:t>Apple IOS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Apple’s latest iOS update rolled out Stolen Device Protection which helps prevent thieves who know your passcode from making critical changes, such as changing your Apple ID password. </a:t>
            </a:r>
            <a:endParaRPr lang="en-IE" dirty="0" smtClean="0"/>
          </a:p>
          <a:p>
            <a:r>
              <a:rPr lang="en-IE" dirty="0" smtClean="0"/>
              <a:t>If </a:t>
            </a:r>
            <a:r>
              <a:rPr lang="en-IE" dirty="0"/>
              <a:t>your iPhone is away from a familiar location such as your </a:t>
            </a:r>
            <a:r>
              <a:rPr lang="en-IE" dirty="0" smtClean="0"/>
              <a:t>home/office, </a:t>
            </a:r>
            <a:r>
              <a:rPr lang="en-IE" dirty="0"/>
              <a:t>a delay of </a:t>
            </a:r>
            <a:r>
              <a:rPr lang="en-IE" dirty="0" smtClean="0"/>
              <a:t>1 </a:t>
            </a:r>
            <a:r>
              <a:rPr lang="en-IE" dirty="0"/>
              <a:t>hour will apply before changes can be made. </a:t>
            </a:r>
            <a:endParaRPr lang="en-IE" dirty="0" smtClean="0"/>
          </a:p>
          <a:p>
            <a:r>
              <a:rPr lang="en-IE" dirty="0" smtClean="0"/>
              <a:t>Plus</a:t>
            </a:r>
            <a:r>
              <a:rPr lang="en-IE" dirty="0"/>
              <a:t>, biometric authentication will be needed to access stored passwords and credit cards with no passcode </a:t>
            </a:r>
            <a:r>
              <a:rPr lang="en-IE" dirty="0" err="1"/>
              <a:t>fallback</a:t>
            </a:r>
            <a:r>
              <a:rPr lang="en-IE" dirty="0"/>
              <a:t>. </a:t>
            </a:r>
            <a:endParaRPr lang="en-IE" dirty="0" smtClean="0"/>
          </a:p>
          <a:p>
            <a:r>
              <a:rPr lang="en-IE" i="1" dirty="0" smtClean="0"/>
              <a:t>However</a:t>
            </a:r>
            <a:r>
              <a:rPr lang="en-IE" i="1" dirty="0"/>
              <a:t>, you need to activate this and have location services switched on for it to work.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00491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rPr lang="en-IE" dirty="0" smtClean="0"/>
              <a:t>Android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Most Android phones come with a built-in feature that allows you to lock individual apps with a PIN</a:t>
            </a:r>
            <a:r>
              <a:rPr lang="en-IE" dirty="0" smtClean="0"/>
              <a:t>.</a:t>
            </a:r>
          </a:p>
          <a:p>
            <a:r>
              <a:rPr lang="en-IE" dirty="0" smtClean="0"/>
              <a:t> </a:t>
            </a:r>
            <a:r>
              <a:rPr lang="en-IE" dirty="0"/>
              <a:t>This will create more friction for criminals — but could also make your phone less convenient to use. </a:t>
            </a:r>
            <a:endParaRPr lang="en-IE" dirty="0" smtClean="0"/>
          </a:p>
          <a:p>
            <a:r>
              <a:rPr lang="en-IE" dirty="0" smtClean="0"/>
              <a:t>Locking </a:t>
            </a:r>
            <a:r>
              <a:rPr lang="en-IE" dirty="0"/>
              <a:t>criminals out by setting up a separate, physical security key such as </a:t>
            </a:r>
            <a:r>
              <a:rPr lang="en-IE" dirty="0" err="1">
                <a:solidFill>
                  <a:schemeClr val="accent1">
                    <a:lumMod val="75000"/>
                  </a:schemeClr>
                </a:solidFill>
              </a:rPr>
              <a:t>YubiKey</a:t>
            </a:r>
            <a:r>
              <a:rPr lang="en-IE" dirty="0"/>
              <a:t> to provide two-factor authentication codes (which are not sent to your phone</a:t>
            </a:r>
            <a:r>
              <a:rPr lang="en-IE" dirty="0" smtClean="0"/>
              <a:t>) </a:t>
            </a:r>
            <a:r>
              <a:rPr lang="en-IE" dirty="0"/>
              <a:t>adds an extra layer of </a:t>
            </a:r>
            <a:r>
              <a:rPr lang="en-IE" dirty="0" smtClean="0"/>
              <a:t>protection.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749594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smtClean="0"/>
              <a:t> 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smtClean="0">
                <a:hlinkClick r:id="rId2"/>
              </a:rPr>
              <a:t>https://www.yubico.com/</a:t>
            </a:r>
            <a:endParaRPr lang="en-IE" dirty="0" smtClean="0"/>
          </a:p>
          <a:p>
            <a:endParaRPr lang="en-IE" dirty="0"/>
          </a:p>
          <a:p>
            <a:endParaRPr lang="en-IE" dirty="0" smtClean="0"/>
          </a:p>
          <a:p>
            <a:endParaRPr lang="en-IE" dirty="0"/>
          </a:p>
          <a:p>
            <a:endParaRPr lang="en-IE" dirty="0" smtClean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AutoShape 2" descr="www.yubico.com/wp-content/uploads/2022/09/YubiKey-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5" name="AutoShape 4" descr="www.yubico.com/wp-content/uploads/2022/09/YubiKey-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6" name="AutoShape 6" descr="Amazon.com: Yubico - YubiKey 5 NFC ..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7" name="AutoShape 8" descr="Amazon.com: Yubico - YubiKey 5 NFC ...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pic>
        <p:nvPicPr>
          <p:cNvPr id="9228" name="Picture 12" descr="YubiKey 5 (NFC) | Available at Trust Panda Austral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338" y="1500981"/>
            <a:ext cx="47625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4164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rPr lang="en-IE" dirty="0" smtClean="0"/>
              <a:t> </a:t>
            </a:r>
            <a:endParaRPr lang="en-IE" dirty="0"/>
          </a:p>
        </p:txBody>
      </p:sp>
      <p:pic>
        <p:nvPicPr>
          <p:cNvPr id="4" name="Content Placeholder 3" descr="A woman using her phone stands beside an Android mascot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63" y="2700338"/>
            <a:ext cx="6053138" cy="31274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4372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rPr lang="en-IE" dirty="0" smtClean="0"/>
              <a:t>Android smartphones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Google said it would use </a:t>
            </a:r>
            <a:r>
              <a:rPr lang="en-IE" dirty="0" smtClean="0"/>
              <a:t>AI to </a:t>
            </a:r>
            <a:r>
              <a:rPr lang="en-IE" dirty="0"/>
              <a:t>detect when Android smartphones have been snatched and quickly lock the screen, as technology groups move to protect sensitive data amid reports of rising mobile phone theft</a:t>
            </a:r>
            <a:r>
              <a:rPr lang="en-IE" dirty="0" smtClean="0"/>
              <a:t>.</a:t>
            </a:r>
          </a:p>
          <a:p>
            <a:r>
              <a:rPr lang="en-IE" dirty="0" smtClean="0"/>
              <a:t>E.g., detects </a:t>
            </a:r>
            <a:r>
              <a:rPr lang="en-IE" dirty="0"/>
              <a:t>“a common motion associated with theft” — such as if a thief takes a phone from an owner’s hand and attempts to run, cycle, or drive away with it. </a:t>
            </a:r>
          </a:p>
          <a:p>
            <a:r>
              <a:rPr lang="en-IE" dirty="0"/>
              <a:t>The feature will be rolled out later this year to devices running later Android operating systems.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81936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780</Words>
  <Application>Microsoft Office PowerPoint</Application>
  <PresentationFormat>Widescreen</PresentationFormat>
  <Paragraphs>51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Smart Phone Theft</vt:lpstr>
      <vt:lpstr> </vt:lpstr>
      <vt:lpstr>London is the epicentre for phone theft.</vt:lpstr>
      <vt:lpstr> Locked Handset</vt:lpstr>
      <vt:lpstr> Predatory Behaviour</vt:lpstr>
      <vt:lpstr> </vt:lpstr>
      <vt:lpstr>Criminals can “shoulder surf”</vt:lpstr>
      <vt:lpstr>Phone theft in Dublin</vt:lpstr>
      <vt:lpstr>Personal loans</vt:lpstr>
      <vt:lpstr>Losses</vt:lpstr>
      <vt:lpstr> GSM Standard</vt:lpstr>
      <vt:lpstr> Organised Crime Gangs</vt:lpstr>
      <vt:lpstr>What can you do?</vt:lpstr>
      <vt:lpstr>Apple IOS</vt:lpstr>
      <vt:lpstr>Android</vt:lpstr>
      <vt:lpstr> </vt:lpstr>
      <vt:lpstr> </vt:lpstr>
      <vt:lpstr>Android smartphones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Phone Theft</dc:title>
  <dc:creator>Windows User</dc:creator>
  <cp:lastModifiedBy>Windows User</cp:lastModifiedBy>
  <cp:revision>17</cp:revision>
  <dcterms:created xsi:type="dcterms:W3CDTF">2024-06-06T08:04:37Z</dcterms:created>
  <dcterms:modified xsi:type="dcterms:W3CDTF">2024-06-06T08:33:38Z</dcterms:modified>
</cp:coreProperties>
</file>