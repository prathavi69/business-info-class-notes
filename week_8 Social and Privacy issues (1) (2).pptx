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6" r:id="rId1"/>
  </p:sldMasterIdLst>
  <p:notesMasterIdLst>
    <p:notesMasterId r:id="rId35"/>
  </p:notesMasterIdLst>
  <p:handoutMasterIdLst>
    <p:handoutMasterId r:id="rId36"/>
  </p:handoutMasterIdLst>
  <p:sldIdLst>
    <p:sldId id="331" r:id="rId2"/>
    <p:sldId id="430" r:id="rId3"/>
    <p:sldId id="444" r:id="rId4"/>
    <p:sldId id="455" r:id="rId5"/>
    <p:sldId id="465" r:id="rId6"/>
    <p:sldId id="467" r:id="rId7"/>
    <p:sldId id="462" r:id="rId8"/>
    <p:sldId id="468" r:id="rId9"/>
    <p:sldId id="469" r:id="rId10"/>
    <p:sldId id="431" r:id="rId11"/>
    <p:sldId id="456" r:id="rId12"/>
    <p:sldId id="427" r:id="rId13"/>
    <p:sldId id="358" r:id="rId14"/>
    <p:sldId id="428" r:id="rId15"/>
    <p:sldId id="457" r:id="rId16"/>
    <p:sldId id="388" r:id="rId17"/>
    <p:sldId id="387" r:id="rId18"/>
    <p:sldId id="458" r:id="rId19"/>
    <p:sldId id="460" r:id="rId20"/>
    <p:sldId id="407" r:id="rId21"/>
    <p:sldId id="433" r:id="rId22"/>
    <p:sldId id="401" r:id="rId23"/>
    <p:sldId id="367" r:id="rId24"/>
    <p:sldId id="445" r:id="rId25"/>
    <p:sldId id="448" r:id="rId26"/>
    <p:sldId id="450" r:id="rId27"/>
    <p:sldId id="461" r:id="rId28"/>
    <p:sldId id="451" r:id="rId29"/>
    <p:sldId id="452" r:id="rId30"/>
    <p:sldId id="453" r:id="rId31"/>
    <p:sldId id="425" r:id="rId32"/>
    <p:sldId id="423" r:id="rId33"/>
    <p:sldId id="424" r:id="rId3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1008">
          <p15:clr>
            <a:srgbClr val="A4A3A4"/>
          </p15:clr>
        </p15:guide>
        <p15:guide id="2" orient="horz" pos="480">
          <p15:clr>
            <a:srgbClr val="A4A3A4"/>
          </p15:clr>
        </p15:guide>
        <p15:guide id="3" orient="horz" pos="1248">
          <p15:clr>
            <a:srgbClr val="A4A3A4"/>
          </p15:clr>
        </p15:guide>
        <p15:guide id="4" orient="horz" pos="3936">
          <p15:clr>
            <a:srgbClr val="A4A3A4"/>
          </p15:clr>
        </p15:guide>
        <p15:guide id="5" pos="2880">
          <p15:clr>
            <a:srgbClr val="A4A3A4"/>
          </p15:clr>
        </p15:guide>
        <p15:guide id="6" pos="288">
          <p15:clr>
            <a:srgbClr val="A4A3A4"/>
          </p15:clr>
        </p15:guide>
        <p15:guide id="7" pos="54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45" autoAdjust="0"/>
    <p:restoredTop sz="96362" autoAdjust="0"/>
  </p:normalViewPr>
  <p:slideViewPr>
    <p:cSldViewPr>
      <p:cViewPr varScale="1">
        <p:scale>
          <a:sx n="117" d="100"/>
          <a:sy n="117" d="100"/>
        </p:scale>
        <p:origin x="1336" y="176"/>
      </p:cViewPr>
      <p:guideLst>
        <p:guide orient="horz" pos="1008"/>
        <p:guide orient="horz" pos="480"/>
        <p:guide orient="horz" pos="1248"/>
        <p:guide orient="horz" pos="3936"/>
        <p:guide pos="2880"/>
        <p:guide pos="288"/>
        <p:guide pos="5472"/>
      </p:guideLst>
    </p:cSldViewPr>
  </p:slideViewPr>
  <p:outlineViewPr>
    <p:cViewPr>
      <p:scale>
        <a:sx n="33" d="100"/>
        <a:sy n="33" d="100"/>
      </p:scale>
      <p:origin x="0" y="35982"/>
    </p:cViewPr>
  </p:outlineViewPr>
  <p:notesTextViewPr>
    <p:cViewPr>
      <p:scale>
        <a:sx n="100" d="100"/>
        <a:sy n="100" d="100"/>
      </p:scale>
      <p:origin x="0" y="0"/>
    </p:cViewPr>
  </p:notesTextViewPr>
  <p:sorterViewPr>
    <p:cViewPr varScale="1">
      <p:scale>
        <a:sx n="100" d="100"/>
        <a:sy n="100" d="100"/>
      </p:scale>
      <p:origin x="0" y="10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6AB8C40-6396-7842-8783-6FF23EAE732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eaLnBrk="1" hangingPunct="1">
              <a:defRPr sz="1200"/>
            </a:lvl1pPr>
          </a:lstStyle>
          <a:p>
            <a:pPr>
              <a:defRPr/>
            </a:pPr>
            <a:endParaRPr lang="en-US"/>
          </a:p>
        </p:txBody>
      </p:sp>
      <p:sp>
        <p:nvSpPr>
          <p:cNvPr id="4099" name="Rectangle 3">
            <a:extLst>
              <a:ext uri="{FF2B5EF4-FFF2-40B4-BE49-F238E27FC236}">
                <a16:creationId xmlns:a16="http://schemas.microsoft.com/office/drawing/2014/main" id="{65B562DC-F57C-9C4B-86E0-AC7BFB4F2BC1}"/>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algn="r" eaLnBrk="1" hangingPunct="1">
              <a:defRPr sz="1200"/>
            </a:lvl1pPr>
          </a:lstStyle>
          <a:p>
            <a:pPr>
              <a:defRPr/>
            </a:pPr>
            <a:endParaRPr lang="en-US"/>
          </a:p>
        </p:txBody>
      </p:sp>
      <p:sp>
        <p:nvSpPr>
          <p:cNvPr id="4100" name="Rectangle 4">
            <a:extLst>
              <a:ext uri="{FF2B5EF4-FFF2-40B4-BE49-F238E27FC236}">
                <a16:creationId xmlns:a16="http://schemas.microsoft.com/office/drawing/2014/main" id="{BC65C821-F203-E941-9DA1-B516906C2664}"/>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eaLnBrk="1" hangingPunct="1">
              <a:defRPr sz="1200"/>
            </a:lvl1pPr>
          </a:lstStyle>
          <a:p>
            <a:pPr>
              <a:defRPr/>
            </a:pPr>
            <a:endParaRPr lang="en-US"/>
          </a:p>
        </p:txBody>
      </p:sp>
      <p:sp>
        <p:nvSpPr>
          <p:cNvPr id="4101" name="Rectangle 5">
            <a:extLst>
              <a:ext uri="{FF2B5EF4-FFF2-40B4-BE49-F238E27FC236}">
                <a16:creationId xmlns:a16="http://schemas.microsoft.com/office/drawing/2014/main" id="{D4BCAE70-703F-9B42-8EC7-75D4302AEF5A}"/>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algn="r" eaLnBrk="1" hangingPunct="1">
              <a:defRPr sz="1200"/>
            </a:lvl1pPr>
          </a:lstStyle>
          <a:p>
            <a:pPr>
              <a:defRPr/>
            </a:pPr>
            <a:fld id="{ACFC1C5F-3E55-014F-8701-E79528CB8D79}"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501986A-C8C4-3244-88BD-427E52CC6A1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eaLnBrk="1" hangingPunct="1">
              <a:defRPr sz="1200"/>
            </a:lvl1pPr>
          </a:lstStyle>
          <a:p>
            <a:pPr>
              <a:defRPr/>
            </a:pPr>
            <a:endParaRPr lang="en-US"/>
          </a:p>
        </p:txBody>
      </p:sp>
      <p:sp>
        <p:nvSpPr>
          <p:cNvPr id="2051" name="Rectangle 3">
            <a:extLst>
              <a:ext uri="{FF2B5EF4-FFF2-40B4-BE49-F238E27FC236}">
                <a16:creationId xmlns:a16="http://schemas.microsoft.com/office/drawing/2014/main" id="{6D306F5B-272C-C143-A60C-2B2D128A3BEF}"/>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algn="r" eaLnBrk="1" hangingPunct="1">
              <a:defRPr sz="1200"/>
            </a:lvl1pPr>
          </a:lstStyle>
          <a:p>
            <a:pPr>
              <a:defRPr/>
            </a:pPr>
            <a:endParaRPr lang="en-US"/>
          </a:p>
        </p:txBody>
      </p:sp>
      <p:sp>
        <p:nvSpPr>
          <p:cNvPr id="8196" name="Rectangle 4">
            <a:extLst>
              <a:ext uri="{FF2B5EF4-FFF2-40B4-BE49-F238E27FC236}">
                <a16:creationId xmlns:a16="http://schemas.microsoft.com/office/drawing/2014/main" id="{4575DE86-CD48-CE49-AE8B-17FC7B2F02E0}"/>
              </a:ext>
            </a:extLst>
          </p:cNvPr>
          <p:cNvSpPr>
            <a:spLocks noGrp="1" noRot="1" noChangeAspect="1" noChangeArrowheads="1" noTextEdit="1"/>
          </p:cNvSpPr>
          <p:nvPr>
            <p:ph type="sldImg" idx="2"/>
          </p:nvPr>
        </p:nvSpPr>
        <p:spPr bwMode="auto">
          <a:xfrm>
            <a:off x="1144588" y="687388"/>
            <a:ext cx="4568825" cy="34258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a:extLst>
              <a:ext uri="{FF2B5EF4-FFF2-40B4-BE49-F238E27FC236}">
                <a16:creationId xmlns:a16="http://schemas.microsoft.com/office/drawing/2014/main" id="{A498D906-C4FE-754D-BBDE-EBBAE52902BF}"/>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855C52DF-4468-B64E-B267-8BE53F9D979A}"/>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eaLnBrk="1" hangingPunct="1">
              <a:defRPr sz="1200"/>
            </a:lvl1pPr>
          </a:lstStyle>
          <a:p>
            <a:pPr>
              <a:defRPr/>
            </a:pPr>
            <a:endParaRPr lang="en-US"/>
          </a:p>
        </p:txBody>
      </p:sp>
      <p:sp>
        <p:nvSpPr>
          <p:cNvPr id="2055" name="Rectangle 7">
            <a:extLst>
              <a:ext uri="{FF2B5EF4-FFF2-40B4-BE49-F238E27FC236}">
                <a16:creationId xmlns:a16="http://schemas.microsoft.com/office/drawing/2014/main" id="{D8272E22-E4C9-054D-898A-A046414590B2}"/>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algn="r" eaLnBrk="1" hangingPunct="1">
              <a:defRPr sz="1200"/>
            </a:lvl1pPr>
          </a:lstStyle>
          <a:p>
            <a:pPr>
              <a:defRPr/>
            </a:pPr>
            <a:fld id="{24EFF60B-D5D5-3A46-A4E0-C96015E0364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6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Right_to_be_forgotten#cite_note-Sullivan_D-23"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m/search?q=nicholas+carr+superbloom&amp;rlz=1C1CHZL_enIE756IE756&amp;oq=&amp;gs_lcrp=EgZjaHJvbWUqCQgAEEUYOxjCAzIJCAAQRRg7GMIDMgkIARBFGDsYwgMyCQgCEEUYOxjCAzIJCAMQRRg7GMIDMgkIBBBFGDsYwgMyCQgFEEUYOxjCAzIJCAYQRRg7GMIDMgkIBxBFGDsYwgPSAQkyNDM5ajBqMTWoAgiwAgHxBXcOVCnkOlwE&amp;sourceid=chrome&amp;ie=UTF-8#fpstate=ive&amp;vld=cid:82dcc22f,vid:r7itUteiCTY,st:0</a:t>
            </a:r>
          </a:p>
        </p:txBody>
      </p:sp>
      <p:sp>
        <p:nvSpPr>
          <p:cNvPr id="4" name="Slide Number Placeholder 3"/>
          <p:cNvSpPr>
            <a:spLocks noGrp="1"/>
          </p:cNvSpPr>
          <p:nvPr>
            <p:ph type="sldNum" sz="quarter" idx="5"/>
          </p:nvPr>
        </p:nvSpPr>
        <p:spPr/>
        <p:txBody>
          <a:bodyPr/>
          <a:lstStyle/>
          <a:p>
            <a:pPr>
              <a:defRPr/>
            </a:pPr>
            <a:fld id="{24EFF60B-D5D5-3A46-A4E0-C96015E03640}" type="slidenum">
              <a:rPr lang="en-US" altLang="en-US" smtClean="0"/>
              <a:pPr>
                <a:defRPr/>
              </a:pPr>
              <a:t>6</a:t>
            </a:fld>
            <a:endParaRPr lang="en-US" altLang="en-US"/>
          </a:p>
        </p:txBody>
      </p:sp>
    </p:spTree>
    <p:extLst>
      <p:ext uri="{BB962C8B-B14F-4D97-AF65-F5344CB8AC3E}">
        <p14:creationId xmlns:p14="http://schemas.microsoft.com/office/powerpoint/2010/main" val="3184504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E53AED96-7C5C-7344-9FD4-C1ABFCD8F18F}"/>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CDDC5094-C18C-D94C-9374-14B6DFFD3046}"/>
              </a:ext>
            </a:extLst>
          </p:cNvPr>
          <p:cNvSpPr>
            <a:spLocks noGrp="1"/>
          </p:cNvSpPr>
          <p:nvPr>
            <p:ph type="body" idx="1"/>
          </p:nvPr>
        </p:nvSpPr>
        <p:spPr/>
        <p:txBody>
          <a:bodyPr/>
          <a:lstStyle/>
          <a:p>
            <a:pPr eaLnBrk="1" fontAlgn="auto" hangingPunct="1">
              <a:spcBef>
                <a:spcPts val="0"/>
              </a:spcBef>
              <a:spcAft>
                <a:spcPts val="0"/>
              </a:spcAft>
              <a:defRPr/>
            </a:pPr>
            <a:r>
              <a:rPr lang="en-US" dirty="0"/>
              <a:t>Figure 8.1, Page 500.</a:t>
            </a:r>
          </a:p>
          <a:p>
            <a:pPr>
              <a:defRPr/>
            </a:pPr>
            <a:r>
              <a:rPr lang="en-US" dirty="0">
                <a:latin typeface="+mn-lt"/>
              </a:rPr>
              <a:t>The introduction of the Internet and e-commerce impacts individuals, societies, and political institutions. These impacts can be classified into four moral dimensions: property rights, information rights, governance, and public safety and welfare.</a:t>
            </a:r>
            <a:endParaRPr lang="en-US" dirty="0"/>
          </a:p>
        </p:txBody>
      </p:sp>
      <p:sp>
        <p:nvSpPr>
          <p:cNvPr id="16387" name="Slide Number Placeholder 3">
            <a:extLst>
              <a:ext uri="{FF2B5EF4-FFF2-40B4-BE49-F238E27FC236}">
                <a16:creationId xmlns:a16="http://schemas.microsoft.com/office/drawing/2014/main" id="{96F6F337-BBDD-B045-B08E-C27CEC6E8C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0F8F9375-E9C2-F942-A090-C47213085548}" type="slidenum">
              <a:rPr lang="en-US" altLang="en-US" sz="1200" smtClean="0"/>
              <a:pPr/>
              <a:t>11</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7C7FC7CE-30BD-904F-AC1D-3E4D38020AA8}"/>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58590009-F748-424D-881C-369D4C3772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latin typeface="Times New Roman" panose="02020603050405020304" pitchFamily="18" charset="0"/>
              </a:rPr>
              <a:t>The right to be forgotten "reflects the claim of an individual to have certain data deleted so that third persons can no longer trace them.</a:t>
            </a:r>
          </a:p>
          <a:p>
            <a:endParaRPr lang="en-GB" altLang="en-US">
              <a:latin typeface="Times New Roman" panose="02020603050405020304" pitchFamily="18" charset="0"/>
            </a:endParaRPr>
          </a:p>
          <a:p>
            <a:r>
              <a:rPr lang="en-GB" altLang="en-US">
                <a:latin typeface="Times New Roman" panose="02020603050405020304" pitchFamily="18" charset="0"/>
              </a:rPr>
              <a:t>The form asks people to select one of the twenty-eight countries that make up the European Union, as well as Iceland, Liechtenstein, Norway, and Switzerland"The form allows an individual or someone representing an individual to put in a request" for the removal of any URLs believed to be a violation of the individual's privacy.</a:t>
            </a:r>
            <a:r>
              <a:rPr lang="en-GB" altLang="en-US" baseline="30000">
                <a:latin typeface="Times New Roman" panose="02020603050405020304" pitchFamily="18" charset="0"/>
                <a:hlinkClick r:id="rId3"/>
              </a:rPr>
              <a:t>[23]</a:t>
            </a:r>
            <a:r>
              <a:rPr lang="en-GB" altLang="en-US">
                <a:latin typeface="Times New Roman" panose="02020603050405020304" pitchFamily="18" charset="0"/>
              </a:rPr>
              <a:t> Regardless of who is submitting the form, some form of photo identification of the person the form is being submitted for must be presented. The purpose of this is to provide proof that the person for whom the request is being made does in fact approve.</a:t>
            </a:r>
          </a:p>
        </p:txBody>
      </p:sp>
      <p:sp>
        <p:nvSpPr>
          <p:cNvPr id="22531" name="Slide Number Placeholder 3">
            <a:extLst>
              <a:ext uri="{FF2B5EF4-FFF2-40B4-BE49-F238E27FC236}">
                <a16:creationId xmlns:a16="http://schemas.microsoft.com/office/drawing/2014/main" id="{4227950F-F646-7D4B-8624-A18B8F7BC8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C7C79E33-D292-2847-B6BA-DB88EFCD581C}" type="slidenum">
              <a:rPr lang="en-US" altLang="en-US" sz="1200" smtClean="0"/>
              <a:pPr/>
              <a:t>16</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a:extLst>
              <a:ext uri="{FF2B5EF4-FFF2-40B4-BE49-F238E27FC236}">
                <a16:creationId xmlns:a16="http://schemas.microsoft.com/office/drawing/2014/main" id="{E542E092-8A9D-EE47-8BE2-0190D51585D5}"/>
              </a:ext>
            </a:extLst>
          </p:cNvPr>
          <p:cNvSpPr>
            <a:spLocks noGrp="1" noRot="1" noChangeAspect="1" noChangeArrowheads="1" noTextEdit="1"/>
          </p:cNvSpPr>
          <p:nvPr>
            <p:ph type="sldImg"/>
          </p:nvPr>
        </p:nvSpPr>
        <p:spPr>
          <a:ln/>
        </p:spPr>
      </p:sp>
      <p:sp>
        <p:nvSpPr>
          <p:cNvPr id="41986" name="Notes Placeholder 2">
            <a:extLst>
              <a:ext uri="{FF2B5EF4-FFF2-40B4-BE49-F238E27FC236}">
                <a16:creationId xmlns:a16="http://schemas.microsoft.com/office/drawing/2014/main" id="{4E6597B0-AF6A-E54F-BC45-5FD937533A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IE" altLang="en-US">
              <a:latin typeface="Times New Roman" panose="02020603050405020304" pitchFamily="18" charset="0"/>
            </a:endParaRPr>
          </a:p>
        </p:txBody>
      </p:sp>
      <p:sp>
        <p:nvSpPr>
          <p:cNvPr id="41987" name="Slide Number Placeholder 3">
            <a:extLst>
              <a:ext uri="{FF2B5EF4-FFF2-40B4-BE49-F238E27FC236}">
                <a16:creationId xmlns:a16="http://schemas.microsoft.com/office/drawing/2014/main" id="{03CCC252-2B21-B149-A01B-30277003A7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9C63F17-4835-2848-9DD0-8E4F76645301}" type="slidenum">
              <a:rPr lang="en-GB" altLang="en-US" sz="1200" smtClean="0"/>
              <a:pPr/>
              <a:t>25</a:t>
            </a:fld>
            <a:endParaRPr lang="en-GB"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2">
            <a:extLst>
              <a:ext uri="{FF2B5EF4-FFF2-40B4-BE49-F238E27FC236}">
                <a16:creationId xmlns:a16="http://schemas.microsoft.com/office/drawing/2014/main" id="{1A889C70-4564-1041-A341-772E79F6C1E6}"/>
              </a:ext>
            </a:extLst>
          </p:cNvPr>
          <p:cNvSpPr>
            <a:spLocks noGrp="1" noChangeArrowheads="1"/>
          </p:cNvSpPr>
          <p:nvPr>
            <p:ph type="ftr" sz="quarter" idx="10"/>
          </p:nvPr>
        </p:nvSpPr>
        <p:spPr>
          <a:ln/>
        </p:spPr>
        <p:txBody>
          <a:bodyPr/>
          <a:lstStyle>
            <a:lvl1pPr>
              <a:defRPr/>
            </a:lvl1pPr>
          </a:lstStyle>
          <a:p>
            <a:pPr>
              <a:defRPr/>
            </a:pPr>
            <a:r>
              <a:rPr lang="en-US"/>
              <a:t>Copyright © 2011 Pearson Education, Ltd.</a:t>
            </a:r>
          </a:p>
        </p:txBody>
      </p:sp>
      <p:sp>
        <p:nvSpPr>
          <p:cNvPr id="5" name="Rectangle 13">
            <a:extLst>
              <a:ext uri="{FF2B5EF4-FFF2-40B4-BE49-F238E27FC236}">
                <a16:creationId xmlns:a16="http://schemas.microsoft.com/office/drawing/2014/main" id="{44C41248-5760-2B49-AD8A-F07F96B8BCCF}"/>
              </a:ext>
            </a:extLst>
          </p:cNvPr>
          <p:cNvSpPr>
            <a:spLocks noGrp="1" noChangeArrowheads="1"/>
          </p:cNvSpPr>
          <p:nvPr>
            <p:ph type="sldNum" sz="quarter" idx="11"/>
          </p:nvPr>
        </p:nvSpPr>
        <p:spPr>
          <a:ln/>
        </p:spPr>
        <p:txBody>
          <a:bodyPr/>
          <a:lstStyle>
            <a:lvl1pPr>
              <a:defRPr/>
            </a:lvl1pPr>
          </a:lstStyle>
          <a:p>
            <a:pPr>
              <a:defRPr/>
            </a:pPr>
            <a:r>
              <a:rPr lang="en-US" altLang="en-US"/>
              <a:t>Slide 8-</a:t>
            </a:r>
            <a:fld id="{C236EC76-94DC-694A-B203-568D220CE049}" type="slidenum">
              <a:rPr lang="en-US" altLang="en-US"/>
              <a:pPr>
                <a:defRPr/>
              </a:pPr>
              <a:t>‹#›</a:t>
            </a:fld>
            <a:endParaRPr lang="en-US" altLang="en-US"/>
          </a:p>
        </p:txBody>
      </p:sp>
    </p:spTree>
    <p:extLst>
      <p:ext uri="{BB962C8B-B14F-4D97-AF65-F5344CB8AC3E}">
        <p14:creationId xmlns:p14="http://schemas.microsoft.com/office/powerpoint/2010/main" val="4162960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478E7607-BB03-324C-9B40-D541DC9CF967}"/>
              </a:ext>
            </a:extLst>
          </p:cNvPr>
          <p:cNvSpPr>
            <a:spLocks noGrp="1" noChangeArrowheads="1"/>
          </p:cNvSpPr>
          <p:nvPr>
            <p:ph type="ftr" sz="quarter" idx="10"/>
          </p:nvPr>
        </p:nvSpPr>
        <p:spPr>
          <a:ln/>
        </p:spPr>
        <p:txBody>
          <a:bodyPr/>
          <a:lstStyle>
            <a:lvl1pPr>
              <a:defRPr/>
            </a:lvl1pPr>
          </a:lstStyle>
          <a:p>
            <a:pPr>
              <a:defRPr/>
            </a:pPr>
            <a:r>
              <a:rPr lang="en-US"/>
              <a:t>Copyright © 2011 Pearson Education, Ltd.</a:t>
            </a:r>
          </a:p>
        </p:txBody>
      </p:sp>
      <p:sp>
        <p:nvSpPr>
          <p:cNvPr id="6" name="Rectangle 13">
            <a:extLst>
              <a:ext uri="{FF2B5EF4-FFF2-40B4-BE49-F238E27FC236}">
                <a16:creationId xmlns:a16="http://schemas.microsoft.com/office/drawing/2014/main" id="{5EDA7FF6-3528-C349-A2AF-6CF86F3D03D7}"/>
              </a:ext>
            </a:extLst>
          </p:cNvPr>
          <p:cNvSpPr>
            <a:spLocks noGrp="1" noChangeArrowheads="1"/>
          </p:cNvSpPr>
          <p:nvPr>
            <p:ph type="sldNum" sz="quarter" idx="11"/>
          </p:nvPr>
        </p:nvSpPr>
        <p:spPr>
          <a:ln/>
        </p:spPr>
        <p:txBody>
          <a:bodyPr/>
          <a:lstStyle>
            <a:lvl1pPr>
              <a:defRPr/>
            </a:lvl1pPr>
          </a:lstStyle>
          <a:p>
            <a:pPr>
              <a:defRPr/>
            </a:pPr>
            <a:r>
              <a:rPr lang="en-US" altLang="en-US"/>
              <a:t>Slide 8-</a:t>
            </a:r>
            <a:fld id="{19C3B642-E67D-7846-A2BF-CC396E481D89}" type="slidenum">
              <a:rPr lang="en-US" altLang="en-US"/>
              <a:pPr>
                <a:defRPr/>
              </a:pPr>
              <a:t>‹#›</a:t>
            </a:fld>
            <a:endParaRPr lang="en-US" altLang="en-US"/>
          </a:p>
        </p:txBody>
      </p:sp>
    </p:spTree>
    <p:extLst>
      <p:ext uri="{BB962C8B-B14F-4D97-AF65-F5344CB8AC3E}">
        <p14:creationId xmlns:p14="http://schemas.microsoft.com/office/powerpoint/2010/main" val="3543474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40E722ED-0653-2246-9E67-6BFDC8F2624A}"/>
              </a:ext>
            </a:extLst>
          </p:cNvPr>
          <p:cNvSpPr>
            <a:spLocks noGrp="1" noChangeArrowheads="1"/>
          </p:cNvSpPr>
          <p:nvPr>
            <p:ph type="ftr" sz="quarter" idx="10"/>
          </p:nvPr>
        </p:nvSpPr>
        <p:spPr>
          <a:ln/>
        </p:spPr>
        <p:txBody>
          <a:bodyPr/>
          <a:lstStyle>
            <a:lvl1pPr>
              <a:defRPr/>
            </a:lvl1pPr>
          </a:lstStyle>
          <a:p>
            <a:pPr>
              <a:defRPr/>
            </a:pPr>
            <a:r>
              <a:rPr lang="en-US"/>
              <a:t>Copyright © 2011 Pearson Education, Ltd.</a:t>
            </a:r>
          </a:p>
        </p:txBody>
      </p:sp>
      <p:sp>
        <p:nvSpPr>
          <p:cNvPr id="3" name="Rectangle 13">
            <a:extLst>
              <a:ext uri="{FF2B5EF4-FFF2-40B4-BE49-F238E27FC236}">
                <a16:creationId xmlns:a16="http://schemas.microsoft.com/office/drawing/2014/main" id="{9D99E8CB-5CB8-E84C-BE37-ADE5661F18E2}"/>
              </a:ext>
            </a:extLst>
          </p:cNvPr>
          <p:cNvSpPr>
            <a:spLocks noGrp="1" noChangeArrowheads="1"/>
          </p:cNvSpPr>
          <p:nvPr>
            <p:ph type="sldNum" sz="quarter" idx="11"/>
          </p:nvPr>
        </p:nvSpPr>
        <p:spPr>
          <a:ln/>
        </p:spPr>
        <p:txBody>
          <a:bodyPr/>
          <a:lstStyle>
            <a:lvl1pPr>
              <a:defRPr/>
            </a:lvl1pPr>
          </a:lstStyle>
          <a:p>
            <a:pPr>
              <a:defRPr/>
            </a:pPr>
            <a:r>
              <a:rPr lang="en-US" altLang="en-US"/>
              <a:t>Slide 8-</a:t>
            </a:r>
            <a:fld id="{477F60B5-DB32-5E43-8BB3-4003449FD330}" type="slidenum">
              <a:rPr lang="en-US" altLang="en-US"/>
              <a:pPr>
                <a:defRPr/>
              </a:pPr>
              <a:t>‹#›</a:t>
            </a:fld>
            <a:endParaRPr lang="en-US" altLang="en-US"/>
          </a:p>
        </p:txBody>
      </p:sp>
    </p:spTree>
    <p:extLst>
      <p:ext uri="{BB962C8B-B14F-4D97-AF65-F5344CB8AC3E}">
        <p14:creationId xmlns:p14="http://schemas.microsoft.com/office/powerpoint/2010/main" val="152623390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Content Placeholder 5"/>
          <p:cNvSpPr>
            <a:spLocks noGrp="1"/>
          </p:cNvSpPr>
          <p:nvPr>
            <p:ph sz="quarter" idx="12"/>
          </p:nvPr>
        </p:nvSpPr>
        <p:spPr>
          <a:xfrm>
            <a:off x="457200" y="1600200"/>
            <a:ext cx="8229600" cy="464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5475801E-FC78-6C4B-84F1-46836F1018C8}"/>
              </a:ext>
            </a:extLst>
          </p:cNvPr>
          <p:cNvSpPr>
            <a:spLocks noGrp="1" noChangeArrowheads="1"/>
          </p:cNvSpPr>
          <p:nvPr>
            <p:ph type="ftr" sz="quarter" idx="13"/>
          </p:nvPr>
        </p:nvSpPr>
        <p:spPr>
          <a:ln/>
        </p:spPr>
        <p:txBody>
          <a:bodyPr/>
          <a:lstStyle>
            <a:lvl1pPr>
              <a:defRPr/>
            </a:lvl1pPr>
          </a:lstStyle>
          <a:p>
            <a:pPr>
              <a:defRPr/>
            </a:pPr>
            <a:r>
              <a:rPr lang="en-US"/>
              <a:t>Copyright © 2011 Pearson Education, Ltd.</a:t>
            </a:r>
          </a:p>
        </p:txBody>
      </p:sp>
      <p:sp>
        <p:nvSpPr>
          <p:cNvPr id="5" name="Rectangle 13">
            <a:extLst>
              <a:ext uri="{FF2B5EF4-FFF2-40B4-BE49-F238E27FC236}">
                <a16:creationId xmlns:a16="http://schemas.microsoft.com/office/drawing/2014/main" id="{82365151-3F73-9846-AA67-D27A0C177E96}"/>
              </a:ext>
            </a:extLst>
          </p:cNvPr>
          <p:cNvSpPr>
            <a:spLocks noGrp="1" noChangeArrowheads="1"/>
          </p:cNvSpPr>
          <p:nvPr>
            <p:ph type="sldNum" sz="quarter" idx="14"/>
          </p:nvPr>
        </p:nvSpPr>
        <p:spPr>
          <a:ln/>
        </p:spPr>
        <p:txBody>
          <a:bodyPr/>
          <a:lstStyle>
            <a:lvl1pPr>
              <a:defRPr/>
            </a:lvl1pPr>
          </a:lstStyle>
          <a:p>
            <a:pPr>
              <a:defRPr/>
            </a:pPr>
            <a:r>
              <a:rPr lang="en-US" altLang="en-US"/>
              <a:t>Slide 8-</a:t>
            </a:r>
            <a:fld id="{8E9530E2-C08E-B14B-91D9-261B540508DF}" type="slidenum">
              <a:rPr lang="en-US" altLang="en-US"/>
              <a:pPr>
                <a:defRPr/>
              </a:pPr>
              <a:t>‹#›</a:t>
            </a:fld>
            <a:endParaRPr lang="en-US" altLang="en-US"/>
          </a:p>
        </p:txBody>
      </p:sp>
    </p:spTree>
    <p:extLst>
      <p:ext uri="{BB962C8B-B14F-4D97-AF65-F5344CB8AC3E}">
        <p14:creationId xmlns:p14="http://schemas.microsoft.com/office/powerpoint/2010/main" val="4218199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a:extLst>
              <a:ext uri="{FF2B5EF4-FFF2-40B4-BE49-F238E27FC236}">
                <a16:creationId xmlns:a16="http://schemas.microsoft.com/office/drawing/2014/main" id="{CC44D490-B88C-E741-A6E2-837307140B6E}"/>
              </a:ext>
            </a:extLst>
          </p:cNvPr>
          <p:cNvSpPr>
            <a:spLocks noGrp="1" noChangeArrowheads="1"/>
          </p:cNvSpPr>
          <p:nvPr>
            <p:ph type="dt" sz="half" idx="10"/>
          </p:nvPr>
        </p:nvSpPr>
        <p:spPr>
          <a:xfrm>
            <a:off x="457200" y="6356350"/>
            <a:ext cx="2133600" cy="365125"/>
          </a:xfrm>
          <a:prstGeom prst="rect">
            <a:avLst/>
          </a:prstGeom>
        </p:spPr>
        <p:txBody>
          <a:bodyPr/>
          <a:lstStyle>
            <a:lvl1pPr eaLnBrk="1" hangingPunct="1">
              <a:defRPr/>
            </a:lvl1pPr>
          </a:lstStyle>
          <a:p>
            <a:pPr>
              <a:defRPr/>
            </a:pPr>
            <a:endParaRPr lang="en-GB"/>
          </a:p>
        </p:txBody>
      </p:sp>
      <p:sp>
        <p:nvSpPr>
          <p:cNvPr id="4" name="Rectangle 5">
            <a:extLst>
              <a:ext uri="{FF2B5EF4-FFF2-40B4-BE49-F238E27FC236}">
                <a16:creationId xmlns:a16="http://schemas.microsoft.com/office/drawing/2014/main" id="{4CC2629F-2FC1-8E45-B8C3-31F7347D6F44}"/>
              </a:ext>
            </a:extLst>
          </p:cNvPr>
          <p:cNvSpPr>
            <a:spLocks noGrp="1" noChangeArrowheads="1"/>
          </p:cNvSpPr>
          <p:nvPr>
            <p:ph type="ftr" sz="quarter" idx="11"/>
          </p:nvPr>
        </p:nvSpPr>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3A9AE544-9A0B-AF41-890C-4DD52DC10B9D}"/>
              </a:ext>
            </a:extLst>
          </p:cNvPr>
          <p:cNvSpPr>
            <a:spLocks noGrp="1" noChangeArrowheads="1"/>
          </p:cNvSpPr>
          <p:nvPr>
            <p:ph type="sldNum" sz="quarter" idx="12"/>
          </p:nvPr>
        </p:nvSpPr>
        <p:spPr/>
        <p:txBody>
          <a:bodyPr/>
          <a:lstStyle>
            <a:lvl1pPr>
              <a:defRPr/>
            </a:lvl1pPr>
          </a:lstStyle>
          <a:p>
            <a:pPr>
              <a:defRPr/>
            </a:pPr>
            <a:fld id="{56755969-CD23-0F4B-922A-ADA6560C5083}" type="slidenum">
              <a:rPr lang="en-GB" altLang="en-US"/>
              <a:pPr>
                <a:defRPr/>
              </a:pPr>
              <a:t>‹#›</a:t>
            </a:fld>
            <a:endParaRPr lang="en-GB" altLang="en-US"/>
          </a:p>
        </p:txBody>
      </p:sp>
    </p:spTree>
    <p:extLst>
      <p:ext uri="{BB962C8B-B14F-4D97-AF65-F5344CB8AC3E}">
        <p14:creationId xmlns:p14="http://schemas.microsoft.com/office/powerpoint/2010/main" val="2930918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Figure + Caption">
    <p:spTree>
      <p:nvGrpSpPr>
        <p:cNvPr id="1" name=""/>
        <p:cNvGrpSpPr/>
        <p:nvPr/>
      </p:nvGrpSpPr>
      <p:grpSpPr>
        <a:xfrm>
          <a:off x="0" y="0"/>
          <a:ext cx="0" cy="0"/>
          <a:chOff x="0" y="0"/>
          <a:chExt cx="0" cy="0"/>
        </a:xfrm>
      </p:grpSpPr>
      <p:pic>
        <p:nvPicPr>
          <p:cNvPr id="4" name="Picture 5" descr="Pearson Logo">
            <a:extLst>
              <a:ext uri="{FF2B5EF4-FFF2-40B4-BE49-F238E27FC236}">
                <a16:creationId xmlns:a16="http://schemas.microsoft.com/office/drawing/2014/main" id="{DABD6F2A-7ECF-4C44-9FED-1303D59F56D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EFC5BF1-31D2-9C4F-9AF0-937FD6AB985B}"/>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eaLnBrk="1" hangingPunct="1">
              <a:defRPr/>
            </a:pPr>
            <a:r>
              <a:rPr lang="en-IN" altLang="en-US" sz="700" b="1">
                <a:ea typeface="Verdana" pitchFamily="34" charset="0"/>
                <a:cs typeface="Verdana" pitchFamily="34" charset="0"/>
              </a:rPr>
              <a:t>Copyright © 2018  Pearson Education Ltd.</a:t>
            </a:r>
            <a:endParaRPr lang="en-US" altLang="en-US" sz="700" b="1">
              <a:ea typeface="Verdana" pitchFamily="34" charset="0"/>
              <a:cs typeface="Verdana" pitchFamily="34" charset="0"/>
            </a:endParaRPr>
          </a:p>
        </p:txBody>
      </p:sp>
      <p:sp>
        <p:nvSpPr>
          <p:cNvPr id="8" name="Title 7"/>
          <p:cNvSpPr>
            <a:spLocks noGrp="1"/>
          </p:cNvSpPr>
          <p:nvPr>
            <p:ph type="title"/>
          </p:nvPr>
        </p:nvSpPr>
        <p:spPr>
          <a:xfrm>
            <a:off x="457200" y="228600"/>
            <a:ext cx="8229600" cy="1066800"/>
          </a:xfrm>
        </p:spPr>
        <p:txBody>
          <a:bodyPr anchor="t"/>
          <a:lstStyle>
            <a:lvl1pPr>
              <a:defRPr sz="3400">
                <a:solidFill>
                  <a:srgbClr val="007FA3"/>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a:t>Edit Master text styles</a:t>
            </a:r>
          </a:p>
        </p:txBody>
      </p:sp>
      <p:sp>
        <p:nvSpPr>
          <p:cNvPr id="6" name="Footer Placeholder 2">
            <a:extLst>
              <a:ext uri="{FF2B5EF4-FFF2-40B4-BE49-F238E27FC236}">
                <a16:creationId xmlns:a16="http://schemas.microsoft.com/office/drawing/2014/main" id="{2A308771-BDA2-1046-A57C-72E3602D137A}"/>
              </a:ext>
            </a:extLst>
          </p:cNvPr>
          <p:cNvSpPr>
            <a:spLocks noGrp="1"/>
          </p:cNvSpPr>
          <p:nvPr>
            <p:ph type="ftr" sz="quarter" idx="14"/>
          </p:nvPr>
        </p:nvSpPr>
        <p:spPr>
          <a:xfrm>
            <a:off x="93663" y="6172200"/>
            <a:ext cx="8596312" cy="234950"/>
          </a:xfrm>
        </p:spPr>
        <p:txBody>
          <a:bodyPr/>
          <a:lstStyle>
            <a:lvl1pPr>
              <a:defRPr/>
            </a:lvl1pPr>
          </a:lstStyle>
          <a:p>
            <a:pPr>
              <a:defRPr/>
            </a:pPr>
            <a:endParaRPr lang="en-US"/>
          </a:p>
        </p:txBody>
      </p:sp>
      <p:sp>
        <p:nvSpPr>
          <p:cNvPr id="7" name="Date Placeholder 1">
            <a:extLst>
              <a:ext uri="{FF2B5EF4-FFF2-40B4-BE49-F238E27FC236}">
                <a16:creationId xmlns:a16="http://schemas.microsoft.com/office/drawing/2014/main" id="{62E9B068-2538-E746-AC88-24B1C1A79788}"/>
              </a:ext>
            </a:extLst>
          </p:cNvPr>
          <p:cNvSpPr>
            <a:spLocks noGrp="1"/>
          </p:cNvSpPr>
          <p:nvPr>
            <p:ph type="dt" sz="half" idx="15"/>
          </p:nvPr>
        </p:nvSpPr>
        <p:spPr>
          <a:xfrm>
            <a:off x="6335713" y="112713"/>
            <a:ext cx="2133600" cy="182562"/>
          </a:xfrm>
          <a:prstGeom prst="rect">
            <a:avLst/>
          </a:prstGeom>
        </p:spPr>
        <p:txBody>
          <a:bodyPr/>
          <a:lstStyle>
            <a:lvl1pPr>
              <a:defRPr>
                <a:solidFill>
                  <a:schemeClr val="tx1"/>
                </a:solidFill>
              </a:defRPr>
            </a:lvl1pPr>
          </a:lstStyle>
          <a:p>
            <a:pPr>
              <a:defRPr/>
            </a:pPr>
            <a:fld id="{84EB0F3C-2D1D-6D42-A379-26BA9852CE41}" type="datetimeFigureOut">
              <a:rPr lang="en-US"/>
              <a:pPr>
                <a:defRPr/>
              </a:pPr>
              <a:t>3/24/26</a:t>
            </a:fld>
            <a:endParaRPr lang="en-US" dirty="0"/>
          </a:p>
        </p:txBody>
      </p:sp>
      <p:sp>
        <p:nvSpPr>
          <p:cNvPr id="9" name="Slide Number Placeholder 3">
            <a:extLst>
              <a:ext uri="{FF2B5EF4-FFF2-40B4-BE49-F238E27FC236}">
                <a16:creationId xmlns:a16="http://schemas.microsoft.com/office/drawing/2014/main" id="{E462536F-BE4E-9942-BEDE-26DA38C3D966}"/>
              </a:ext>
            </a:extLst>
          </p:cNvPr>
          <p:cNvSpPr>
            <a:spLocks noGrp="1"/>
          </p:cNvSpPr>
          <p:nvPr>
            <p:ph type="sldNum" sz="quarter" idx="16"/>
          </p:nvPr>
        </p:nvSpPr>
        <p:spPr/>
        <p:txBody>
          <a:bodyPr/>
          <a:lstStyle>
            <a:lvl1pPr>
              <a:defRPr>
                <a:solidFill>
                  <a:schemeClr val="tx1"/>
                </a:solidFill>
              </a:defRPr>
            </a:lvl1pPr>
          </a:lstStyle>
          <a:p>
            <a:pPr>
              <a:defRPr/>
            </a:pPr>
            <a:fld id="{4B915B7D-470A-1D40-A976-A0A02CDFB190}" type="slidenum">
              <a:rPr lang="en-US" altLang="en-US"/>
              <a:pPr>
                <a:defRPr/>
              </a:pPr>
              <a:t>‹#›</a:t>
            </a:fld>
            <a:endParaRPr lang="en-US" altLang="en-US"/>
          </a:p>
        </p:txBody>
      </p:sp>
    </p:spTree>
    <p:extLst>
      <p:ext uri="{BB962C8B-B14F-4D97-AF65-F5344CB8AC3E}">
        <p14:creationId xmlns:p14="http://schemas.microsoft.com/office/powerpoint/2010/main" val="1191861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a:srcRect/>
          <a:stretch>
            <a:fillRect/>
          </a:stretch>
        </a:blip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102AB113-E7BA-3B4A-B103-17E660AEF5B2}"/>
              </a:ext>
            </a:extLst>
          </p:cNvPr>
          <p:cNvSpPr>
            <a:spLocks noGrp="1" noChangeArrowheads="1"/>
          </p:cNvSpPr>
          <p:nvPr>
            <p:ph type="title"/>
          </p:nvPr>
        </p:nvSpPr>
        <p:spPr bwMode="auto">
          <a:xfrm>
            <a:off x="457200" y="762000"/>
            <a:ext cx="82296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spAutoFit/>
          </a:bodyPr>
          <a:lstStyle/>
          <a:p>
            <a:pPr lvl="0"/>
            <a:r>
              <a:rPr lang="en-US" altLang="en-US"/>
              <a:t>Click to edit Master title style</a:t>
            </a:r>
          </a:p>
        </p:txBody>
      </p:sp>
      <p:sp>
        <p:nvSpPr>
          <p:cNvPr id="1027" name="Rectangle 7">
            <a:extLst>
              <a:ext uri="{FF2B5EF4-FFF2-40B4-BE49-F238E27FC236}">
                <a16:creationId xmlns:a16="http://schemas.microsoft.com/office/drawing/2014/main" id="{0877650E-E543-1144-9AC0-213FC2733482}"/>
              </a:ext>
            </a:extLst>
          </p:cNvPr>
          <p:cNvSpPr>
            <a:spLocks noGrp="1" noChangeArrowheads="1"/>
          </p:cNvSpPr>
          <p:nvPr>
            <p:ph type="body" idx="1"/>
          </p:nvPr>
        </p:nvSpPr>
        <p:spPr bwMode="auto">
          <a:xfrm>
            <a:off x="457200" y="1600200"/>
            <a:ext cx="8229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6" name="Rectangle 12">
            <a:extLst>
              <a:ext uri="{FF2B5EF4-FFF2-40B4-BE49-F238E27FC236}">
                <a16:creationId xmlns:a16="http://schemas.microsoft.com/office/drawing/2014/main" id="{AA4F5653-F430-0F44-B393-F5E04E2573FF}"/>
              </a:ext>
            </a:extLst>
          </p:cNvPr>
          <p:cNvSpPr>
            <a:spLocks noGrp="1" noChangeArrowheads="1"/>
          </p:cNvSpPr>
          <p:nvPr>
            <p:ph type="ftr" sz="quarter" idx="3"/>
          </p:nvPr>
        </p:nvSpPr>
        <p:spPr bwMode="auto">
          <a:xfrm>
            <a:off x="457200" y="6400800"/>
            <a:ext cx="38100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eaLnBrk="1" hangingPunct="1">
              <a:defRPr sz="1200">
                <a:solidFill>
                  <a:srgbClr val="606060"/>
                </a:solidFill>
                <a:latin typeface="Georgia" pitchFamily="18" charset="0"/>
              </a:defRPr>
            </a:lvl1pPr>
          </a:lstStyle>
          <a:p>
            <a:pPr>
              <a:defRPr/>
            </a:pPr>
            <a:r>
              <a:rPr lang="en-US"/>
              <a:t>Copyright © 2011 Pearson Education, Ltd.</a:t>
            </a:r>
          </a:p>
        </p:txBody>
      </p:sp>
      <p:sp>
        <p:nvSpPr>
          <p:cNvPr id="1037" name="Rectangle 13">
            <a:extLst>
              <a:ext uri="{FF2B5EF4-FFF2-40B4-BE49-F238E27FC236}">
                <a16:creationId xmlns:a16="http://schemas.microsoft.com/office/drawing/2014/main" id="{810158F6-68CF-3D42-A98B-078BBA944E73}"/>
              </a:ext>
            </a:extLst>
          </p:cNvPr>
          <p:cNvSpPr>
            <a:spLocks noGrp="1" noChangeArrowheads="1"/>
          </p:cNvSpPr>
          <p:nvPr>
            <p:ph type="sldNum" sz="quarter" idx="4"/>
          </p:nvPr>
        </p:nvSpPr>
        <p:spPr bwMode="auto">
          <a:xfrm>
            <a:off x="6781800" y="6400800"/>
            <a:ext cx="19050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algn="r" eaLnBrk="1" hangingPunct="1">
              <a:defRPr sz="1200" b="1">
                <a:solidFill>
                  <a:srgbClr val="606060"/>
                </a:solidFill>
                <a:latin typeface="Georgia" panose="02040502050405020303" pitchFamily="18" charset="0"/>
              </a:defRPr>
            </a:lvl1pPr>
          </a:lstStyle>
          <a:p>
            <a:pPr>
              <a:defRPr/>
            </a:pPr>
            <a:r>
              <a:rPr lang="en-US" altLang="en-US"/>
              <a:t>Slide 8-</a:t>
            </a:r>
            <a:fld id="{30D1CE7B-B239-BC4E-9495-39E1B7C7222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Lst>
  <p:hf hdr="0" dt="0"/>
  <p:txStyles>
    <p:titleStyle>
      <a:lvl1pPr algn="ctr" rtl="0" eaLnBrk="1" fontAlgn="base" hangingPunct="1">
        <a:spcBef>
          <a:spcPct val="0"/>
        </a:spcBef>
        <a:spcAft>
          <a:spcPct val="0"/>
        </a:spcAft>
        <a:defRPr sz="3200" b="1">
          <a:solidFill>
            <a:schemeClr val="tx2"/>
          </a:solidFill>
          <a:latin typeface="Georgia" pitchFamily="18" charset="0"/>
          <a:ea typeface="+mj-ea"/>
          <a:cs typeface="+mj-cs"/>
        </a:defRPr>
      </a:lvl1pPr>
      <a:lvl2pPr algn="ctr" rtl="0" eaLnBrk="1" fontAlgn="base" hangingPunct="1">
        <a:spcBef>
          <a:spcPct val="0"/>
        </a:spcBef>
        <a:spcAft>
          <a:spcPct val="0"/>
        </a:spcAft>
        <a:defRPr sz="3200" b="1">
          <a:solidFill>
            <a:schemeClr val="tx2"/>
          </a:solidFill>
          <a:latin typeface="Georgia" pitchFamily="18" charset="0"/>
        </a:defRPr>
      </a:lvl2pPr>
      <a:lvl3pPr algn="ctr" rtl="0" eaLnBrk="1" fontAlgn="base" hangingPunct="1">
        <a:spcBef>
          <a:spcPct val="0"/>
        </a:spcBef>
        <a:spcAft>
          <a:spcPct val="0"/>
        </a:spcAft>
        <a:defRPr sz="3200" b="1">
          <a:solidFill>
            <a:schemeClr val="tx2"/>
          </a:solidFill>
          <a:latin typeface="Georgia" pitchFamily="18" charset="0"/>
        </a:defRPr>
      </a:lvl3pPr>
      <a:lvl4pPr algn="ctr" rtl="0" eaLnBrk="1" fontAlgn="base" hangingPunct="1">
        <a:spcBef>
          <a:spcPct val="0"/>
        </a:spcBef>
        <a:spcAft>
          <a:spcPct val="0"/>
        </a:spcAft>
        <a:defRPr sz="3200" b="1">
          <a:solidFill>
            <a:schemeClr val="tx2"/>
          </a:solidFill>
          <a:latin typeface="Georgia" pitchFamily="18" charset="0"/>
        </a:defRPr>
      </a:lvl4pPr>
      <a:lvl5pPr algn="ctr" rtl="0" eaLnBrk="1" fontAlgn="base" hangingPunct="1">
        <a:spcBef>
          <a:spcPct val="0"/>
        </a:spcBef>
        <a:spcAft>
          <a:spcPct val="0"/>
        </a:spcAft>
        <a:defRPr sz="3200" b="1">
          <a:solidFill>
            <a:schemeClr val="tx2"/>
          </a:solidFill>
          <a:latin typeface="Georgia" pitchFamily="18" charset="0"/>
        </a:defRPr>
      </a:lvl5pPr>
      <a:lvl6pPr marL="457200" algn="l" rtl="0" eaLnBrk="1" fontAlgn="base" hangingPunct="1">
        <a:spcBef>
          <a:spcPct val="0"/>
        </a:spcBef>
        <a:spcAft>
          <a:spcPct val="0"/>
        </a:spcAft>
        <a:defRPr sz="4000" b="1">
          <a:solidFill>
            <a:srgbClr val="AA1949"/>
          </a:solidFill>
          <a:latin typeface="Arial" charset="0"/>
        </a:defRPr>
      </a:lvl6pPr>
      <a:lvl7pPr marL="914400" algn="l" rtl="0" eaLnBrk="1" fontAlgn="base" hangingPunct="1">
        <a:spcBef>
          <a:spcPct val="0"/>
        </a:spcBef>
        <a:spcAft>
          <a:spcPct val="0"/>
        </a:spcAft>
        <a:defRPr sz="4000" b="1">
          <a:solidFill>
            <a:srgbClr val="AA1949"/>
          </a:solidFill>
          <a:latin typeface="Arial" charset="0"/>
        </a:defRPr>
      </a:lvl7pPr>
      <a:lvl8pPr marL="1371600" algn="l" rtl="0" eaLnBrk="1" fontAlgn="base" hangingPunct="1">
        <a:spcBef>
          <a:spcPct val="0"/>
        </a:spcBef>
        <a:spcAft>
          <a:spcPct val="0"/>
        </a:spcAft>
        <a:defRPr sz="4000" b="1">
          <a:solidFill>
            <a:srgbClr val="AA1949"/>
          </a:solidFill>
          <a:latin typeface="Arial" charset="0"/>
        </a:defRPr>
      </a:lvl8pPr>
      <a:lvl9pPr marL="1828800" algn="l" rtl="0" eaLnBrk="1" fontAlgn="base" hangingPunct="1">
        <a:spcBef>
          <a:spcPct val="0"/>
        </a:spcBef>
        <a:spcAft>
          <a:spcPct val="0"/>
        </a:spcAft>
        <a:defRPr sz="4000" b="1">
          <a:solidFill>
            <a:srgbClr val="AA1949"/>
          </a:solidFill>
          <a:latin typeface="Arial" charset="0"/>
        </a:defRPr>
      </a:lvl9pPr>
    </p:titleStyle>
    <p:bodyStyle>
      <a:lvl1pPr marL="342900" indent="-342900" algn="l" rtl="0" eaLnBrk="1" fontAlgn="base" hangingPunct="1">
        <a:spcBef>
          <a:spcPct val="20000"/>
        </a:spcBef>
        <a:spcAft>
          <a:spcPct val="0"/>
        </a:spcAft>
        <a:buClr>
          <a:srgbClr val="5EAB43"/>
        </a:buClr>
        <a:buSzPct val="80000"/>
        <a:buFont typeface="Wingdings" pitchFamily="2" charset="2"/>
        <a:buChar char="n"/>
        <a:defRPr sz="3600">
          <a:solidFill>
            <a:srgbClr val="001D70"/>
          </a:solidFill>
          <a:latin typeface="Calibri" pitchFamily="34" charset="0"/>
          <a:ea typeface="+mn-ea"/>
          <a:cs typeface="+mn-cs"/>
        </a:defRPr>
      </a:lvl1pPr>
      <a:lvl2pPr marL="742950" indent="-285750" algn="l" rtl="0" eaLnBrk="1" fontAlgn="base" hangingPunct="1">
        <a:spcBef>
          <a:spcPct val="20000"/>
        </a:spcBef>
        <a:spcAft>
          <a:spcPct val="0"/>
        </a:spcAft>
        <a:buClr>
          <a:srgbClr val="5EAB43"/>
        </a:buClr>
        <a:buSzPct val="79000"/>
        <a:buFont typeface="Wingdings" pitchFamily="2" charset="2"/>
        <a:buChar char="v"/>
        <a:defRPr sz="2800">
          <a:solidFill>
            <a:srgbClr val="001D70"/>
          </a:solidFill>
          <a:latin typeface="Calibri" pitchFamily="34" charset="0"/>
        </a:defRPr>
      </a:lvl2pPr>
      <a:lvl3pPr marL="1143000" indent="-228600" algn="l" rtl="0" eaLnBrk="1" fontAlgn="base" hangingPunct="1">
        <a:spcBef>
          <a:spcPct val="20000"/>
        </a:spcBef>
        <a:spcAft>
          <a:spcPct val="0"/>
        </a:spcAft>
        <a:buClr>
          <a:srgbClr val="5EAB43"/>
        </a:buClr>
        <a:buSzPct val="79000"/>
        <a:buFont typeface="Wingdings" pitchFamily="2" charset="2"/>
        <a:buChar char="n"/>
        <a:defRPr sz="2400">
          <a:solidFill>
            <a:srgbClr val="001D70"/>
          </a:solidFill>
          <a:latin typeface="Calibri" pitchFamily="34" charset="0"/>
        </a:defRPr>
      </a:lvl3pPr>
      <a:lvl4pPr marL="1600200" indent="-228600" algn="l" rtl="0" eaLnBrk="1" fontAlgn="base" hangingPunct="1">
        <a:spcBef>
          <a:spcPct val="20000"/>
        </a:spcBef>
        <a:spcAft>
          <a:spcPct val="0"/>
        </a:spcAft>
        <a:buClr>
          <a:srgbClr val="5EAB43"/>
        </a:buClr>
        <a:buSzPct val="79000"/>
        <a:buFont typeface="Wingdings" pitchFamily="2" charset="2"/>
        <a:buChar char="v"/>
        <a:defRPr sz="2000">
          <a:solidFill>
            <a:srgbClr val="001D70"/>
          </a:solidFill>
          <a:latin typeface="Calibri" pitchFamily="34" charset="0"/>
        </a:defRPr>
      </a:lvl4pPr>
      <a:lvl5pPr marL="2057400" indent="-228600" algn="l" rtl="0" eaLnBrk="1" fontAlgn="base" hangingPunct="1">
        <a:spcBef>
          <a:spcPct val="20000"/>
        </a:spcBef>
        <a:spcAft>
          <a:spcPct val="0"/>
        </a:spcAft>
        <a:buClr>
          <a:srgbClr val="5EAB43"/>
        </a:buClr>
        <a:buSzPct val="79000"/>
        <a:buFont typeface="Wingdings" pitchFamily="2" charset="2"/>
        <a:buChar char="n"/>
        <a:defRPr sz="2000">
          <a:solidFill>
            <a:srgbClr val="001D70"/>
          </a:solidFill>
          <a:latin typeface="Calibri" pitchFamily="34" charset="0"/>
        </a:defRPr>
      </a:lvl5pPr>
      <a:lvl6pPr marL="2514600" indent="-228600" algn="l" rtl="0" eaLnBrk="1" fontAlgn="base" hangingPunct="1">
        <a:spcBef>
          <a:spcPct val="20000"/>
        </a:spcBef>
        <a:spcAft>
          <a:spcPct val="0"/>
        </a:spcAft>
        <a:buClr>
          <a:schemeClr val="tx2"/>
        </a:buClr>
        <a:buSzPct val="79000"/>
        <a:buFont typeface="Wingdings" pitchFamily="2" charset="2"/>
        <a:buChar char="n"/>
        <a:defRPr sz="2800">
          <a:solidFill>
            <a:srgbClr val="333399"/>
          </a:solidFill>
          <a:latin typeface="+mn-lt"/>
        </a:defRPr>
      </a:lvl6pPr>
      <a:lvl7pPr marL="2971800" indent="-228600" algn="l" rtl="0" eaLnBrk="1" fontAlgn="base" hangingPunct="1">
        <a:spcBef>
          <a:spcPct val="20000"/>
        </a:spcBef>
        <a:spcAft>
          <a:spcPct val="0"/>
        </a:spcAft>
        <a:buClr>
          <a:schemeClr val="tx2"/>
        </a:buClr>
        <a:buSzPct val="79000"/>
        <a:buFont typeface="Wingdings" pitchFamily="2" charset="2"/>
        <a:buChar char="n"/>
        <a:defRPr sz="2800">
          <a:solidFill>
            <a:srgbClr val="333399"/>
          </a:solidFill>
          <a:latin typeface="+mn-lt"/>
        </a:defRPr>
      </a:lvl7pPr>
      <a:lvl8pPr marL="3429000" indent="-228600" algn="l" rtl="0" eaLnBrk="1" fontAlgn="base" hangingPunct="1">
        <a:spcBef>
          <a:spcPct val="20000"/>
        </a:spcBef>
        <a:spcAft>
          <a:spcPct val="0"/>
        </a:spcAft>
        <a:buClr>
          <a:schemeClr val="tx2"/>
        </a:buClr>
        <a:buSzPct val="79000"/>
        <a:buFont typeface="Wingdings" pitchFamily="2" charset="2"/>
        <a:buChar char="n"/>
        <a:defRPr sz="2800">
          <a:solidFill>
            <a:srgbClr val="333399"/>
          </a:solidFill>
          <a:latin typeface="+mn-lt"/>
        </a:defRPr>
      </a:lvl8pPr>
      <a:lvl9pPr marL="3886200" indent="-228600" algn="l" rtl="0" eaLnBrk="1" fontAlgn="base" hangingPunct="1">
        <a:spcBef>
          <a:spcPct val="20000"/>
        </a:spcBef>
        <a:spcAft>
          <a:spcPct val="0"/>
        </a:spcAft>
        <a:buClr>
          <a:schemeClr val="tx2"/>
        </a:buClr>
        <a:buSzPct val="79000"/>
        <a:buFont typeface="Wingdings" pitchFamily="2" charset="2"/>
        <a:buChar char="n"/>
        <a:defRPr sz="2800">
          <a:solidFill>
            <a:srgbClr val="3333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zGY_RjqlSRU"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2">
            <a:extLst>
              <a:ext uri="{FF2B5EF4-FFF2-40B4-BE49-F238E27FC236}">
                <a16:creationId xmlns:a16="http://schemas.microsoft.com/office/drawing/2014/main" id="{1C3E1D07-8CDC-AE40-8CA3-3438B7C2A97B}"/>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Copyright © 2011 Pearson Education, Ltd.</a:t>
            </a:r>
          </a:p>
        </p:txBody>
      </p:sp>
      <p:sp>
        <p:nvSpPr>
          <p:cNvPr id="10242" name="Rectangle 2">
            <a:extLst>
              <a:ext uri="{FF2B5EF4-FFF2-40B4-BE49-F238E27FC236}">
                <a16:creationId xmlns:a16="http://schemas.microsoft.com/office/drawing/2014/main" id="{4AC3B8EF-B6F6-C747-B25C-623351A6905A}"/>
              </a:ext>
            </a:extLst>
          </p:cNvPr>
          <p:cNvSpPr>
            <a:spLocks noGrp="1" noChangeArrowheads="1"/>
          </p:cNvSpPr>
          <p:nvPr>
            <p:ph type="title"/>
          </p:nvPr>
        </p:nvSpPr>
        <p:spPr>
          <a:xfrm>
            <a:off x="457200" y="762000"/>
            <a:ext cx="8229600" cy="1077913"/>
          </a:xfrm>
        </p:spPr>
        <p:txBody>
          <a:bodyPr anchor="t"/>
          <a:lstStyle/>
          <a:p>
            <a:pPr eaLnBrk="1" hangingPunct="1"/>
            <a:r>
              <a:rPr lang="en-US" altLang="en-US"/>
              <a:t>Chapter 8: Ethical, Social, and Political Issues in E-commerce</a:t>
            </a:r>
          </a:p>
        </p:txBody>
      </p:sp>
      <p:sp>
        <p:nvSpPr>
          <p:cNvPr id="2" name="Rectangle 3">
            <a:extLst>
              <a:ext uri="{FF2B5EF4-FFF2-40B4-BE49-F238E27FC236}">
                <a16:creationId xmlns:a16="http://schemas.microsoft.com/office/drawing/2014/main" id="{292860CC-C33C-1648-ADE6-1C2A3D179DDC}"/>
              </a:ext>
            </a:extLst>
          </p:cNvPr>
          <p:cNvSpPr>
            <a:spLocks noGrp="1" noChangeArrowheads="1"/>
          </p:cNvSpPr>
          <p:nvPr>
            <p:ph idx="1"/>
          </p:nvPr>
        </p:nvSpPr>
        <p:spPr/>
        <p:txBody>
          <a:bodyPr/>
          <a:lstStyle/>
          <a:p>
            <a:pPr eaLnBrk="1" hangingPunct="1">
              <a:spcBef>
                <a:spcPts val="0"/>
              </a:spcBef>
              <a:defRPr/>
            </a:pPr>
            <a:endParaRPr lang="en-US" dirty="0"/>
          </a:p>
        </p:txBody>
      </p:sp>
      <p:sp>
        <p:nvSpPr>
          <p:cNvPr id="7" name="Footer Placeholder 3">
            <a:extLst>
              <a:ext uri="{FF2B5EF4-FFF2-40B4-BE49-F238E27FC236}">
                <a16:creationId xmlns:a16="http://schemas.microsoft.com/office/drawing/2014/main" id="{A9C6566C-EF0B-5745-8618-79A30E1D809D}"/>
              </a:ext>
            </a:extLst>
          </p:cNvPr>
          <p:cNvSpPr txBox="1">
            <a:spLocks noGrp="1"/>
          </p:cNvSpPr>
          <p:nvPr/>
        </p:nvSpPr>
        <p:spPr bwMode="auto">
          <a:xfrm>
            <a:off x="457200" y="6400800"/>
            <a:ext cx="3810000" cy="457200"/>
          </a:xfrm>
          <a:prstGeom prst="rect">
            <a:avLst/>
          </a:prstGeom>
          <a:noFill/>
          <a:ln>
            <a:miter lim="800000"/>
            <a:headEnd/>
            <a:tailEnd/>
          </a:ln>
        </p:spPr>
        <p:txBody>
          <a:bodyPr lIns="92075" tIns="46038" rIns="92075" bIns="46038" anchor="b"/>
          <a:lstStyle/>
          <a:p>
            <a:pPr eaLnBrk="1" hangingPunct="1">
              <a:defRPr/>
            </a:pPr>
            <a:r>
              <a:rPr lang="en-US" sz="1200">
                <a:solidFill>
                  <a:schemeClr val="accent5">
                    <a:lumMod val="50000"/>
                  </a:schemeClr>
                </a:solidFill>
                <a:latin typeface="Georgia" pitchFamily="18" charset="0"/>
              </a:rPr>
              <a:t>Copyright © 2010 Pearson Education, Inc.</a:t>
            </a:r>
          </a:p>
        </p:txBody>
      </p:sp>
      <p:sp>
        <p:nvSpPr>
          <p:cNvPr id="10245" name="Slide Number Placeholder 4">
            <a:extLst>
              <a:ext uri="{FF2B5EF4-FFF2-40B4-BE49-F238E27FC236}">
                <a16:creationId xmlns:a16="http://schemas.microsoft.com/office/drawing/2014/main" id="{BEA80F5A-D278-0246-9FBB-0918FEF9AAF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Slide 8-</a:t>
            </a:r>
            <a:fld id="{7F5BBC9A-53CC-9947-A4C0-A028ADF7CEAC}" type="slidenum">
              <a:rPr lang="en-US" altLang="en-US" sz="1200" smtClean="0">
                <a:solidFill>
                  <a:srgbClr val="606060"/>
                </a:solidFill>
                <a:latin typeface="Georgia" panose="02040502050405020303" pitchFamily="18" charset="0"/>
              </a:rPr>
              <a:pPr>
                <a:spcBef>
                  <a:spcPct val="0"/>
                </a:spcBef>
                <a:buClrTx/>
                <a:buSzTx/>
                <a:buFontTx/>
                <a:buNone/>
              </a:pPr>
              <a:t>1</a:t>
            </a:fld>
            <a:endParaRPr lang="en-US" altLang="en-US" sz="1200">
              <a:solidFill>
                <a:srgbClr val="606060"/>
              </a:solidFill>
              <a:latin typeface="Georgia" panose="02040502050405020303" pitchFamily="18" charset="0"/>
            </a:endParaRPr>
          </a:p>
        </p:txBody>
      </p:sp>
      <p:sp>
        <p:nvSpPr>
          <p:cNvPr id="5126" name="Rectangle 4">
            <a:extLst>
              <a:ext uri="{FF2B5EF4-FFF2-40B4-BE49-F238E27FC236}">
                <a16:creationId xmlns:a16="http://schemas.microsoft.com/office/drawing/2014/main" id="{F9D376E9-7A33-7445-9DB4-7BE9C7C1EF85}"/>
              </a:ext>
            </a:extLst>
          </p:cNvPr>
          <p:cNvSpPr>
            <a:spLocks noChangeArrowheads="1"/>
          </p:cNvSpPr>
          <p:nvPr/>
        </p:nvSpPr>
        <p:spPr bwMode="auto">
          <a:xfrm>
            <a:off x="-152400" y="498475"/>
            <a:ext cx="9144000" cy="6359525"/>
          </a:xfrm>
          <a:prstGeom prst="rect">
            <a:avLst/>
          </a:prstGeom>
          <a:solidFill>
            <a:schemeClr val="bg2">
              <a:lumMod val="25000"/>
            </a:schemeClr>
          </a:solidFill>
          <a:ln w="12700">
            <a:noFill/>
            <a:miter lim="800000"/>
            <a:headEnd type="none" w="sm" len="sm"/>
            <a:tailEnd type="none" w="sm" len="sm"/>
          </a:ln>
        </p:spPr>
        <p:txBody>
          <a:bodyPr wrap="none" anchor="ctr"/>
          <a:lstStyle/>
          <a:p>
            <a:pPr eaLnBrk="1" hangingPunct="1">
              <a:defRPr/>
            </a:pPr>
            <a:endParaRPr lang="en-US" dirty="0"/>
          </a:p>
        </p:txBody>
      </p:sp>
      <p:sp>
        <p:nvSpPr>
          <p:cNvPr id="10247" name="Rectangle 5">
            <a:extLst>
              <a:ext uri="{FF2B5EF4-FFF2-40B4-BE49-F238E27FC236}">
                <a16:creationId xmlns:a16="http://schemas.microsoft.com/office/drawing/2014/main" id="{F39B0558-7768-6A43-886A-F2AD65DA56C6}"/>
              </a:ext>
            </a:extLst>
          </p:cNvPr>
          <p:cNvSpPr>
            <a:spLocks noChangeArrowheads="1"/>
          </p:cNvSpPr>
          <p:nvPr/>
        </p:nvSpPr>
        <p:spPr bwMode="auto">
          <a:xfrm>
            <a:off x="685800" y="2209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eaLnBrk="1" hangingPunct="1">
              <a:spcBef>
                <a:spcPct val="0"/>
              </a:spcBef>
              <a:buClrTx/>
              <a:buSzTx/>
              <a:buFontTx/>
              <a:buNone/>
            </a:pPr>
            <a:r>
              <a:rPr lang="en-US" altLang="en-US" sz="4400" b="1" dirty="0">
                <a:solidFill>
                  <a:srgbClr val="92D050"/>
                </a:solidFill>
                <a:latin typeface="Times New Roman" panose="02020603050405020304" pitchFamily="18" charset="0"/>
              </a:rPr>
              <a:t>Week 8</a:t>
            </a:r>
          </a:p>
        </p:txBody>
      </p:sp>
      <p:sp>
        <p:nvSpPr>
          <p:cNvPr id="10248" name="Rectangle 6">
            <a:extLst>
              <a:ext uri="{FF2B5EF4-FFF2-40B4-BE49-F238E27FC236}">
                <a16:creationId xmlns:a16="http://schemas.microsoft.com/office/drawing/2014/main" id="{9A91DAC1-00C0-0B48-9D4D-ED2E98FCAF1C}"/>
              </a:ext>
            </a:extLst>
          </p:cNvPr>
          <p:cNvSpPr>
            <a:spLocks noChangeArrowheads="1"/>
          </p:cNvSpPr>
          <p:nvPr/>
        </p:nvSpPr>
        <p:spPr bwMode="auto">
          <a:xfrm>
            <a:off x="762000" y="3200400"/>
            <a:ext cx="8153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eaLnBrk="1" hangingPunct="1">
              <a:buClr>
                <a:schemeClr val="tx2"/>
              </a:buClr>
              <a:buSzPct val="79000"/>
              <a:buFont typeface="Wingdings" pitchFamily="2" charset="2"/>
              <a:buNone/>
            </a:pPr>
            <a:r>
              <a:rPr lang="en-US" altLang="en-US" b="1">
                <a:solidFill>
                  <a:schemeClr val="bg1"/>
                </a:solidFill>
                <a:latin typeface="Arial" panose="020B0604020202020204" pitchFamily="34" charset="0"/>
              </a:rPr>
              <a:t>Ethics, Law, and E-commerce</a:t>
            </a:r>
          </a:p>
          <a:p>
            <a:pPr eaLnBrk="1" hangingPunct="1">
              <a:buClr>
                <a:schemeClr val="tx2"/>
              </a:buClr>
              <a:buSzPct val="79000"/>
              <a:buFont typeface="Wingdings" pitchFamily="2" charset="2"/>
              <a:buNone/>
            </a:pPr>
            <a:r>
              <a:rPr lang="en-US" altLang="en-US" b="1">
                <a:solidFill>
                  <a:schemeClr val="bg1"/>
                </a:solidFill>
                <a:latin typeface="Arial" panose="020B0604020202020204" pitchFamily="34" charset="0"/>
              </a:rPr>
              <a:t>Trends: From Many to Few</a:t>
            </a:r>
          </a:p>
          <a:p>
            <a:pPr eaLnBrk="1" hangingPunct="1">
              <a:buClr>
                <a:schemeClr val="tx2"/>
              </a:buClr>
              <a:buSzPct val="79000"/>
              <a:buFont typeface="Wingdings" pitchFamily="2" charset="2"/>
              <a:buNone/>
            </a:pPr>
            <a:endParaRPr lang="en-US" altLang="en-US" b="1">
              <a:solidFill>
                <a:schemeClr val="bg1"/>
              </a:solidFill>
              <a:latin typeface="Arial" panose="020B0604020202020204" pitchFamily="34" charset="0"/>
            </a:endParaRPr>
          </a:p>
        </p:txBody>
      </p:sp>
      <p:sp>
        <p:nvSpPr>
          <p:cNvPr id="10249" name="Footer Placeholder 3">
            <a:extLst>
              <a:ext uri="{FF2B5EF4-FFF2-40B4-BE49-F238E27FC236}">
                <a16:creationId xmlns:a16="http://schemas.microsoft.com/office/drawing/2014/main" id="{715DD4A1-2387-FF43-AFD6-B5E4B9F2DC23}"/>
              </a:ext>
            </a:extLst>
          </p:cNvPr>
          <p:cNvSpPr txBox="1">
            <a:spLocks noGrp="1"/>
          </p:cNvSpPr>
          <p:nvPr/>
        </p:nvSpPr>
        <p:spPr bwMode="auto">
          <a:xfrm>
            <a:off x="609600" y="6400800"/>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eaLnBrk="1" hangingPunct="1">
              <a:spcBef>
                <a:spcPct val="0"/>
              </a:spcBef>
              <a:buClrTx/>
              <a:buSzTx/>
              <a:buFontTx/>
              <a:buNone/>
            </a:pPr>
            <a:r>
              <a:rPr lang="en-US" altLang="en-US" sz="1200">
                <a:solidFill>
                  <a:schemeClr val="bg1"/>
                </a:solidFill>
                <a:latin typeface="Georgia" panose="02040502050405020303" pitchFamily="18" charset="0"/>
              </a:rPr>
              <a:t>  </a:t>
            </a:r>
          </a:p>
        </p:txBody>
      </p:sp>
    </p:spTree>
  </p:cSld>
  <p:clrMapOvr>
    <a:masterClrMapping/>
  </p:clrMapOvr>
  <p:transition spd="slow" advTm="1913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026">
            <a:extLst>
              <a:ext uri="{FF2B5EF4-FFF2-40B4-BE49-F238E27FC236}">
                <a16:creationId xmlns:a16="http://schemas.microsoft.com/office/drawing/2014/main" id="{285B01F4-0EB5-8B49-A968-EC2103FE81D4}"/>
              </a:ext>
            </a:extLst>
          </p:cNvPr>
          <p:cNvSpPr>
            <a:spLocks noGrp="1" noChangeArrowheads="1"/>
          </p:cNvSpPr>
          <p:nvPr>
            <p:ph type="title"/>
          </p:nvPr>
        </p:nvSpPr>
        <p:spPr>
          <a:xfrm>
            <a:off x="457200" y="533400"/>
            <a:ext cx="8229600" cy="708025"/>
          </a:xfrm>
        </p:spPr>
        <p:txBody>
          <a:bodyPr/>
          <a:lstStyle/>
          <a:p>
            <a:pPr eaLnBrk="1" hangingPunct="1"/>
            <a:r>
              <a:rPr lang="en-US" altLang="en-US"/>
              <a:t>Understanding Ethical, Social, and Political Issues in E-commerce</a:t>
            </a:r>
          </a:p>
        </p:txBody>
      </p:sp>
      <p:sp>
        <p:nvSpPr>
          <p:cNvPr id="5123" name="Rectangle 1027">
            <a:extLst>
              <a:ext uri="{FF2B5EF4-FFF2-40B4-BE49-F238E27FC236}">
                <a16:creationId xmlns:a16="http://schemas.microsoft.com/office/drawing/2014/main" id="{98D2613B-E62C-5347-88C0-BEBE30DF7FA0}"/>
              </a:ext>
            </a:extLst>
          </p:cNvPr>
          <p:cNvSpPr>
            <a:spLocks noGrp="1" noChangeArrowheads="1"/>
          </p:cNvSpPr>
          <p:nvPr>
            <p:ph idx="1"/>
          </p:nvPr>
        </p:nvSpPr>
        <p:spPr>
          <a:xfrm>
            <a:off x="457200" y="1981200"/>
            <a:ext cx="8229600" cy="3886200"/>
          </a:xfrm>
        </p:spPr>
        <p:txBody>
          <a:bodyPr/>
          <a:lstStyle/>
          <a:p>
            <a:pPr eaLnBrk="1" hangingPunct="1">
              <a:defRPr/>
            </a:pPr>
            <a:r>
              <a:rPr lang="en-US" dirty="0"/>
              <a:t>Internet, like other technologies, can:</a:t>
            </a:r>
          </a:p>
          <a:p>
            <a:pPr lvl="1" eaLnBrk="1" hangingPunct="1">
              <a:defRPr/>
            </a:pPr>
            <a:r>
              <a:rPr lang="en-US" dirty="0">
                <a:ea typeface="ＭＳ Ｐゴシック" charset="0"/>
              </a:rPr>
              <a:t>Enable new crimes</a:t>
            </a:r>
          </a:p>
          <a:p>
            <a:pPr lvl="1" eaLnBrk="1" hangingPunct="1">
              <a:defRPr/>
            </a:pPr>
            <a:r>
              <a:rPr lang="en-US" dirty="0">
                <a:ea typeface="ＭＳ Ｐゴシック" charset="0"/>
              </a:rPr>
              <a:t>Threaten social values</a:t>
            </a:r>
          </a:p>
          <a:p>
            <a:pPr eaLnBrk="1" hangingPunct="1">
              <a:defRPr/>
            </a:pPr>
            <a:r>
              <a:rPr lang="en-US" dirty="0"/>
              <a:t>Costs and benefits must be carefully considered, especially when there are no clear-cut legal or cultural guidelines</a:t>
            </a:r>
          </a:p>
          <a:p>
            <a:pPr lvl="1" eaLnBrk="1" hangingPunct="1">
              <a:defRPr/>
            </a:pPr>
            <a:endParaRPr lang="en-US" dirty="0">
              <a:ea typeface="ＭＳ Ｐゴシック" charset="0"/>
            </a:endParaRPr>
          </a:p>
        </p:txBody>
      </p:sp>
    </p:spTree>
  </p:cSld>
  <p:clrMapOvr>
    <a:masterClrMapping/>
  </p:clrMapOvr>
  <p:transition spd="slow" advTm="2462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873DC87B-B455-244A-A921-696AFA65DD7F}"/>
              </a:ext>
            </a:extLst>
          </p:cNvPr>
          <p:cNvSpPr>
            <a:spLocks noGrp="1" noChangeArrowheads="1"/>
          </p:cNvSpPr>
          <p:nvPr>
            <p:ph type="title"/>
          </p:nvPr>
        </p:nvSpPr>
        <p:spPr>
          <a:solidFill>
            <a:schemeClr val="accent2"/>
          </a:solidFill>
        </p:spPr>
        <p:txBody>
          <a:bodyPr/>
          <a:lstStyle/>
          <a:p>
            <a:r>
              <a:rPr lang="en-IE" altLang="en-US"/>
              <a:t>  </a:t>
            </a:r>
          </a:p>
        </p:txBody>
      </p:sp>
      <p:sp>
        <p:nvSpPr>
          <p:cNvPr id="3" name="Content Placeholder 2">
            <a:extLst>
              <a:ext uri="{FF2B5EF4-FFF2-40B4-BE49-F238E27FC236}">
                <a16:creationId xmlns:a16="http://schemas.microsoft.com/office/drawing/2014/main" id="{D50D72AE-4E3E-FC49-BD58-B2E4BB481749}"/>
              </a:ext>
            </a:extLst>
          </p:cNvPr>
          <p:cNvSpPr>
            <a:spLocks noGrp="1"/>
          </p:cNvSpPr>
          <p:nvPr>
            <p:ph idx="1"/>
          </p:nvPr>
        </p:nvSpPr>
        <p:spPr>
          <a:xfrm>
            <a:off x="457200" y="1600200"/>
            <a:ext cx="5122863" cy="4525963"/>
          </a:xfrm>
        </p:spPr>
        <p:txBody>
          <a:bodyPr/>
          <a:lstStyle/>
          <a:p>
            <a:pPr>
              <a:defRPr/>
            </a:pPr>
            <a:r>
              <a:rPr lang="en-IE" sz="3200" dirty="0"/>
              <a:t>Nicholas Carr; The Shallows</a:t>
            </a:r>
          </a:p>
          <a:p>
            <a:pPr>
              <a:defRPr/>
            </a:pPr>
            <a:r>
              <a:rPr lang="en-IE" sz="3200" dirty="0"/>
              <a:t>“The computer screen bulldozes our doubts with its bounties and convenience. It is so much our servant that it would seem churlish to notice that it is also our master.”</a:t>
            </a:r>
          </a:p>
        </p:txBody>
      </p:sp>
      <p:pic>
        <p:nvPicPr>
          <p:cNvPr id="12291" name="Picture 3">
            <a:extLst>
              <a:ext uri="{FF2B5EF4-FFF2-40B4-BE49-F238E27FC236}">
                <a16:creationId xmlns:a16="http://schemas.microsoft.com/office/drawing/2014/main" id="{3483CAB6-97E2-0341-8B02-250042C0F7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46750" y="1773238"/>
            <a:ext cx="3294063"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5008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a:extLst>
              <a:ext uri="{FF2B5EF4-FFF2-40B4-BE49-F238E27FC236}">
                <a16:creationId xmlns:a16="http://schemas.microsoft.com/office/drawing/2014/main" id="{75C90CBB-0EA3-4D40-BDC3-194774642F65}"/>
              </a:ext>
            </a:extLst>
          </p:cNvPr>
          <p:cNvSpPr>
            <a:spLocks noGrp="1" noChangeArrowheads="1"/>
          </p:cNvSpPr>
          <p:nvPr>
            <p:ph type="title"/>
          </p:nvPr>
        </p:nvSpPr>
        <p:spPr/>
        <p:txBody>
          <a:bodyPr/>
          <a:lstStyle/>
          <a:p>
            <a:r>
              <a:rPr lang="en-IE" altLang="en-US"/>
              <a:t>Video</a:t>
            </a:r>
          </a:p>
        </p:txBody>
      </p:sp>
      <p:sp>
        <p:nvSpPr>
          <p:cNvPr id="13314" name="Content Placeholder 2">
            <a:extLst>
              <a:ext uri="{FF2B5EF4-FFF2-40B4-BE49-F238E27FC236}">
                <a16:creationId xmlns:a16="http://schemas.microsoft.com/office/drawing/2014/main" id="{9ADD659B-44A8-C04E-AC45-B4AE668050FD}"/>
              </a:ext>
            </a:extLst>
          </p:cNvPr>
          <p:cNvSpPr>
            <a:spLocks noGrp="1" noChangeArrowheads="1"/>
          </p:cNvSpPr>
          <p:nvPr>
            <p:ph sz="half" idx="1"/>
          </p:nvPr>
        </p:nvSpPr>
        <p:spPr/>
        <p:txBody>
          <a:bodyPr/>
          <a:lstStyle/>
          <a:p>
            <a:r>
              <a:rPr lang="en-IE" altLang="en-US" dirty="0"/>
              <a:t>https://www.youtube.com/watch?v=cKaWJ72x1rI</a:t>
            </a:r>
          </a:p>
        </p:txBody>
      </p:sp>
      <p:sp>
        <p:nvSpPr>
          <p:cNvPr id="13315" name="Content Placeholder 3">
            <a:extLst>
              <a:ext uri="{FF2B5EF4-FFF2-40B4-BE49-F238E27FC236}">
                <a16:creationId xmlns:a16="http://schemas.microsoft.com/office/drawing/2014/main" id="{7861BD21-1145-2449-9627-EDA2D1E0975C}"/>
              </a:ext>
            </a:extLst>
          </p:cNvPr>
          <p:cNvSpPr>
            <a:spLocks noGrp="1" noChangeArrowheads="1"/>
          </p:cNvSpPr>
          <p:nvPr>
            <p:ph sz="half" idx="2"/>
          </p:nvPr>
        </p:nvSpPr>
        <p:spPr/>
        <p:txBody>
          <a:bodyPr/>
          <a:lstStyle/>
          <a:p>
            <a:r>
              <a:rPr lang="en-IE" altLang="en-US" dirty="0">
                <a:hlinkClick r:id="rId2"/>
              </a:rPr>
              <a:t>https://www.youtube.com/watch?v=zGY_RjqlSRU</a:t>
            </a:r>
            <a:endParaRPr lang="en-IE" altLang="en-US" dirty="0"/>
          </a:p>
          <a:p>
            <a:endParaRPr lang="en-IE" altLang="en-US" dirty="0"/>
          </a:p>
          <a:p>
            <a:r>
              <a:rPr lang="en-IE" altLang="en-US" dirty="0"/>
              <a:t>https://www.youtube.com/watch?v=HjJYvLH_FGw</a:t>
            </a:r>
          </a:p>
        </p:txBody>
      </p:sp>
      <p:sp>
        <p:nvSpPr>
          <p:cNvPr id="13316" name="Footer Placeholder 4">
            <a:extLst>
              <a:ext uri="{FF2B5EF4-FFF2-40B4-BE49-F238E27FC236}">
                <a16:creationId xmlns:a16="http://schemas.microsoft.com/office/drawing/2014/main" id="{CA399685-81A0-3A42-AD7C-0E6A67CB21A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13317" name="Slide Number Placeholder 5">
            <a:extLst>
              <a:ext uri="{FF2B5EF4-FFF2-40B4-BE49-F238E27FC236}">
                <a16:creationId xmlns:a16="http://schemas.microsoft.com/office/drawing/2014/main" id="{164B8CF5-3E01-1945-88FA-5EBB04B4B53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Slide </a:t>
            </a:r>
            <a:fld id="{925DC0AB-F6EE-2440-97E9-85FFF1855CD6}" type="slidenum">
              <a:rPr lang="en-US" altLang="en-US" sz="1200" smtClean="0">
                <a:solidFill>
                  <a:srgbClr val="606060"/>
                </a:solidFill>
                <a:latin typeface="Georgia" panose="02040502050405020303" pitchFamily="18" charset="0"/>
              </a:rPr>
              <a:pPr>
                <a:spcBef>
                  <a:spcPct val="0"/>
                </a:spcBef>
                <a:buClrTx/>
                <a:buSzTx/>
                <a:buFontTx/>
                <a:buNone/>
              </a:pPr>
              <a:t>4</a:t>
            </a:fld>
            <a:endParaRPr lang="en-US" altLang="en-US" sz="1200">
              <a:solidFill>
                <a:srgbClr val="606060"/>
              </a:solidFill>
              <a:latin typeface="Georgia" panose="02040502050405020303"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2184"/>
    </mc:Choice>
    <mc:Fallback xmlns="">
      <p:transition spd="slow" advTm="1218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3DF02-CDD3-8282-05FE-D91692F52CF8}"/>
            </a:ext>
          </a:extLst>
        </p:cNvPr>
        <p:cNvGrpSpPr/>
        <p:nvPr/>
      </p:nvGrpSpPr>
      <p:grpSpPr>
        <a:xfrm>
          <a:off x="0" y="0"/>
          <a:ext cx="0" cy="0"/>
          <a:chOff x="0" y="0"/>
          <a:chExt cx="0" cy="0"/>
        </a:xfrm>
      </p:grpSpPr>
      <p:sp>
        <p:nvSpPr>
          <p:cNvPr id="14337" name="Rectangle 1026">
            <a:extLst>
              <a:ext uri="{FF2B5EF4-FFF2-40B4-BE49-F238E27FC236}">
                <a16:creationId xmlns:a16="http://schemas.microsoft.com/office/drawing/2014/main" id="{F640AA6C-CBE1-2C4F-14C7-ED42D96777FF}"/>
              </a:ext>
            </a:extLst>
          </p:cNvPr>
          <p:cNvSpPr>
            <a:spLocks noGrp="1" noChangeArrowheads="1"/>
          </p:cNvSpPr>
          <p:nvPr>
            <p:ph type="title"/>
          </p:nvPr>
        </p:nvSpPr>
        <p:spPr>
          <a:xfrm>
            <a:off x="457200" y="762000"/>
            <a:ext cx="8229600" cy="585788"/>
          </a:xfrm>
        </p:spPr>
        <p:txBody>
          <a:bodyPr wrap="square" anchor="b">
            <a:normAutofit/>
          </a:bodyPr>
          <a:lstStyle/>
          <a:p>
            <a:pPr eaLnBrk="1" hangingPunct="1"/>
            <a:r>
              <a:rPr lang="en-GB" b="0" i="0" dirty="0">
                <a:effectLst/>
                <a:latin typeface="var(--wp--preset--font-family--sanomat)"/>
              </a:rPr>
              <a:t>Who can save us from social media?</a:t>
            </a:r>
            <a:endParaRPr lang="en-US" altLang="en-US" dirty="0"/>
          </a:p>
        </p:txBody>
      </p:sp>
      <p:pic>
        <p:nvPicPr>
          <p:cNvPr id="3074" name="Picture 2" descr="Superbloom book cover.">
            <a:extLst>
              <a:ext uri="{FF2B5EF4-FFF2-40B4-BE49-F238E27FC236}">
                <a16:creationId xmlns:a16="http://schemas.microsoft.com/office/drawing/2014/main" id="{750D111D-8C05-7620-1C2F-992A569B4B0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7485" y="1981200"/>
            <a:ext cx="2746629" cy="4114800"/>
          </a:xfrm>
          <a:prstGeom prst="rect">
            <a:avLst/>
          </a:prstGeom>
          <a:solidFill>
            <a:srgbClr val="FFFFFF"/>
          </a:solidFill>
        </p:spPr>
      </p:pic>
      <p:sp>
        <p:nvSpPr>
          <p:cNvPr id="7171" name="Rectangle 1027">
            <a:extLst>
              <a:ext uri="{FF2B5EF4-FFF2-40B4-BE49-F238E27FC236}">
                <a16:creationId xmlns:a16="http://schemas.microsoft.com/office/drawing/2014/main" id="{D6E5F94C-A8F2-7BCD-BD53-C72A04E64B45}"/>
              </a:ext>
            </a:extLst>
          </p:cNvPr>
          <p:cNvSpPr>
            <a:spLocks noGrp="1" noChangeArrowheads="1"/>
          </p:cNvSpPr>
          <p:nvPr>
            <p:ph sz="half" idx="2"/>
          </p:nvPr>
        </p:nvSpPr>
        <p:spPr>
          <a:xfrm>
            <a:off x="4648200" y="1981200"/>
            <a:ext cx="3810000" cy="4114800"/>
          </a:xfrm>
        </p:spPr>
        <p:txBody>
          <a:bodyPr wrap="square" anchor="t">
            <a:normAutofit/>
          </a:bodyPr>
          <a:lstStyle/>
          <a:p>
            <a:pPr marL="0" indent="0">
              <a:buNone/>
            </a:pPr>
            <a:r>
              <a:rPr lang="en-GB" b="0" i="0" dirty="0">
                <a:effectLst/>
                <a:latin typeface="var(--wp--preset--font-family--sanomat)"/>
              </a:rPr>
              <a:t>At this point, perhaps just us</a:t>
            </a:r>
          </a:p>
          <a:p>
            <a:pPr marL="0" indent="0">
              <a:buNone/>
            </a:pPr>
            <a:r>
              <a:rPr lang="en-GB" b="0" i="0" dirty="0">
                <a:solidFill>
                  <a:srgbClr val="000000"/>
                </a:solidFill>
                <a:effectLst/>
                <a:latin typeface="Sanomat"/>
              </a:rPr>
              <a:t>Nicholas Carr argues it may be too late for regulation as platforms took hold so quickly, outpacing our ability to spot darker effects on society, democracy </a:t>
            </a:r>
            <a:endParaRPr lang="en-GB" b="0" i="0" dirty="0">
              <a:effectLst/>
              <a:latin typeface="var(--wp--preset--font-family--sanomat)"/>
            </a:endParaRPr>
          </a:p>
        </p:txBody>
      </p:sp>
      <p:sp>
        <p:nvSpPr>
          <p:cNvPr id="14347" name="Slide Number Placeholder 5">
            <a:extLst>
              <a:ext uri="{FF2B5EF4-FFF2-40B4-BE49-F238E27FC236}">
                <a16:creationId xmlns:a16="http://schemas.microsoft.com/office/drawing/2014/main" id="{6BCCA331-8D62-5F7F-39E1-32978C7922B4}"/>
              </a:ext>
            </a:extLst>
          </p:cNvPr>
          <p:cNvSpPr>
            <a:spLocks noGrp="1"/>
          </p:cNvSpPr>
          <p:nvPr>
            <p:ph type="sldNum" sz="quarter" idx="11"/>
          </p:nvPr>
        </p:nvSpPr>
        <p:spPr>
          <a:xfrm>
            <a:off x="6781800" y="6400800"/>
            <a:ext cx="1905000" cy="457200"/>
          </a:xfrm>
        </p:spPr>
        <p:txBody>
          <a:bodyPr/>
          <a:lstStyle/>
          <a:p>
            <a:pPr>
              <a:spcAft>
                <a:spcPts val="600"/>
              </a:spcAft>
              <a:defRPr/>
            </a:pPr>
            <a:r>
              <a:rPr lang="en-US" altLang="en-US"/>
              <a:t>Slide 8-</a:t>
            </a:r>
            <a:fld id="{19C3B642-E67D-7846-A2BF-CC396E481D89}" type="slidenum">
              <a:rPr lang="en-US" altLang="en-US"/>
              <a:pPr>
                <a:spcAft>
                  <a:spcPts val="600"/>
                </a:spcAft>
                <a:defRPr/>
              </a:pPr>
              <a:t>5</a:t>
            </a:fld>
            <a:endParaRPr lang="en-US" altLang="en-US"/>
          </a:p>
        </p:txBody>
      </p:sp>
    </p:spTree>
    <p:extLst>
      <p:ext uri="{BB962C8B-B14F-4D97-AF65-F5344CB8AC3E}">
        <p14:creationId xmlns:p14="http://schemas.microsoft.com/office/powerpoint/2010/main" val="2948057747"/>
      </p:ext>
    </p:extLst>
  </p:cSld>
  <p:clrMapOvr>
    <a:masterClrMapping/>
  </p:clrMapOvr>
  <p:transition spd="slow" advTm="2241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E8F4C-8C9A-1E26-8D4C-60CAC2165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11F9D-8A98-CDF3-7134-7AA06BD3C818}"/>
              </a:ext>
            </a:extLst>
          </p:cNvPr>
          <p:cNvSpPr>
            <a:spLocks noGrp="1"/>
          </p:cNvSpPr>
          <p:nvPr>
            <p:ph type="title"/>
          </p:nvPr>
        </p:nvSpPr>
        <p:spPr/>
        <p:txBody>
          <a:bodyPr/>
          <a:lstStyle/>
          <a:p>
            <a:r>
              <a:rPr lang="en-GB" b="0" i="0" dirty="0">
                <a:effectLst/>
                <a:latin typeface="var(--wp--preset--font-family--sanomat)"/>
              </a:rPr>
              <a:t>Who can save us from social media?</a:t>
            </a:r>
            <a:endParaRPr lang="en-GB" dirty="0"/>
          </a:p>
        </p:txBody>
      </p:sp>
      <p:sp>
        <p:nvSpPr>
          <p:cNvPr id="3" name="Content Placeholder 2">
            <a:extLst>
              <a:ext uri="{FF2B5EF4-FFF2-40B4-BE49-F238E27FC236}">
                <a16:creationId xmlns:a16="http://schemas.microsoft.com/office/drawing/2014/main" id="{AFB87EAF-547C-4FC6-3D48-AC20F45658AF}"/>
              </a:ext>
            </a:extLst>
          </p:cNvPr>
          <p:cNvSpPr>
            <a:spLocks noGrp="1"/>
          </p:cNvSpPr>
          <p:nvPr>
            <p:ph sz="half" idx="1"/>
          </p:nvPr>
        </p:nvSpPr>
        <p:spPr>
          <a:xfrm>
            <a:off x="685800" y="1981200"/>
            <a:ext cx="7198568" cy="4114800"/>
          </a:xfrm>
        </p:spPr>
        <p:txBody>
          <a:bodyPr/>
          <a:lstStyle/>
          <a:p>
            <a:r>
              <a:rPr lang="en-GB" sz="2800" dirty="0">
                <a:effectLst/>
                <a:latin typeface="Aptos" panose="020B0004020202020204" pitchFamily="34" charset="0"/>
                <a:ea typeface="Aptos" panose="020B0004020202020204" pitchFamily="34" charset="0"/>
                <a:cs typeface="Times New Roman" panose="02020603050405020304" pitchFamily="18" charset="0"/>
              </a:rPr>
              <a:t>By removing barriers to communication, social media has enabled us to let loose our worst instincts and transmit to a huge audience whatever thoughts comes to mind. </a:t>
            </a:r>
            <a:endParaRPr lang="en-GB" dirty="0"/>
          </a:p>
          <a:p>
            <a:endParaRPr lang="en-GB" dirty="0"/>
          </a:p>
        </p:txBody>
      </p:sp>
      <p:sp>
        <p:nvSpPr>
          <p:cNvPr id="4" name="Content Placeholder 3">
            <a:extLst>
              <a:ext uri="{FF2B5EF4-FFF2-40B4-BE49-F238E27FC236}">
                <a16:creationId xmlns:a16="http://schemas.microsoft.com/office/drawing/2014/main" id="{440B9C14-2FC0-A5C3-C912-143A9E8F31A0}"/>
              </a:ext>
            </a:extLst>
          </p:cNvPr>
          <p:cNvSpPr>
            <a:spLocks noGrp="1"/>
          </p:cNvSpPr>
          <p:nvPr>
            <p:ph sz="half" idx="2"/>
          </p:nvPr>
        </p:nvSpPr>
        <p:spPr/>
        <p:txBody>
          <a:bodyPr/>
          <a:lstStyle/>
          <a:p>
            <a:pPr marL="0" indent="0">
              <a:buNone/>
            </a:pPr>
            <a:r>
              <a:rPr lang="en-GB" dirty="0"/>
              <a:t> </a:t>
            </a:r>
          </a:p>
        </p:txBody>
      </p:sp>
      <p:sp>
        <p:nvSpPr>
          <p:cNvPr id="6" name="Slide Number Placeholder 5">
            <a:extLst>
              <a:ext uri="{FF2B5EF4-FFF2-40B4-BE49-F238E27FC236}">
                <a16:creationId xmlns:a16="http://schemas.microsoft.com/office/drawing/2014/main" id="{004390BF-B091-484C-2352-97A9B195D55A}"/>
              </a:ext>
            </a:extLst>
          </p:cNvPr>
          <p:cNvSpPr>
            <a:spLocks noGrp="1"/>
          </p:cNvSpPr>
          <p:nvPr>
            <p:ph type="sldNum" sz="quarter" idx="11"/>
          </p:nvPr>
        </p:nvSpPr>
        <p:spPr/>
        <p:txBody>
          <a:bodyPr/>
          <a:lstStyle/>
          <a:p>
            <a:pPr>
              <a:defRPr/>
            </a:pPr>
            <a:r>
              <a:rPr lang="en-US" altLang="en-US"/>
              <a:t>Slide 8-</a:t>
            </a:r>
            <a:fld id="{19C3B642-E67D-7846-A2BF-CC396E481D89}" type="slidenum">
              <a:rPr lang="en-US" altLang="en-US" smtClean="0"/>
              <a:pPr>
                <a:defRPr/>
              </a:pPr>
              <a:t>6</a:t>
            </a:fld>
            <a:endParaRPr lang="en-US" altLang="en-US"/>
          </a:p>
        </p:txBody>
      </p:sp>
    </p:spTree>
    <p:extLst>
      <p:ext uri="{BB962C8B-B14F-4D97-AF65-F5344CB8AC3E}">
        <p14:creationId xmlns:p14="http://schemas.microsoft.com/office/powerpoint/2010/main" val="1305202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6E740-82AB-39A2-279E-DDD16456C217}"/>
              </a:ext>
            </a:extLst>
          </p:cNvPr>
          <p:cNvSpPr>
            <a:spLocks noGrp="1"/>
          </p:cNvSpPr>
          <p:nvPr>
            <p:ph type="title"/>
          </p:nvPr>
        </p:nvSpPr>
        <p:spPr/>
        <p:txBody>
          <a:bodyPr/>
          <a:lstStyle/>
          <a:p>
            <a:r>
              <a:rPr lang="en-GB" b="0" i="0" dirty="0">
                <a:effectLst/>
                <a:latin typeface="var(--wp--preset--font-family--sanomat)"/>
              </a:rPr>
              <a:t>Who can save us from social media?</a:t>
            </a:r>
            <a:endParaRPr lang="en-GB" dirty="0"/>
          </a:p>
        </p:txBody>
      </p:sp>
      <p:sp>
        <p:nvSpPr>
          <p:cNvPr id="3" name="Content Placeholder 2">
            <a:extLst>
              <a:ext uri="{FF2B5EF4-FFF2-40B4-BE49-F238E27FC236}">
                <a16:creationId xmlns:a16="http://schemas.microsoft.com/office/drawing/2014/main" id="{A1307989-C1A1-EB0F-08D2-1FCCC93829B7}"/>
              </a:ext>
            </a:extLst>
          </p:cNvPr>
          <p:cNvSpPr>
            <a:spLocks noGrp="1"/>
          </p:cNvSpPr>
          <p:nvPr>
            <p:ph sz="half" idx="1"/>
          </p:nvPr>
        </p:nvSpPr>
        <p:spPr>
          <a:xfrm>
            <a:off x="685800" y="1981200"/>
            <a:ext cx="8134672" cy="4114800"/>
          </a:xfrm>
        </p:spPr>
        <p:txBody>
          <a:bodyPr/>
          <a:lstStyle/>
          <a:p>
            <a:r>
              <a:rPr lang="en-GB" sz="2400" kern="100" dirty="0">
                <a:effectLst/>
                <a:latin typeface="Arial" panose="020B0604020202020204" pitchFamily="34" charset="0"/>
                <a:ea typeface="Aptos" panose="020B0004020202020204" pitchFamily="34" charset="0"/>
                <a:cs typeface="Arial" panose="020B0604020202020204" pitchFamily="34" charset="0"/>
              </a:rPr>
              <a:t>Our phones — pull us in both directions, providing us with a simulation of sociability while exacerbating our loneliness, and capture our attention on the cheap.</a:t>
            </a:r>
          </a:p>
          <a:p>
            <a:r>
              <a:rPr lang="en-GB" sz="2400" kern="100" dirty="0">
                <a:effectLst/>
                <a:latin typeface="Arial" panose="020B0604020202020204" pitchFamily="34" charset="0"/>
                <a:ea typeface="Aptos" panose="020B0004020202020204" pitchFamily="34" charset="0"/>
                <a:cs typeface="Arial" panose="020B0604020202020204" pitchFamily="34" charset="0"/>
              </a:rPr>
              <a:t> Book publishers &amp; Hollywood producers may have always been preoccupied with the question of how to sustain an audience’s attention, but social media entrepreneurs don’t have to bother with anything so mysterious (and expensive): </a:t>
            </a:r>
          </a:p>
          <a:p>
            <a:r>
              <a:rPr lang="en-GB" sz="2400" kern="100" dirty="0">
                <a:effectLst/>
                <a:latin typeface="Arial" panose="020B0604020202020204" pitchFamily="34" charset="0"/>
                <a:ea typeface="Aptos" panose="020B0004020202020204" pitchFamily="34" charset="0"/>
                <a:cs typeface="Arial" panose="020B0604020202020204" pitchFamily="34" charset="0"/>
              </a:rPr>
              <a:t>“They can simply throw a million little interruptions at us, track which ones grab our attention &amp; then repeat.”</a:t>
            </a:r>
          </a:p>
          <a:p>
            <a:endParaRPr lang="en-GB" b="0" i="0" dirty="0">
              <a:effectLst/>
              <a:latin typeface="var(--wp--preset--font-family--sanomat)"/>
            </a:endParaRPr>
          </a:p>
          <a:p>
            <a:endParaRPr lang="en-GB" dirty="0"/>
          </a:p>
        </p:txBody>
      </p:sp>
      <p:sp>
        <p:nvSpPr>
          <p:cNvPr id="4" name="Content Placeholder 3">
            <a:extLst>
              <a:ext uri="{FF2B5EF4-FFF2-40B4-BE49-F238E27FC236}">
                <a16:creationId xmlns:a16="http://schemas.microsoft.com/office/drawing/2014/main" id="{06127F8F-949E-37F6-D83E-70FE418BE75F}"/>
              </a:ext>
            </a:extLst>
          </p:cNvPr>
          <p:cNvSpPr>
            <a:spLocks noGrp="1"/>
          </p:cNvSpPr>
          <p:nvPr>
            <p:ph sz="half" idx="2"/>
          </p:nvPr>
        </p:nvSpPr>
        <p:spPr/>
        <p:txBody>
          <a:bodyPr/>
          <a:lstStyle/>
          <a:p>
            <a:pPr marL="0" indent="0">
              <a:buNone/>
            </a:pPr>
            <a:r>
              <a:rPr lang="en-GB" dirty="0"/>
              <a:t> </a:t>
            </a:r>
          </a:p>
          <a:p>
            <a:pPr marL="0" indent="0">
              <a:buNone/>
            </a:pPr>
            <a:endParaRPr lang="en-GB" dirty="0"/>
          </a:p>
        </p:txBody>
      </p:sp>
      <p:sp>
        <p:nvSpPr>
          <p:cNvPr id="6" name="Slide Number Placeholder 5">
            <a:extLst>
              <a:ext uri="{FF2B5EF4-FFF2-40B4-BE49-F238E27FC236}">
                <a16:creationId xmlns:a16="http://schemas.microsoft.com/office/drawing/2014/main" id="{E053F0F9-FE27-4FFB-DD80-A44350FF4A50}"/>
              </a:ext>
            </a:extLst>
          </p:cNvPr>
          <p:cNvSpPr>
            <a:spLocks noGrp="1"/>
          </p:cNvSpPr>
          <p:nvPr>
            <p:ph type="sldNum" sz="quarter" idx="11"/>
          </p:nvPr>
        </p:nvSpPr>
        <p:spPr/>
        <p:txBody>
          <a:bodyPr/>
          <a:lstStyle/>
          <a:p>
            <a:pPr>
              <a:defRPr/>
            </a:pPr>
            <a:r>
              <a:rPr lang="en-US" altLang="en-US"/>
              <a:t>Slide 8-</a:t>
            </a:r>
            <a:fld id="{19C3B642-E67D-7846-A2BF-CC396E481D89}" type="slidenum">
              <a:rPr lang="en-US" altLang="en-US" smtClean="0"/>
              <a:pPr>
                <a:defRPr/>
              </a:pPr>
              <a:t>7</a:t>
            </a:fld>
            <a:endParaRPr lang="en-US" altLang="en-US"/>
          </a:p>
        </p:txBody>
      </p:sp>
    </p:spTree>
    <p:extLst>
      <p:ext uri="{BB962C8B-B14F-4D97-AF65-F5344CB8AC3E}">
        <p14:creationId xmlns:p14="http://schemas.microsoft.com/office/powerpoint/2010/main" val="1407689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E" dirty="0"/>
          </a:p>
        </p:txBody>
      </p:sp>
      <p:sp>
        <p:nvSpPr>
          <p:cNvPr id="6" name="Slide Number Placeholder 5"/>
          <p:cNvSpPr>
            <a:spLocks noGrp="1"/>
          </p:cNvSpPr>
          <p:nvPr>
            <p:ph type="sldNum" sz="quarter" idx="11"/>
          </p:nvPr>
        </p:nvSpPr>
        <p:spPr/>
        <p:txBody>
          <a:bodyPr/>
          <a:lstStyle/>
          <a:p>
            <a:pPr>
              <a:defRPr/>
            </a:pPr>
            <a:r>
              <a:rPr lang="en-US" altLang="en-US"/>
              <a:t>Slide 8-</a:t>
            </a:r>
            <a:fld id="{19C3B642-E67D-7846-A2BF-CC396E481D89}" type="slidenum">
              <a:rPr lang="en-US" altLang="en-US" smtClean="0"/>
              <a:pPr>
                <a:defRPr/>
              </a:pPr>
              <a:t>8</a:t>
            </a:fld>
            <a:endParaRPr lang="en-US" altLang="en-US"/>
          </a:p>
        </p:txBody>
      </p:sp>
      <p:pic>
        <p:nvPicPr>
          <p:cNvPr id="7" name="Content Placeholder 6" descr="The cover of “The Sirens’ Call,” by Chris Hayes"/>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411760" y="1772816"/>
            <a:ext cx="3810000" cy="3810000"/>
          </a:xfrm>
          <a:prstGeom prst="rect">
            <a:avLst/>
          </a:prstGeom>
          <a:noFill/>
          <a:ln>
            <a:noFill/>
          </a:ln>
        </p:spPr>
      </p:pic>
    </p:spTree>
    <p:extLst>
      <p:ext uri="{BB962C8B-B14F-4D97-AF65-F5344CB8AC3E}">
        <p14:creationId xmlns:p14="http://schemas.microsoft.com/office/powerpoint/2010/main" val="1002224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26">
            <a:extLst>
              <a:ext uri="{FF2B5EF4-FFF2-40B4-BE49-F238E27FC236}">
                <a16:creationId xmlns:a16="http://schemas.microsoft.com/office/drawing/2014/main" id="{C3D9E0D0-46B0-1F49-B309-6664CBFB6ED4}"/>
              </a:ext>
            </a:extLst>
          </p:cNvPr>
          <p:cNvSpPr>
            <a:spLocks noGrp="1" noChangeArrowheads="1"/>
          </p:cNvSpPr>
          <p:nvPr>
            <p:ph type="title"/>
          </p:nvPr>
        </p:nvSpPr>
        <p:spPr>
          <a:xfrm>
            <a:off x="457200" y="656007"/>
            <a:ext cx="8229600" cy="585418"/>
          </a:xfrm>
        </p:spPr>
        <p:txBody>
          <a:bodyPr/>
          <a:lstStyle/>
          <a:p>
            <a:r>
              <a:rPr lang="en-US" altLang="en-US" i="1" dirty="0"/>
              <a:t>“The Sirens’ Call, </a:t>
            </a:r>
            <a:r>
              <a:rPr lang="en-GB" sz="1800" dirty="0"/>
              <a:t>by Chris Hayes</a:t>
            </a:r>
            <a:endParaRPr lang="en-US" altLang="en-US" sz="1800" i="1" dirty="0"/>
          </a:p>
        </p:txBody>
      </p:sp>
      <p:sp>
        <p:nvSpPr>
          <p:cNvPr id="7171" name="Rectangle 1027">
            <a:extLst>
              <a:ext uri="{FF2B5EF4-FFF2-40B4-BE49-F238E27FC236}">
                <a16:creationId xmlns:a16="http://schemas.microsoft.com/office/drawing/2014/main" id="{8AC77B55-BC4C-2244-AC61-C5DE2D30971D}"/>
              </a:ext>
            </a:extLst>
          </p:cNvPr>
          <p:cNvSpPr>
            <a:spLocks noGrp="1" noChangeArrowheads="1"/>
          </p:cNvSpPr>
          <p:nvPr>
            <p:ph idx="1"/>
          </p:nvPr>
        </p:nvSpPr>
        <p:spPr/>
        <p:txBody>
          <a:bodyPr/>
          <a:lstStyle/>
          <a:p>
            <a:pPr>
              <a:defRPr/>
            </a:pPr>
            <a:r>
              <a:rPr lang="en-GB" dirty="0"/>
              <a:t>“Increasingly over the course of time I’ve been on air, my competition isn’t just what other cable news shows are on during that time, but literally every single piece of content available in any media: every movie ever made, every TV show ever made, every video on </a:t>
            </a:r>
            <a:r>
              <a:rPr lang="en-GB" dirty="0" err="1"/>
              <a:t>TikTok</a:t>
            </a:r>
            <a:r>
              <a:rPr lang="en-GB" dirty="0"/>
              <a:t> or Instagram, every app and video game available.”</a:t>
            </a:r>
            <a:endParaRPr lang="en-US" dirty="0">
              <a:ea typeface="ＭＳ Ｐゴシック" charset="0"/>
            </a:endParaRPr>
          </a:p>
        </p:txBody>
      </p:sp>
    </p:spTree>
    <p:extLst>
      <p:ext uri="{BB962C8B-B14F-4D97-AF65-F5344CB8AC3E}">
        <p14:creationId xmlns:p14="http://schemas.microsoft.com/office/powerpoint/2010/main" val="3795964127"/>
      </p:ext>
    </p:extLst>
  </p:cSld>
  <p:clrMapOvr>
    <a:masterClrMapping/>
  </p:clrMapOvr>
  <p:transition spd="slow" advTm="2241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26">
            <a:extLst>
              <a:ext uri="{FF2B5EF4-FFF2-40B4-BE49-F238E27FC236}">
                <a16:creationId xmlns:a16="http://schemas.microsoft.com/office/drawing/2014/main" id="{C3D9E0D0-46B0-1F49-B309-6664CBFB6ED4}"/>
              </a:ext>
            </a:extLst>
          </p:cNvPr>
          <p:cNvSpPr>
            <a:spLocks noGrp="1" noChangeArrowheads="1"/>
          </p:cNvSpPr>
          <p:nvPr>
            <p:ph type="title"/>
          </p:nvPr>
        </p:nvSpPr>
        <p:spPr>
          <a:xfrm>
            <a:off x="457200" y="533400"/>
            <a:ext cx="8229600" cy="708025"/>
          </a:xfrm>
        </p:spPr>
        <p:txBody>
          <a:bodyPr/>
          <a:lstStyle/>
          <a:p>
            <a:pPr eaLnBrk="1" hangingPunct="1"/>
            <a:r>
              <a:rPr lang="en-US" altLang="en-US"/>
              <a:t>A Model for Organizing the Issues</a:t>
            </a:r>
          </a:p>
        </p:txBody>
      </p:sp>
      <p:sp>
        <p:nvSpPr>
          <p:cNvPr id="7171" name="Rectangle 1027">
            <a:extLst>
              <a:ext uri="{FF2B5EF4-FFF2-40B4-BE49-F238E27FC236}">
                <a16:creationId xmlns:a16="http://schemas.microsoft.com/office/drawing/2014/main" id="{8AC77B55-BC4C-2244-AC61-C5DE2D30971D}"/>
              </a:ext>
            </a:extLst>
          </p:cNvPr>
          <p:cNvSpPr>
            <a:spLocks noGrp="1" noChangeArrowheads="1"/>
          </p:cNvSpPr>
          <p:nvPr>
            <p:ph idx="1"/>
          </p:nvPr>
        </p:nvSpPr>
        <p:spPr/>
        <p:txBody>
          <a:bodyPr/>
          <a:lstStyle/>
          <a:p>
            <a:pPr eaLnBrk="1" hangingPunct="1">
              <a:defRPr/>
            </a:pPr>
            <a:r>
              <a:rPr lang="en-US" dirty="0"/>
              <a:t>Issues raised by Internet and  </a:t>
            </a:r>
          </a:p>
          <a:p>
            <a:pPr eaLnBrk="1" hangingPunct="1">
              <a:buFont typeface="Wingdings" pitchFamily="2" charset="2"/>
              <a:buNone/>
              <a:defRPr/>
            </a:pPr>
            <a:r>
              <a:rPr lang="en-US" dirty="0"/>
              <a:t>   e-commerce can be viewed at individual, social, and political levels</a:t>
            </a:r>
          </a:p>
          <a:p>
            <a:pPr eaLnBrk="1" hangingPunct="1">
              <a:defRPr/>
            </a:pPr>
            <a:r>
              <a:rPr lang="en-US" dirty="0"/>
              <a:t>Four major categories of issues:</a:t>
            </a:r>
          </a:p>
          <a:p>
            <a:pPr lvl="1" eaLnBrk="1" hangingPunct="1">
              <a:defRPr/>
            </a:pPr>
            <a:r>
              <a:rPr lang="en-US" dirty="0">
                <a:ea typeface="ＭＳ Ｐゴシック" charset="0"/>
              </a:rPr>
              <a:t>Information rights</a:t>
            </a:r>
          </a:p>
          <a:p>
            <a:pPr lvl="1" eaLnBrk="1" hangingPunct="1">
              <a:defRPr/>
            </a:pPr>
            <a:r>
              <a:rPr lang="en-US" dirty="0">
                <a:ea typeface="ＭＳ Ｐゴシック" charset="0"/>
              </a:rPr>
              <a:t>Property rights</a:t>
            </a:r>
          </a:p>
          <a:p>
            <a:pPr lvl="1" eaLnBrk="1" hangingPunct="1">
              <a:defRPr/>
            </a:pPr>
            <a:r>
              <a:rPr lang="en-US" dirty="0">
                <a:ea typeface="ＭＳ Ｐゴシック" charset="0"/>
              </a:rPr>
              <a:t>Governance</a:t>
            </a:r>
          </a:p>
          <a:p>
            <a:pPr lvl="1" eaLnBrk="1" hangingPunct="1">
              <a:defRPr/>
            </a:pPr>
            <a:r>
              <a:rPr lang="en-US" dirty="0">
                <a:ea typeface="ＭＳ Ｐゴシック" charset="0"/>
              </a:rPr>
              <a:t>Public safety and welfare</a:t>
            </a:r>
          </a:p>
        </p:txBody>
      </p:sp>
    </p:spTree>
  </p:cSld>
  <p:clrMapOvr>
    <a:masterClrMapping/>
  </p:clrMapOvr>
  <p:transition spd="slow" advTm="2241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5F78CB5B-47A6-5042-8C0D-EB3290D1C9B4}"/>
              </a:ext>
            </a:extLst>
          </p:cNvPr>
          <p:cNvSpPr>
            <a:spLocks noGrp="1" noChangeArrowheads="1"/>
          </p:cNvSpPr>
          <p:nvPr>
            <p:ph type="title"/>
          </p:nvPr>
        </p:nvSpPr>
        <p:spPr>
          <a:xfrm>
            <a:off x="457200" y="228600"/>
            <a:ext cx="8229600" cy="1139825"/>
          </a:xfrm>
        </p:spPr>
        <p:txBody>
          <a:bodyPr/>
          <a:lstStyle/>
          <a:p>
            <a:r>
              <a:rPr lang="en-US" altLang="en-US"/>
              <a:t>The Moral Dimensions of an </a:t>
            </a:r>
            <a:br>
              <a:rPr lang="en-US" altLang="en-US"/>
            </a:br>
            <a:r>
              <a:rPr lang="en-US" altLang="en-US"/>
              <a:t>Internet Society</a:t>
            </a:r>
          </a:p>
        </p:txBody>
      </p:sp>
      <p:sp>
        <p:nvSpPr>
          <p:cNvPr id="15362" name="Text Placeholder 5">
            <a:extLst>
              <a:ext uri="{FF2B5EF4-FFF2-40B4-BE49-F238E27FC236}">
                <a16:creationId xmlns:a16="http://schemas.microsoft.com/office/drawing/2014/main" id="{99599EAF-5568-724F-BFD4-D7B49C8C0EBB}"/>
              </a:ext>
            </a:extLst>
          </p:cNvPr>
          <p:cNvSpPr>
            <a:spLocks noGrp="1" noChangeArrowheads="1"/>
          </p:cNvSpPr>
          <p:nvPr>
            <p:ph type="body" sz="quarter" idx="13"/>
          </p:nvPr>
        </p:nvSpPr>
        <p:spPr>
          <a:xfrm>
            <a:off x="457200" y="5368925"/>
            <a:ext cx="8229600" cy="915988"/>
          </a:xfrm>
        </p:spPr>
        <p:txBody>
          <a:bodyPr/>
          <a:lstStyle/>
          <a:p>
            <a:pPr>
              <a:spcBef>
                <a:spcPct val="0"/>
              </a:spcBef>
            </a:pPr>
            <a:r>
              <a:rPr lang="en-US" altLang="en-US" dirty="0"/>
              <a:t> </a:t>
            </a:r>
          </a:p>
        </p:txBody>
      </p:sp>
      <p:pic>
        <p:nvPicPr>
          <p:cNvPr id="15363" name="Picture 7" descr="Figure 8.1 illustrates the moral dimensions of an Internet society.">
            <a:extLst>
              <a:ext uri="{FF2B5EF4-FFF2-40B4-BE49-F238E27FC236}">
                <a16:creationId xmlns:a16="http://schemas.microsoft.com/office/drawing/2014/main" id="{4A28B8B3-42C3-5D4D-AD79-320F5E20E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00200"/>
            <a:ext cx="6218238" cy="45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6697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2">
            <a:extLst>
              <a:ext uri="{FF2B5EF4-FFF2-40B4-BE49-F238E27FC236}">
                <a16:creationId xmlns:a16="http://schemas.microsoft.com/office/drawing/2014/main" id="{73CD5BC4-225C-044D-879F-A5C93B7C2E06}"/>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17410" name="Rectangle 1026">
            <a:extLst>
              <a:ext uri="{FF2B5EF4-FFF2-40B4-BE49-F238E27FC236}">
                <a16:creationId xmlns:a16="http://schemas.microsoft.com/office/drawing/2014/main" id="{C69CD7DB-4609-F74A-BCBD-434C60E6B335}"/>
              </a:ext>
            </a:extLst>
          </p:cNvPr>
          <p:cNvSpPr>
            <a:spLocks noGrp="1" noChangeArrowheads="1"/>
          </p:cNvSpPr>
          <p:nvPr>
            <p:ph type="title"/>
          </p:nvPr>
        </p:nvSpPr>
        <p:spPr/>
        <p:txBody>
          <a:bodyPr/>
          <a:lstStyle/>
          <a:p>
            <a:pPr eaLnBrk="1" hangingPunct="1"/>
            <a:r>
              <a:rPr lang="en-US" altLang="en-US"/>
              <a:t>A Model for Organizing the Issues</a:t>
            </a:r>
          </a:p>
        </p:txBody>
      </p:sp>
      <p:sp>
        <p:nvSpPr>
          <p:cNvPr id="2" name="Rectangle 1027">
            <a:extLst>
              <a:ext uri="{FF2B5EF4-FFF2-40B4-BE49-F238E27FC236}">
                <a16:creationId xmlns:a16="http://schemas.microsoft.com/office/drawing/2014/main" id="{D435B96B-F8B0-6D48-BA1D-41AB186579CE}"/>
              </a:ext>
            </a:extLst>
          </p:cNvPr>
          <p:cNvSpPr>
            <a:spLocks noGrp="1" noChangeArrowheads="1"/>
          </p:cNvSpPr>
          <p:nvPr>
            <p:ph idx="1"/>
          </p:nvPr>
        </p:nvSpPr>
        <p:spPr/>
        <p:txBody>
          <a:bodyPr/>
          <a:lstStyle/>
          <a:p>
            <a:pPr eaLnBrk="1" hangingPunct="1">
              <a:spcBef>
                <a:spcPts val="0"/>
              </a:spcBef>
              <a:defRPr/>
            </a:pPr>
            <a:r>
              <a:rPr lang="en-US" dirty="0"/>
              <a:t>Four major categories of issues:</a:t>
            </a:r>
          </a:p>
          <a:p>
            <a:pPr lvl="1" eaLnBrk="1" hangingPunct="1">
              <a:spcBef>
                <a:spcPts val="0"/>
              </a:spcBef>
              <a:defRPr/>
            </a:pPr>
            <a:r>
              <a:rPr lang="en-US" dirty="0"/>
              <a:t>Information rights – </a:t>
            </a:r>
            <a:r>
              <a:rPr lang="en-US" sz="2800" dirty="0"/>
              <a:t>your personal info</a:t>
            </a:r>
          </a:p>
          <a:p>
            <a:pPr lvl="1" eaLnBrk="1" hangingPunct="1">
              <a:spcBef>
                <a:spcPts val="0"/>
              </a:spcBef>
              <a:defRPr/>
            </a:pPr>
            <a:r>
              <a:rPr lang="en-US" dirty="0"/>
              <a:t>Property rights </a:t>
            </a:r>
            <a:r>
              <a:rPr lang="en-US" sz="2800" dirty="0"/>
              <a:t>– how can it be enforced on internet</a:t>
            </a:r>
          </a:p>
          <a:p>
            <a:pPr lvl="1" eaLnBrk="1" hangingPunct="1">
              <a:spcBef>
                <a:spcPts val="0"/>
              </a:spcBef>
              <a:defRPr/>
            </a:pPr>
            <a:r>
              <a:rPr lang="en-US" dirty="0"/>
              <a:t>Governance –</a:t>
            </a:r>
            <a:r>
              <a:rPr lang="en-US" sz="2800" dirty="0"/>
              <a:t>should internet be subject to public law?</a:t>
            </a:r>
          </a:p>
          <a:p>
            <a:pPr lvl="1" eaLnBrk="1" hangingPunct="1">
              <a:spcBef>
                <a:spcPts val="0"/>
              </a:spcBef>
              <a:defRPr/>
            </a:pPr>
            <a:r>
              <a:rPr lang="en-US" dirty="0"/>
              <a:t>Public safety and welfare; </a:t>
            </a:r>
            <a:r>
              <a:rPr lang="en-US" sz="2800" dirty="0"/>
              <a:t>gambling, porn, child safety, bullying</a:t>
            </a:r>
          </a:p>
        </p:txBody>
      </p:sp>
      <p:sp>
        <p:nvSpPr>
          <p:cNvPr id="5" name="Slide Number Placeholder 4">
            <a:extLst>
              <a:ext uri="{FF2B5EF4-FFF2-40B4-BE49-F238E27FC236}">
                <a16:creationId xmlns:a16="http://schemas.microsoft.com/office/drawing/2014/main" id="{75D97789-AB06-7048-8612-341AC744F4E2}"/>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12713"/>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2">
            <a:extLst>
              <a:ext uri="{FF2B5EF4-FFF2-40B4-BE49-F238E27FC236}">
                <a16:creationId xmlns:a16="http://schemas.microsoft.com/office/drawing/2014/main" id="{9C809F80-232C-D84A-9D96-BC44D2DD14CE}"/>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18434" name="Rectangle 2">
            <a:extLst>
              <a:ext uri="{FF2B5EF4-FFF2-40B4-BE49-F238E27FC236}">
                <a16:creationId xmlns:a16="http://schemas.microsoft.com/office/drawing/2014/main" id="{C07EABDF-239D-0B49-88A4-BA19CB1ACE1D}"/>
              </a:ext>
            </a:extLst>
          </p:cNvPr>
          <p:cNvSpPr>
            <a:spLocks noGrp="1" noChangeArrowheads="1"/>
          </p:cNvSpPr>
          <p:nvPr>
            <p:ph type="title"/>
          </p:nvPr>
        </p:nvSpPr>
        <p:spPr>
          <a:xfrm>
            <a:off x="457200" y="762000"/>
            <a:ext cx="8229600" cy="579438"/>
          </a:xfrm>
        </p:spPr>
        <p:txBody>
          <a:bodyPr/>
          <a:lstStyle/>
          <a:p>
            <a:pPr eaLnBrk="1" hangingPunct="1"/>
            <a:r>
              <a:rPr lang="en-US" altLang="en-US"/>
              <a:t>Basic Ethical Concepts</a:t>
            </a:r>
          </a:p>
        </p:txBody>
      </p:sp>
      <p:sp>
        <p:nvSpPr>
          <p:cNvPr id="2" name="Rectangle 3">
            <a:extLst>
              <a:ext uri="{FF2B5EF4-FFF2-40B4-BE49-F238E27FC236}">
                <a16:creationId xmlns:a16="http://schemas.microsoft.com/office/drawing/2014/main" id="{F5940B40-DB40-F348-8AD2-607C6F0811E0}"/>
              </a:ext>
            </a:extLst>
          </p:cNvPr>
          <p:cNvSpPr>
            <a:spLocks noGrp="1" noChangeArrowheads="1"/>
          </p:cNvSpPr>
          <p:nvPr>
            <p:ph idx="1"/>
          </p:nvPr>
        </p:nvSpPr>
        <p:spPr>
          <a:xfrm>
            <a:off x="457200" y="1600200"/>
            <a:ext cx="8229600" cy="4876800"/>
          </a:xfrm>
        </p:spPr>
        <p:txBody>
          <a:bodyPr/>
          <a:lstStyle/>
          <a:p>
            <a:pPr eaLnBrk="1" hangingPunct="1">
              <a:spcBef>
                <a:spcPts val="0"/>
              </a:spcBef>
              <a:spcAft>
                <a:spcPts val="600"/>
              </a:spcAft>
              <a:defRPr/>
            </a:pPr>
            <a:r>
              <a:rPr lang="en-US" dirty="0"/>
              <a:t>Ethics</a:t>
            </a:r>
          </a:p>
          <a:p>
            <a:pPr lvl="1" eaLnBrk="1" hangingPunct="1">
              <a:spcBef>
                <a:spcPts val="0"/>
              </a:spcBef>
              <a:spcAft>
                <a:spcPts val="600"/>
              </a:spcAft>
              <a:defRPr/>
            </a:pPr>
            <a:r>
              <a:rPr lang="en-US" sz="2000" dirty="0"/>
              <a:t>Study of principles used to determine right and wrong courses of action; </a:t>
            </a:r>
          </a:p>
          <a:p>
            <a:pPr eaLnBrk="1" hangingPunct="1">
              <a:spcBef>
                <a:spcPts val="0"/>
              </a:spcBef>
              <a:spcAft>
                <a:spcPts val="600"/>
              </a:spcAft>
              <a:defRPr/>
            </a:pPr>
            <a:r>
              <a:rPr lang="en-US" dirty="0"/>
              <a:t>Responsibility</a:t>
            </a:r>
          </a:p>
          <a:p>
            <a:pPr eaLnBrk="1" hangingPunct="1">
              <a:spcBef>
                <a:spcPts val="0"/>
              </a:spcBef>
              <a:spcAft>
                <a:spcPts val="600"/>
              </a:spcAft>
              <a:defRPr/>
            </a:pPr>
            <a:r>
              <a:rPr lang="en-US" dirty="0"/>
              <a:t>Accountability</a:t>
            </a:r>
          </a:p>
          <a:p>
            <a:pPr eaLnBrk="1" hangingPunct="1">
              <a:spcBef>
                <a:spcPts val="0"/>
              </a:spcBef>
              <a:spcAft>
                <a:spcPts val="600"/>
              </a:spcAft>
              <a:defRPr/>
            </a:pPr>
            <a:r>
              <a:rPr lang="en-US" dirty="0"/>
              <a:t>Liability</a:t>
            </a:r>
          </a:p>
          <a:p>
            <a:pPr eaLnBrk="1" hangingPunct="1">
              <a:spcBef>
                <a:spcPts val="0"/>
              </a:spcBef>
              <a:spcAft>
                <a:spcPts val="600"/>
              </a:spcAft>
              <a:defRPr/>
            </a:pPr>
            <a:r>
              <a:rPr lang="en-US" dirty="0"/>
              <a:t>Due process</a:t>
            </a:r>
          </a:p>
        </p:txBody>
      </p:sp>
      <p:sp>
        <p:nvSpPr>
          <p:cNvPr id="5" name="Slide Number Placeholder 4">
            <a:extLst>
              <a:ext uri="{FF2B5EF4-FFF2-40B4-BE49-F238E27FC236}">
                <a16:creationId xmlns:a16="http://schemas.microsoft.com/office/drawing/2014/main" id="{C960C2FB-C142-8C4D-97BD-38BED73A6E77}"/>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26872"/>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2">
            <a:extLst>
              <a:ext uri="{FF2B5EF4-FFF2-40B4-BE49-F238E27FC236}">
                <a16:creationId xmlns:a16="http://schemas.microsoft.com/office/drawing/2014/main" id="{5A2D7111-B11D-2B4A-9DF2-2DD0C1D62176}"/>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19458" name="Rectangle 2">
            <a:extLst>
              <a:ext uri="{FF2B5EF4-FFF2-40B4-BE49-F238E27FC236}">
                <a16:creationId xmlns:a16="http://schemas.microsoft.com/office/drawing/2014/main" id="{F5C5D79A-3178-3E45-9F22-7D7163A6DBA0}"/>
              </a:ext>
            </a:extLst>
          </p:cNvPr>
          <p:cNvSpPr>
            <a:spLocks noGrp="1" noChangeArrowheads="1"/>
          </p:cNvSpPr>
          <p:nvPr>
            <p:ph type="title"/>
          </p:nvPr>
        </p:nvSpPr>
        <p:spPr>
          <a:xfrm>
            <a:off x="457200" y="762000"/>
            <a:ext cx="8229600" cy="579438"/>
          </a:xfrm>
        </p:spPr>
        <p:txBody>
          <a:bodyPr/>
          <a:lstStyle/>
          <a:p>
            <a:pPr eaLnBrk="1" hangingPunct="1"/>
            <a:r>
              <a:rPr lang="en-US" altLang="en-US"/>
              <a:t>Basic Ethical Concepts</a:t>
            </a:r>
          </a:p>
        </p:txBody>
      </p:sp>
      <p:sp>
        <p:nvSpPr>
          <p:cNvPr id="2" name="Rectangle 3">
            <a:extLst>
              <a:ext uri="{FF2B5EF4-FFF2-40B4-BE49-F238E27FC236}">
                <a16:creationId xmlns:a16="http://schemas.microsoft.com/office/drawing/2014/main" id="{A92DD72D-2821-A442-A3EA-D5A0FAEB68B5}"/>
              </a:ext>
            </a:extLst>
          </p:cNvPr>
          <p:cNvSpPr>
            <a:spLocks noGrp="1" noChangeArrowheads="1"/>
          </p:cNvSpPr>
          <p:nvPr>
            <p:ph idx="1"/>
          </p:nvPr>
        </p:nvSpPr>
        <p:spPr>
          <a:xfrm>
            <a:off x="457200" y="1600200"/>
            <a:ext cx="8229600" cy="4876800"/>
          </a:xfrm>
        </p:spPr>
        <p:txBody>
          <a:bodyPr/>
          <a:lstStyle/>
          <a:p>
            <a:pPr eaLnBrk="1" hangingPunct="1">
              <a:spcBef>
                <a:spcPts val="0"/>
              </a:spcBef>
              <a:spcAft>
                <a:spcPts val="600"/>
              </a:spcAft>
              <a:defRPr/>
            </a:pPr>
            <a:r>
              <a:rPr lang="en-US" dirty="0"/>
              <a:t>Ethics</a:t>
            </a:r>
          </a:p>
          <a:p>
            <a:pPr lvl="1" eaLnBrk="1" hangingPunct="1">
              <a:spcBef>
                <a:spcPts val="0"/>
              </a:spcBef>
              <a:spcAft>
                <a:spcPts val="600"/>
              </a:spcAft>
              <a:defRPr/>
            </a:pPr>
            <a:r>
              <a:rPr lang="en-US" sz="2000" dirty="0"/>
              <a:t>Study of principles used to determine right and wrong courses of action; decisions can be judged against a variety of different principles</a:t>
            </a:r>
          </a:p>
          <a:p>
            <a:pPr eaLnBrk="1" hangingPunct="1">
              <a:spcBef>
                <a:spcPts val="0"/>
              </a:spcBef>
              <a:spcAft>
                <a:spcPts val="600"/>
              </a:spcAft>
              <a:defRPr/>
            </a:pPr>
            <a:r>
              <a:rPr lang="en-US" dirty="0"/>
              <a:t>Responsibility; </a:t>
            </a:r>
            <a:r>
              <a:rPr lang="en-US" sz="2000" dirty="0"/>
              <a:t>we are free moral agents &amp; responsible for decisions we make</a:t>
            </a:r>
            <a:endParaRPr lang="en-US" dirty="0"/>
          </a:p>
          <a:p>
            <a:pPr eaLnBrk="1" hangingPunct="1">
              <a:spcBef>
                <a:spcPts val="0"/>
              </a:spcBef>
              <a:spcAft>
                <a:spcPts val="600"/>
              </a:spcAft>
              <a:defRPr/>
            </a:pPr>
            <a:r>
              <a:rPr lang="en-US" dirty="0"/>
              <a:t>Accountability; </a:t>
            </a:r>
          </a:p>
          <a:p>
            <a:pPr eaLnBrk="1" hangingPunct="1">
              <a:spcBef>
                <a:spcPts val="0"/>
              </a:spcBef>
              <a:spcAft>
                <a:spcPts val="600"/>
              </a:spcAft>
              <a:defRPr/>
            </a:pPr>
            <a:r>
              <a:rPr lang="en-US" dirty="0"/>
              <a:t>Liability</a:t>
            </a:r>
          </a:p>
          <a:p>
            <a:pPr lvl="1" eaLnBrk="1" hangingPunct="1">
              <a:spcBef>
                <a:spcPts val="0"/>
              </a:spcBef>
              <a:spcAft>
                <a:spcPts val="600"/>
              </a:spcAft>
              <a:defRPr/>
            </a:pPr>
            <a:r>
              <a:rPr lang="en-US" sz="2000" dirty="0"/>
              <a:t>Laws permitting individuals to recover damages</a:t>
            </a:r>
          </a:p>
          <a:p>
            <a:pPr eaLnBrk="1" hangingPunct="1">
              <a:spcBef>
                <a:spcPts val="0"/>
              </a:spcBef>
              <a:spcAft>
                <a:spcPts val="600"/>
              </a:spcAft>
              <a:defRPr/>
            </a:pPr>
            <a:r>
              <a:rPr lang="en-US" dirty="0"/>
              <a:t>Due process</a:t>
            </a:r>
          </a:p>
          <a:p>
            <a:pPr lvl="1" eaLnBrk="1" hangingPunct="1">
              <a:spcBef>
                <a:spcPts val="0"/>
              </a:spcBef>
              <a:spcAft>
                <a:spcPts val="600"/>
              </a:spcAft>
              <a:defRPr/>
            </a:pPr>
            <a:r>
              <a:rPr lang="en-US" sz="2000" dirty="0"/>
              <a:t>Laws are known, understood</a:t>
            </a:r>
          </a:p>
          <a:p>
            <a:pPr lvl="1" eaLnBrk="1" hangingPunct="1">
              <a:spcBef>
                <a:spcPts val="0"/>
              </a:spcBef>
              <a:spcAft>
                <a:spcPts val="600"/>
              </a:spcAft>
              <a:defRPr/>
            </a:pPr>
            <a:r>
              <a:rPr lang="en-US" sz="2000" dirty="0"/>
              <a:t>Ability to appeal to higher authorities to ensure laws applied correctly</a:t>
            </a:r>
            <a:endParaRPr lang="en-US" dirty="0"/>
          </a:p>
        </p:txBody>
      </p:sp>
      <p:sp>
        <p:nvSpPr>
          <p:cNvPr id="5" name="Slide Number Placeholder 4">
            <a:extLst>
              <a:ext uri="{FF2B5EF4-FFF2-40B4-BE49-F238E27FC236}">
                <a16:creationId xmlns:a16="http://schemas.microsoft.com/office/drawing/2014/main" id="{76F0FA84-2852-3549-B703-EA991089DB22}"/>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4274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02B62F1A-22D7-744E-B8B7-D932C6062A88}"/>
              </a:ext>
            </a:extLst>
          </p:cNvPr>
          <p:cNvSpPr>
            <a:spLocks noGrp="1" noChangeArrowheads="1"/>
          </p:cNvSpPr>
          <p:nvPr>
            <p:ph type="title"/>
          </p:nvPr>
        </p:nvSpPr>
        <p:spPr/>
        <p:txBody>
          <a:bodyPr/>
          <a:lstStyle/>
          <a:p>
            <a:r>
              <a:rPr lang="en-US" altLang="en-US"/>
              <a:t>Analyzing Ethical Dilemmas</a:t>
            </a:r>
          </a:p>
        </p:txBody>
      </p:sp>
      <p:sp>
        <p:nvSpPr>
          <p:cNvPr id="3" name="Content Placeholder 2">
            <a:extLst>
              <a:ext uri="{FF2B5EF4-FFF2-40B4-BE49-F238E27FC236}">
                <a16:creationId xmlns:a16="http://schemas.microsoft.com/office/drawing/2014/main" id="{04CCD31E-B135-954E-B861-A8E213B6C7A1}"/>
              </a:ext>
            </a:extLst>
          </p:cNvPr>
          <p:cNvSpPr>
            <a:spLocks noGrp="1"/>
          </p:cNvSpPr>
          <p:nvPr>
            <p:ph idx="1"/>
          </p:nvPr>
        </p:nvSpPr>
        <p:spPr/>
        <p:txBody>
          <a:bodyPr/>
          <a:lstStyle/>
          <a:p>
            <a:pPr>
              <a:defRPr/>
            </a:pPr>
            <a:r>
              <a:rPr lang="en-US" dirty="0"/>
              <a:t>Process for analyzing ethical dilemmas:</a:t>
            </a:r>
          </a:p>
          <a:p>
            <a:pPr marL="914400" lvl="1" indent="-457200">
              <a:buFont typeface="+mj-lt"/>
              <a:buAutoNum type="arabicPeriod"/>
              <a:defRPr/>
            </a:pPr>
            <a:r>
              <a:rPr lang="en-US" dirty="0"/>
              <a:t>Identify and clearly describe the facts</a:t>
            </a:r>
          </a:p>
          <a:p>
            <a:pPr marL="914400" lvl="1" indent="-457200">
              <a:buFont typeface="+mj-lt"/>
              <a:buAutoNum type="arabicPeriod"/>
              <a:defRPr/>
            </a:pPr>
            <a:r>
              <a:rPr lang="en-US" dirty="0"/>
              <a:t>Define the conflict or dilemma and identify the higher-order values involved</a:t>
            </a:r>
          </a:p>
          <a:p>
            <a:pPr marL="914400" lvl="1" indent="-457200">
              <a:buFont typeface="+mj-lt"/>
              <a:buAutoNum type="arabicPeriod"/>
              <a:defRPr/>
            </a:pPr>
            <a:r>
              <a:rPr lang="en-US" dirty="0"/>
              <a:t>Identify the stakeholders</a:t>
            </a:r>
          </a:p>
          <a:p>
            <a:pPr marL="914400" lvl="1" indent="-457200">
              <a:buFont typeface="+mj-lt"/>
              <a:buAutoNum type="arabicPeriod"/>
              <a:defRPr/>
            </a:pPr>
            <a:r>
              <a:rPr lang="en-US" dirty="0"/>
              <a:t>Identify the options that you can reasonably take</a:t>
            </a:r>
          </a:p>
          <a:p>
            <a:pPr marL="914400" lvl="1" indent="-457200">
              <a:buFont typeface="+mj-lt"/>
              <a:buAutoNum type="arabicPeriod"/>
              <a:defRPr/>
            </a:pPr>
            <a:r>
              <a:rPr lang="en-US" dirty="0"/>
              <a:t>Identify the potential consequences of your options</a:t>
            </a:r>
          </a:p>
        </p:txBody>
      </p:sp>
    </p:spTree>
  </p:cSld>
  <p:clrMapOvr>
    <a:masterClrMapping/>
  </p:clrMapOvr>
  <p:transition spd="slow" advTm="99038"/>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2">
            <a:extLst>
              <a:ext uri="{FF2B5EF4-FFF2-40B4-BE49-F238E27FC236}">
                <a16:creationId xmlns:a16="http://schemas.microsoft.com/office/drawing/2014/main" id="{15D81910-450D-0544-A50B-83E3D1A94CB0}"/>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21506" name="Rectangle 1026">
            <a:extLst>
              <a:ext uri="{FF2B5EF4-FFF2-40B4-BE49-F238E27FC236}">
                <a16:creationId xmlns:a16="http://schemas.microsoft.com/office/drawing/2014/main" id="{93358487-64BE-544A-AFE2-5803D584F912}"/>
              </a:ext>
            </a:extLst>
          </p:cNvPr>
          <p:cNvSpPr>
            <a:spLocks noGrp="1" noChangeArrowheads="1"/>
          </p:cNvSpPr>
          <p:nvPr>
            <p:ph type="title"/>
          </p:nvPr>
        </p:nvSpPr>
        <p:spPr/>
        <p:txBody>
          <a:bodyPr/>
          <a:lstStyle/>
          <a:p>
            <a:pPr eaLnBrk="1" hangingPunct="1"/>
            <a:r>
              <a:rPr lang="en-US" altLang="en-US"/>
              <a:t>Privacy and Information Rights</a:t>
            </a:r>
          </a:p>
        </p:txBody>
      </p:sp>
      <p:sp>
        <p:nvSpPr>
          <p:cNvPr id="12291" name="Rectangle 1027">
            <a:extLst>
              <a:ext uri="{FF2B5EF4-FFF2-40B4-BE49-F238E27FC236}">
                <a16:creationId xmlns:a16="http://schemas.microsoft.com/office/drawing/2014/main" id="{2187FB5A-2F13-2944-A6D9-234EDD9FAF16}"/>
              </a:ext>
            </a:extLst>
          </p:cNvPr>
          <p:cNvSpPr>
            <a:spLocks noGrp="1" noChangeArrowheads="1"/>
          </p:cNvSpPr>
          <p:nvPr>
            <p:ph idx="1"/>
          </p:nvPr>
        </p:nvSpPr>
        <p:spPr>
          <a:xfrm>
            <a:off x="457200" y="1600200"/>
            <a:ext cx="8229600" cy="4953000"/>
          </a:xfrm>
        </p:spPr>
        <p:txBody>
          <a:bodyPr/>
          <a:lstStyle/>
          <a:p>
            <a:pPr eaLnBrk="1" hangingPunct="1">
              <a:spcBef>
                <a:spcPts val="0"/>
              </a:spcBef>
              <a:defRPr/>
            </a:pPr>
            <a:r>
              <a:rPr lang="en-US" dirty="0"/>
              <a:t>Privacy: </a:t>
            </a:r>
          </a:p>
          <a:p>
            <a:pPr lvl="1" eaLnBrk="1" hangingPunct="1">
              <a:spcBef>
                <a:spcPts val="0"/>
              </a:spcBef>
              <a:defRPr/>
            </a:pPr>
            <a:r>
              <a:rPr lang="en-US" sz="2800" dirty="0"/>
              <a:t>Moral right of individuals to be left alone, free from surveillance or interference from other individuals or organizations</a:t>
            </a:r>
          </a:p>
          <a:p>
            <a:pPr>
              <a:defRPr/>
            </a:pPr>
            <a:r>
              <a:rPr lang="en-US" altLang="en-US" dirty="0"/>
              <a:t>Information privacy: Four premises</a:t>
            </a:r>
          </a:p>
          <a:p>
            <a:pPr lvl="1">
              <a:defRPr/>
            </a:pPr>
            <a:r>
              <a:rPr lang="en-US" altLang="en-US" sz="2000" dirty="0"/>
              <a:t>Right to control information collected about them</a:t>
            </a:r>
          </a:p>
          <a:p>
            <a:pPr lvl="2">
              <a:defRPr/>
            </a:pPr>
            <a:r>
              <a:rPr lang="ja-JP" altLang="en-US" sz="2000" dirty="0"/>
              <a:t>“</a:t>
            </a:r>
            <a:r>
              <a:rPr lang="en-US" altLang="ja-JP" sz="2000" dirty="0"/>
              <a:t>Right to be forgotten</a:t>
            </a:r>
            <a:r>
              <a:rPr lang="ja-JP" altLang="en-US" sz="2000" dirty="0"/>
              <a:t>”</a:t>
            </a:r>
            <a:endParaRPr lang="en-US" altLang="ja-JP" sz="2000" dirty="0"/>
          </a:p>
          <a:p>
            <a:pPr lvl="1">
              <a:defRPr/>
            </a:pPr>
            <a:r>
              <a:rPr lang="en-US" altLang="en-US" sz="2000" dirty="0"/>
              <a:t>Right to know when information is collected and give consent</a:t>
            </a:r>
          </a:p>
          <a:p>
            <a:pPr lvl="2">
              <a:defRPr/>
            </a:pPr>
            <a:r>
              <a:rPr lang="en-US" altLang="en-US" sz="2000" dirty="0"/>
              <a:t>“Informed consent”</a:t>
            </a:r>
          </a:p>
          <a:p>
            <a:pPr lvl="1">
              <a:defRPr/>
            </a:pPr>
            <a:r>
              <a:rPr lang="en-US" altLang="en-US" sz="2000" dirty="0"/>
              <a:t>Right to personal information due process</a:t>
            </a:r>
          </a:p>
          <a:p>
            <a:pPr lvl="1">
              <a:defRPr/>
            </a:pPr>
            <a:r>
              <a:rPr lang="en-US" altLang="en-US" sz="2000" dirty="0"/>
              <a:t>Right to have personal information stored in a secure manner</a:t>
            </a:r>
          </a:p>
          <a:p>
            <a:pPr marL="457200" lvl="1" indent="0">
              <a:buFont typeface="Wingdings" pitchFamily="2" charset="2"/>
              <a:buNone/>
              <a:defRPr/>
            </a:pPr>
            <a:r>
              <a:rPr lang="en-US" altLang="en-US" sz="2000" i="1" dirty="0"/>
              <a:t>https://en.wikipedia.org/wiki/Right_to_be_forgotten</a:t>
            </a:r>
          </a:p>
        </p:txBody>
      </p:sp>
      <p:sp>
        <p:nvSpPr>
          <p:cNvPr id="5" name="Slide Number Placeholder 4">
            <a:extLst>
              <a:ext uri="{FF2B5EF4-FFF2-40B4-BE49-F238E27FC236}">
                <a16:creationId xmlns:a16="http://schemas.microsoft.com/office/drawing/2014/main" id="{8388121B-6C0B-0747-B287-D4168D26EE6E}"/>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121034"/>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2">
            <a:extLst>
              <a:ext uri="{FF2B5EF4-FFF2-40B4-BE49-F238E27FC236}">
                <a16:creationId xmlns:a16="http://schemas.microsoft.com/office/drawing/2014/main" id="{093209F7-58DD-3241-92CB-A7A04712B74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23554" name="Rectangle 2">
            <a:extLst>
              <a:ext uri="{FF2B5EF4-FFF2-40B4-BE49-F238E27FC236}">
                <a16:creationId xmlns:a16="http://schemas.microsoft.com/office/drawing/2014/main" id="{6853B800-9237-084E-B0F3-D843855E58CE}"/>
              </a:ext>
            </a:extLst>
          </p:cNvPr>
          <p:cNvSpPr>
            <a:spLocks noGrp="1" noChangeArrowheads="1"/>
          </p:cNvSpPr>
          <p:nvPr>
            <p:ph type="title"/>
          </p:nvPr>
        </p:nvSpPr>
        <p:spPr>
          <a:xfrm>
            <a:off x="457200" y="762000"/>
            <a:ext cx="8229600" cy="1077913"/>
          </a:xfrm>
        </p:spPr>
        <p:txBody>
          <a:bodyPr/>
          <a:lstStyle/>
          <a:p>
            <a:pPr eaLnBrk="1" hangingPunct="1"/>
            <a:r>
              <a:rPr lang="en-US" altLang="en-US"/>
              <a:t>Information Collected at </a:t>
            </a:r>
            <a:br>
              <a:rPr lang="en-US" altLang="en-US"/>
            </a:br>
            <a:r>
              <a:rPr lang="en-US" altLang="en-US"/>
              <a:t>E-commerce Sites</a:t>
            </a:r>
          </a:p>
        </p:txBody>
      </p:sp>
      <p:sp>
        <p:nvSpPr>
          <p:cNvPr id="14339" name="Rectangle 3">
            <a:extLst>
              <a:ext uri="{FF2B5EF4-FFF2-40B4-BE49-F238E27FC236}">
                <a16:creationId xmlns:a16="http://schemas.microsoft.com/office/drawing/2014/main" id="{69B78B64-89FB-F448-BF74-471FEEEFA530}"/>
              </a:ext>
            </a:extLst>
          </p:cNvPr>
          <p:cNvSpPr>
            <a:spLocks noGrp="1" noChangeArrowheads="1"/>
          </p:cNvSpPr>
          <p:nvPr>
            <p:ph idx="1"/>
          </p:nvPr>
        </p:nvSpPr>
        <p:spPr>
          <a:xfrm>
            <a:off x="457200" y="1905000"/>
            <a:ext cx="8229600" cy="4724400"/>
          </a:xfrm>
        </p:spPr>
        <p:txBody>
          <a:bodyPr/>
          <a:lstStyle/>
          <a:p>
            <a:pPr eaLnBrk="1" hangingPunct="1">
              <a:spcAft>
                <a:spcPts val="600"/>
              </a:spcAft>
              <a:defRPr/>
            </a:pPr>
            <a:r>
              <a:rPr lang="en-US" dirty="0"/>
              <a:t>Data collected includes</a:t>
            </a:r>
          </a:p>
          <a:p>
            <a:pPr lvl="1" eaLnBrk="1" hangingPunct="1">
              <a:spcAft>
                <a:spcPts val="600"/>
              </a:spcAft>
              <a:defRPr/>
            </a:pPr>
            <a:r>
              <a:rPr lang="en-US" sz="2400" dirty="0"/>
              <a:t>Personally identifiable information (PII)</a:t>
            </a:r>
          </a:p>
          <a:p>
            <a:pPr lvl="1" eaLnBrk="1" hangingPunct="1">
              <a:spcAft>
                <a:spcPts val="1800"/>
              </a:spcAft>
              <a:defRPr/>
            </a:pPr>
            <a:r>
              <a:rPr lang="en-US" sz="2400" dirty="0"/>
              <a:t>Anonymous information</a:t>
            </a:r>
          </a:p>
          <a:p>
            <a:pPr eaLnBrk="1" hangingPunct="1">
              <a:spcBef>
                <a:spcPts val="600"/>
              </a:spcBef>
              <a:spcAft>
                <a:spcPts val="600"/>
              </a:spcAft>
              <a:defRPr/>
            </a:pPr>
            <a:r>
              <a:rPr lang="en-US" dirty="0"/>
              <a:t>Types of data collected</a:t>
            </a:r>
          </a:p>
          <a:p>
            <a:pPr lvl="1" eaLnBrk="1" hangingPunct="1">
              <a:spcAft>
                <a:spcPts val="600"/>
              </a:spcAft>
              <a:defRPr/>
            </a:pPr>
            <a:r>
              <a:rPr lang="en-US" sz="2400" dirty="0"/>
              <a:t>Name, address, phone, e-mail, social security</a:t>
            </a:r>
          </a:p>
          <a:p>
            <a:pPr lvl="1" eaLnBrk="1" hangingPunct="1">
              <a:spcAft>
                <a:spcPts val="600"/>
              </a:spcAft>
              <a:defRPr/>
            </a:pPr>
            <a:r>
              <a:rPr lang="en-US" sz="2400" dirty="0"/>
              <a:t>Bank and credit accounts, gender, age, occupation, education</a:t>
            </a:r>
          </a:p>
          <a:p>
            <a:pPr lvl="1" eaLnBrk="1" hangingPunct="1">
              <a:spcAft>
                <a:spcPts val="600"/>
              </a:spcAft>
              <a:defRPr/>
            </a:pPr>
            <a:r>
              <a:rPr lang="en-US" sz="2400" dirty="0"/>
              <a:t>Preference data, transaction data, clickstream data, browser type</a:t>
            </a:r>
          </a:p>
        </p:txBody>
      </p:sp>
      <p:sp>
        <p:nvSpPr>
          <p:cNvPr id="5" name="Slide Number Placeholder 4">
            <a:extLst>
              <a:ext uri="{FF2B5EF4-FFF2-40B4-BE49-F238E27FC236}">
                <a16:creationId xmlns:a16="http://schemas.microsoft.com/office/drawing/2014/main" id="{9B1D8B84-5316-DA4C-A620-7899B8FF203E}"/>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53228"/>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1E1D4D5F-EDE8-6444-97BA-9CEEDBEE5578}"/>
              </a:ext>
            </a:extLst>
          </p:cNvPr>
          <p:cNvSpPr>
            <a:spLocks noGrp="1" noChangeArrowheads="1"/>
          </p:cNvSpPr>
          <p:nvPr>
            <p:ph type="title"/>
          </p:nvPr>
        </p:nvSpPr>
        <p:spPr/>
        <p:txBody>
          <a:bodyPr/>
          <a:lstStyle/>
          <a:p>
            <a:r>
              <a:rPr lang="en-US" altLang="en-US"/>
              <a:t>Key Issues in Online Privacy of Consumers	</a:t>
            </a:r>
          </a:p>
        </p:txBody>
      </p:sp>
      <p:sp>
        <p:nvSpPr>
          <p:cNvPr id="3" name="Content Placeholder 2">
            <a:extLst>
              <a:ext uri="{FF2B5EF4-FFF2-40B4-BE49-F238E27FC236}">
                <a16:creationId xmlns:a16="http://schemas.microsoft.com/office/drawing/2014/main" id="{BD5368A6-B2CD-714A-B7C3-7F99B8E14A77}"/>
              </a:ext>
            </a:extLst>
          </p:cNvPr>
          <p:cNvSpPr>
            <a:spLocks noGrp="1"/>
          </p:cNvSpPr>
          <p:nvPr>
            <p:ph idx="1"/>
          </p:nvPr>
        </p:nvSpPr>
        <p:spPr/>
        <p:txBody>
          <a:bodyPr/>
          <a:lstStyle/>
          <a:p>
            <a:pPr>
              <a:defRPr/>
            </a:pPr>
            <a:r>
              <a:rPr lang="en-US" dirty="0"/>
              <a:t>Top concerns</a:t>
            </a:r>
          </a:p>
          <a:p>
            <a:pPr lvl="1">
              <a:defRPr/>
            </a:pPr>
            <a:r>
              <a:rPr lang="en-US" sz="2400" dirty="0"/>
              <a:t>Profiling and ad targeting</a:t>
            </a:r>
          </a:p>
          <a:p>
            <a:pPr lvl="1">
              <a:defRPr/>
            </a:pPr>
            <a:r>
              <a:rPr lang="en-US" sz="2400" dirty="0"/>
              <a:t>Social network privacy</a:t>
            </a:r>
          </a:p>
          <a:p>
            <a:pPr lvl="1">
              <a:defRPr/>
            </a:pPr>
            <a:r>
              <a:rPr lang="en-US" sz="2400" dirty="0"/>
              <a:t>Sharing of information by marketers</a:t>
            </a:r>
          </a:p>
          <a:p>
            <a:pPr lvl="1">
              <a:defRPr/>
            </a:pPr>
            <a:r>
              <a:rPr lang="en-US" sz="2400" dirty="0"/>
              <a:t>Mobile phone privacy</a:t>
            </a:r>
          </a:p>
          <a:p>
            <a:pPr>
              <a:defRPr/>
            </a:pPr>
            <a:r>
              <a:rPr lang="en-US" dirty="0"/>
              <a:t>Other concerns</a:t>
            </a:r>
          </a:p>
          <a:p>
            <a:pPr lvl="1">
              <a:defRPr/>
            </a:pPr>
            <a:r>
              <a:rPr lang="en-US" sz="2400" dirty="0"/>
              <a:t>Monitoring employees</a:t>
            </a:r>
          </a:p>
          <a:p>
            <a:pPr lvl="1">
              <a:defRPr/>
            </a:pPr>
            <a:r>
              <a:rPr lang="en-US" sz="2400" dirty="0"/>
              <a:t>Sharing of health information</a:t>
            </a:r>
          </a:p>
          <a:p>
            <a:pPr lvl="1">
              <a:defRPr/>
            </a:pPr>
            <a:r>
              <a:rPr lang="en-US" sz="2400" dirty="0"/>
              <a:t>Surveillance to prevent terrorism</a:t>
            </a:r>
          </a:p>
        </p:txBody>
      </p:sp>
    </p:spTree>
  </p:cSld>
  <p:clrMapOvr>
    <a:masterClrMapping/>
  </p:clrMapOvr>
  <mc:AlternateContent xmlns:mc="http://schemas.openxmlformats.org/markup-compatibility/2006" xmlns:p14="http://schemas.microsoft.com/office/powerpoint/2010/main">
    <mc:Choice Requires="p14">
      <p:transition spd="slow" p14:dur="2000" advTm="82372"/>
    </mc:Choice>
    <mc:Fallback xmlns="">
      <p:transition spd="slow" advTm="8237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2B843F4B-81A6-5C4D-802D-373277E2A15F}"/>
              </a:ext>
            </a:extLst>
          </p:cNvPr>
          <p:cNvSpPr>
            <a:spLocks noGrp="1" noChangeArrowheads="1"/>
          </p:cNvSpPr>
          <p:nvPr>
            <p:ph type="title"/>
          </p:nvPr>
        </p:nvSpPr>
        <p:spPr>
          <a:xfrm>
            <a:off x="457200" y="269928"/>
            <a:ext cx="8229600" cy="1077860"/>
          </a:xfrm>
        </p:spPr>
        <p:txBody>
          <a:bodyPr/>
          <a:lstStyle/>
          <a:p>
            <a:r>
              <a:rPr lang="en-US" altLang="en-US" dirty="0"/>
              <a:t>Marketing: Profiling, Behavioral Targeting, and Retargeting</a:t>
            </a:r>
          </a:p>
        </p:txBody>
      </p:sp>
      <p:sp>
        <p:nvSpPr>
          <p:cNvPr id="3" name="Content Placeholder 2">
            <a:extLst>
              <a:ext uri="{FF2B5EF4-FFF2-40B4-BE49-F238E27FC236}">
                <a16:creationId xmlns:a16="http://schemas.microsoft.com/office/drawing/2014/main" id="{1AED30EF-7812-484F-B794-6A42AE03FE2D}"/>
              </a:ext>
            </a:extLst>
          </p:cNvPr>
          <p:cNvSpPr>
            <a:spLocks noGrp="1"/>
          </p:cNvSpPr>
          <p:nvPr>
            <p:ph idx="1"/>
          </p:nvPr>
        </p:nvSpPr>
        <p:spPr/>
        <p:txBody>
          <a:bodyPr/>
          <a:lstStyle/>
          <a:p>
            <a:pPr>
              <a:defRPr/>
            </a:pPr>
            <a:r>
              <a:rPr lang="en-US" altLang="en-US" dirty="0"/>
              <a:t>Facial recognition tools</a:t>
            </a:r>
          </a:p>
          <a:p>
            <a:pPr>
              <a:defRPr/>
            </a:pPr>
            <a:r>
              <a:rPr lang="en-US" altLang="en-US" dirty="0"/>
              <a:t>Business perspective:</a:t>
            </a:r>
          </a:p>
          <a:p>
            <a:pPr lvl="1">
              <a:defRPr/>
            </a:pPr>
            <a:r>
              <a:rPr lang="en-US" altLang="en-US" sz="2800" dirty="0"/>
              <a:t>Increases effectiveness of advertising, subsidizes content</a:t>
            </a:r>
          </a:p>
          <a:p>
            <a:pPr lvl="1">
              <a:defRPr/>
            </a:pPr>
            <a:r>
              <a:rPr lang="en-US" altLang="en-US" sz="2800" dirty="0"/>
              <a:t>Enables sensing of demand for new products</a:t>
            </a:r>
          </a:p>
          <a:p>
            <a:pPr>
              <a:defRPr/>
            </a:pPr>
            <a:r>
              <a:rPr lang="en-US" altLang="en-US" dirty="0"/>
              <a:t>Critics</a:t>
            </a:r>
            <a:r>
              <a:rPr lang="en-US" altLang="ja-JP" dirty="0"/>
              <a:t>' perspective:</a:t>
            </a:r>
          </a:p>
          <a:p>
            <a:pPr lvl="1">
              <a:defRPr/>
            </a:pPr>
            <a:r>
              <a:rPr lang="en-US" altLang="en-US" sz="2800" dirty="0"/>
              <a:t>Undermines expectation of anonymity and privacy</a:t>
            </a:r>
          </a:p>
          <a:p>
            <a:pPr lvl="1">
              <a:defRPr/>
            </a:pPr>
            <a:r>
              <a:rPr lang="en-US" altLang="en-US" sz="2800" dirty="0"/>
              <a:t>Enables price discrimination</a:t>
            </a:r>
          </a:p>
          <a:p>
            <a:pPr>
              <a:defRPr/>
            </a:pPr>
            <a:r>
              <a:rPr lang="en-US" altLang="en-US" dirty="0"/>
              <a:t>The harm of false data</a:t>
            </a:r>
          </a:p>
        </p:txBody>
      </p:sp>
    </p:spTree>
  </p:cSld>
  <p:clrMapOvr>
    <a:masterClrMapping/>
  </p:clrMapOvr>
  <p:transition spd="slow" advTm="8623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2">
            <a:extLst>
              <a:ext uri="{FF2B5EF4-FFF2-40B4-BE49-F238E27FC236}">
                <a16:creationId xmlns:a16="http://schemas.microsoft.com/office/drawing/2014/main" id="{0D08FC79-FB9F-D946-A02D-321E4F5B0862}"/>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27650" name="Title 1">
            <a:extLst>
              <a:ext uri="{FF2B5EF4-FFF2-40B4-BE49-F238E27FC236}">
                <a16:creationId xmlns:a16="http://schemas.microsoft.com/office/drawing/2014/main" id="{CFB4EF5A-F8DA-A949-A089-050313B89BF2}"/>
              </a:ext>
            </a:extLst>
          </p:cNvPr>
          <p:cNvSpPr>
            <a:spLocks noGrp="1" noChangeArrowheads="1"/>
          </p:cNvSpPr>
          <p:nvPr>
            <p:ph type="title"/>
          </p:nvPr>
        </p:nvSpPr>
        <p:spPr/>
        <p:txBody>
          <a:bodyPr/>
          <a:lstStyle/>
          <a:p>
            <a:pPr eaLnBrk="1" hangingPunct="1"/>
            <a:r>
              <a:rPr lang="en-US" altLang="en-US"/>
              <a:t>Social Networks and Privacy</a:t>
            </a:r>
          </a:p>
        </p:txBody>
      </p:sp>
      <p:sp>
        <p:nvSpPr>
          <p:cNvPr id="3" name="Content Placeholder 2">
            <a:extLst>
              <a:ext uri="{FF2B5EF4-FFF2-40B4-BE49-F238E27FC236}">
                <a16:creationId xmlns:a16="http://schemas.microsoft.com/office/drawing/2014/main" id="{A80F8EA6-0A02-894D-809F-980096ADA0FF}"/>
              </a:ext>
            </a:extLst>
          </p:cNvPr>
          <p:cNvSpPr>
            <a:spLocks noGrp="1"/>
          </p:cNvSpPr>
          <p:nvPr>
            <p:ph idx="1"/>
          </p:nvPr>
        </p:nvSpPr>
        <p:spPr/>
        <p:txBody>
          <a:bodyPr/>
          <a:lstStyle/>
          <a:p>
            <a:pPr eaLnBrk="1" hangingPunct="1">
              <a:spcBef>
                <a:spcPts val="0"/>
              </a:spcBef>
              <a:spcAft>
                <a:spcPts val="1800"/>
              </a:spcAft>
              <a:defRPr/>
            </a:pPr>
            <a:r>
              <a:rPr lang="en-US" dirty="0"/>
              <a:t>Social networks</a:t>
            </a:r>
          </a:p>
          <a:p>
            <a:pPr lvl="1" eaLnBrk="1" hangingPunct="1">
              <a:spcBef>
                <a:spcPts val="0"/>
              </a:spcBef>
              <a:spcAft>
                <a:spcPts val="1800"/>
              </a:spcAft>
              <a:defRPr/>
            </a:pPr>
            <a:r>
              <a:rPr lang="en-US" dirty="0"/>
              <a:t>Encourage sharing personal details</a:t>
            </a:r>
          </a:p>
          <a:p>
            <a:pPr lvl="1" eaLnBrk="1" hangingPunct="1">
              <a:spcBef>
                <a:spcPts val="0"/>
              </a:spcBef>
              <a:spcAft>
                <a:spcPts val="1800"/>
              </a:spcAft>
              <a:defRPr/>
            </a:pPr>
            <a:r>
              <a:rPr lang="en-US" dirty="0"/>
              <a:t>Pose unique challenge to maintaining privacy</a:t>
            </a:r>
          </a:p>
          <a:p>
            <a:pPr eaLnBrk="1" hangingPunct="1">
              <a:buClr>
                <a:srgbClr val="EF6527"/>
              </a:buClr>
              <a:defRPr/>
            </a:pPr>
            <a:r>
              <a:rPr lang="en-US" sz="2800" dirty="0">
                <a:solidFill>
                  <a:schemeClr val="bg2">
                    <a:lumMod val="25000"/>
                  </a:schemeClr>
                </a:solidFill>
              </a:rPr>
              <a:t>Personal control over personal information vs. organization</a:t>
            </a:r>
            <a:r>
              <a:rPr lang="en-US" altLang="ja-JP" sz="2800" dirty="0">
                <a:solidFill>
                  <a:schemeClr val="bg2">
                    <a:lumMod val="25000"/>
                  </a:schemeClr>
                </a:solidFill>
              </a:rPr>
              <a:t>’s desire to monetize social network</a:t>
            </a:r>
            <a:endParaRPr lang="en-US" sz="2800" dirty="0">
              <a:solidFill>
                <a:schemeClr val="bg2">
                  <a:lumMod val="25000"/>
                </a:schemeClr>
              </a:solidFill>
            </a:endParaRPr>
          </a:p>
        </p:txBody>
      </p:sp>
      <p:sp>
        <p:nvSpPr>
          <p:cNvPr id="5" name="Slide Number Placeholder 4">
            <a:extLst>
              <a:ext uri="{FF2B5EF4-FFF2-40B4-BE49-F238E27FC236}">
                <a16:creationId xmlns:a16="http://schemas.microsoft.com/office/drawing/2014/main" id="{ABC1998F-AAD5-5A4C-AE25-705FA9CECA90}"/>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6065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730110C2-D2F6-744D-B2B2-841C12373951}"/>
              </a:ext>
            </a:extLst>
          </p:cNvPr>
          <p:cNvSpPr>
            <a:spLocks noGrp="1" noChangeArrowheads="1"/>
          </p:cNvSpPr>
          <p:nvPr>
            <p:ph type="title"/>
          </p:nvPr>
        </p:nvSpPr>
        <p:spPr>
          <a:xfrm>
            <a:off x="1295400" y="533400"/>
            <a:ext cx="6858000" cy="1127125"/>
          </a:xfrm>
        </p:spPr>
        <p:txBody>
          <a:bodyPr/>
          <a:lstStyle/>
          <a:p>
            <a:pPr eaLnBrk="1" hangingPunct="1"/>
            <a:r>
              <a:rPr lang="en-US" altLang="en-US"/>
              <a:t>Mobile and Location-based Privacy Issues</a:t>
            </a:r>
          </a:p>
        </p:txBody>
      </p:sp>
      <p:sp>
        <p:nvSpPr>
          <p:cNvPr id="3" name="Content Placeholder 2">
            <a:extLst>
              <a:ext uri="{FF2B5EF4-FFF2-40B4-BE49-F238E27FC236}">
                <a16:creationId xmlns:a16="http://schemas.microsoft.com/office/drawing/2014/main" id="{69FBAC06-316D-3741-A91B-AE266E6D5C87}"/>
              </a:ext>
            </a:extLst>
          </p:cNvPr>
          <p:cNvSpPr>
            <a:spLocks noGrp="1"/>
          </p:cNvSpPr>
          <p:nvPr>
            <p:ph idx="1"/>
          </p:nvPr>
        </p:nvSpPr>
        <p:spPr>
          <a:xfrm>
            <a:off x="457200" y="1981200"/>
            <a:ext cx="8229600" cy="3886200"/>
          </a:xfrm>
        </p:spPr>
        <p:txBody>
          <a:bodyPr/>
          <a:lstStyle/>
          <a:p>
            <a:pPr eaLnBrk="1" hangingPunct="1">
              <a:defRPr/>
            </a:pPr>
            <a:r>
              <a:rPr lang="en-US" dirty="0"/>
              <a:t>Smartphone apps</a:t>
            </a:r>
          </a:p>
          <a:p>
            <a:pPr lvl="1" eaLnBrk="1" hangingPunct="1">
              <a:defRPr/>
            </a:pPr>
            <a:r>
              <a:rPr lang="en-US" sz="2400" dirty="0">
                <a:ea typeface="ＭＳ Ｐゴシック" charset="0"/>
              </a:rPr>
              <a:t>Funnel personal information to mobile advertisers for targeting ads</a:t>
            </a:r>
          </a:p>
          <a:p>
            <a:pPr lvl="1" eaLnBrk="1" hangingPunct="1">
              <a:defRPr/>
            </a:pPr>
            <a:r>
              <a:rPr lang="en-US" sz="2400" dirty="0">
                <a:ea typeface="ＭＳ Ｐゴシック" charset="0"/>
              </a:rPr>
              <a:t>Track and store user locations</a:t>
            </a:r>
          </a:p>
          <a:p>
            <a:pPr lvl="1">
              <a:defRPr/>
            </a:pPr>
            <a:r>
              <a:rPr lang="en-US" sz="2400" dirty="0"/>
              <a:t>Track users’ use of other apps</a:t>
            </a:r>
          </a:p>
          <a:p>
            <a:pPr eaLnBrk="1" hangingPunct="1">
              <a:defRPr/>
            </a:pPr>
            <a:r>
              <a:rPr lang="en-US" sz="2800" dirty="0"/>
              <a:t>U.S. Supreme Court rules that police need warrant prior to searching a cell phone for information</a:t>
            </a:r>
          </a:p>
          <a:p>
            <a:pPr lvl="1" eaLnBrk="1" hangingPunct="1">
              <a:defRPr/>
            </a:pPr>
            <a:endParaRPr lang="en-US" sz="2400" dirty="0">
              <a:ea typeface="ＭＳ Ｐゴシック" charset="0"/>
            </a:endParaRPr>
          </a:p>
          <a:p>
            <a:pPr marL="0" indent="0" eaLnBrk="1" hangingPunct="1">
              <a:buFont typeface="Wingdings" charset="2"/>
              <a:buNone/>
              <a:defRPr/>
            </a:pPr>
            <a:endParaRPr lang="en-US" dirty="0"/>
          </a:p>
        </p:txBody>
      </p:sp>
    </p:spTree>
  </p:cSld>
  <p:clrMapOvr>
    <a:masterClrMapping/>
  </p:clrMapOvr>
  <p:transition spd="slow" advTm="85623"/>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2">
            <a:extLst>
              <a:ext uri="{FF2B5EF4-FFF2-40B4-BE49-F238E27FC236}">
                <a16:creationId xmlns:a16="http://schemas.microsoft.com/office/drawing/2014/main" id="{C8685FD6-954F-D141-8048-8DB2D49E03D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29698" name="Title 1">
            <a:extLst>
              <a:ext uri="{FF2B5EF4-FFF2-40B4-BE49-F238E27FC236}">
                <a16:creationId xmlns:a16="http://schemas.microsoft.com/office/drawing/2014/main" id="{3093FD10-22E4-E642-A3DF-A1CDBF04E5EA}"/>
              </a:ext>
            </a:extLst>
          </p:cNvPr>
          <p:cNvSpPr>
            <a:spLocks noGrp="1" noChangeArrowheads="1"/>
          </p:cNvSpPr>
          <p:nvPr>
            <p:ph type="title"/>
          </p:nvPr>
        </p:nvSpPr>
        <p:spPr>
          <a:xfrm>
            <a:off x="457200" y="762000"/>
            <a:ext cx="8229600" cy="1077913"/>
          </a:xfrm>
        </p:spPr>
        <p:txBody>
          <a:bodyPr/>
          <a:lstStyle/>
          <a:p>
            <a:pPr eaLnBrk="1" hangingPunct="1"/>
            <a:r>
              <a:rPr lang="en-US" altLang="en-US"/>
              <a:t>The Internet and Government Invasions of Privacy</a:t>
            </a:r>
          </a:p>
        </p:txBody>
      </p:sp>
      <p:sp>
        <p:nvSpPr>
          <p:cNvPr id="2" name="Content Placeholder 2">
            <a:extLst>
              <a:ext uri="{FF2B5EF4-FFF2-40B4-BE49-F238E27FC236}">
                <a16:creationId xmlns:a16="http://schemas.microsoft.com/office/drawing/2014/main" id="{EFAD8612-7F7C-0F43-A0CB-97705D7491AB}"/>
              </a:ext>
            </a:extLst>
          </p:cNvPr>
          <p:cNvSpPr>
            <a:spLocks noGrp="1"/>
          </p:cNvSpPr>
          <p:nvPr>
            <p:ph idx="1"/>
          </p:nvPr>
        </p:nvSpPr>
        <p:spPr>
          <a:xfrm>
            <a:off x="457200" y="1981200"/>
            <a:ext cx="8229600" cy="4572000"/>
          </a:xfrm>
        </p:spPr>
        <p:txBody>
          <a:bodyPr/>
          <a:lstStyle/>
          <a:p>
            <a:pPr eaLnBrk="1" hangingPunct="1">
              <a:spcBef>
                <a:spcPts val="0"/>
              </a:spcBef>
              <a:spcAft>
                <a:spcPts val="1800"/>
              </a:spcAft>
              <a:defRPr/>
            </a:pPr>
            <a:r>
              <a:rPr lang="en-US" sz="2800" dirty="0"/>
              <a:t>Various laws strengthen ability of law enforcement agencies to monitor Internet users without knowledge and sometimes without judicial oversight</a:t>
            </a:r>
          </a:p>
          <a:p>
            <a:pPr lvl="1" eaLnBrk="1" hangingPunct="1">
              <a:spcBef>
                <a:spcPts val="0"/>
              </a:spcBef>
              <a:spcAft>
                <a:spcPts val="1800"/>
              </a:spcAft>
              <a:defRPr/>
            </a:pPr>
            <a:r>
              <a:rPr lang="en-US" sz="2400" dirty="0"/>
              <a:t>PATRIOT Act, Cyber Security Enhancement Act, Homeland Security Act</a:t>
            </a:r>
          </a:p>
          <a:p>
            <a:pPr eaLnBrk="1" hangingPunct="1">
              <a:spcBef>
                <a:spcPts val="0"/>
              </a:spcBef>
              <a:spcAft>
                <a:spcPts val="1800"/>
              </a:spcAft>
              <a:defRPr/>
            </a:pPr>
            <a:r>
              <a:rPr lang="en-US" sz="2800" dirty="0"/>
              <a:t>Government agencies are largest users of private sector commercial data brokers</a:t>
            </a:r>
          </a:p>
          <a:p>
            <a:pPr eaLnBrk="1" hangingPunct="1">
              <a:spcBef>
                <a:spcPts val="0"/>
              </a:spcBef>
              <a:spcAft>
                <a:spcPts val="1800"/>
              </a:spcAft>
              <a:defRPr/>
            </a:pPr>
            <a:r>
              <a:rPr lang="en-US" sz="2800" dirty="0"/>
              <a:t>Retention by ISPs of user data a concern</a:t>
            </a:r>
          </a:p>
        </p:txBody>
      </p:sp>
      <p:sp>
        <p:nvSpPr>
          <p:cNvPr id="5" name="Slide Number Placeholder 4">
            <a:extLst>
              <a:ext uri="{FF2B5EF4-FFF2-40B4-BE49-F238E27FC236}">
                <a16:creationId xmlns:a16="http://schemas.microsoft.com/office/drawing/2014/main" id="{688CAE42-4CF4-404A-B232-A46BFAA355FB}"/>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3452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2">
            <a:extLst>
              <a:ext uri="{FF2B5EF4-FFF2-40B4-BE49-F238E27FC236}">
                <a16:creationId xmlns:a16="http://schemas.microsoft.com/office/drawing/2014/main" id="{D4B19EE8-30C5-9644-BB3D-A291B00F0809}"/>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 </a:t>
            </a:r>
          </a:p>
        </p:txBody>
      </p:sp>
      <p:sp>
        <p:nvSpPr>
          <p:cNvPr id="31746" name="Rectangle 2">
            <a:extLst>
              <a:ext uri="{FF2B5EF4-FFF2-40B4-BE49-F238E27FC236}">
                <a16:creationId xmlns:a16="http://schemas.microsoft.com/office/drawing/2014/main" id="{010D98B4-879A-454E-90F3-D795651F6441}"/>
              </a:ext>
            </a:extLst>
          </p:cNvPr>
          <p:cNvSpPr>
            <a:spLocks noGrp="1" noChangeArrowheads="1"/>
          </p:cNvSpPr>
          <p:nvPr>
            <p:ph type="title"/>
          </p:nvPr>
        </p:nvSpPr>
        <p:spPr>
          <a:xfrm>
            <a:off x="457200" y="762000"/>
            <a:ext cx="8229600" cy="1077913"/>
          </a:xfrm>
        </p:spPr>
        <p:txBody>
          <a:bodyPr anchor="t"/>
          <a:lstStyle/>
          <a:p>
            <a:pPr eaLnBrk="1" hangingPunct="1"/>
            <a:r>
              <a:rPr lang="en-US" altLang="en-US"/>
              <a:t>The European Data </a:t>
            </a:r>
            <a:br>
              <a:rPr lang="en-US" altLang="en-US"/>
            </a:br>
            <a:r>
              <a:rPr lang="en-US" altLang="en-US"/>
              <a:t>Protection Directive</a:t>
            </a:r>
          </a:p>
        </p:txBody>
      </p:sp>
      <p:sp>
        <p:nvSpPr>
          <p:cNvPr id="2" name="Rectangle 3">
            <a:extLst>
              <a:ext uri="{FF2B5EF4-FFF2-40B4-BE49-F238E27FC236}">
                <a16:creationId xmlns:a16="http://schemas.microsoft.com/office/drawing/2014/main" id="{4BC46097-6C9E-9C43-A3E6-5121661414CE}"/>
              </a:ext>
            </a:extLst>
          </p:cNvPr>
          <p:cNvSpPr>
            <a:spLocks noGrp="1" noChangeArrowheads="1"/>
          </p:cNvSpPr>
          <p:nvPr>
            <p:ph idx="1"/>
          </p:nvPr>
        </p:nvSpPr>
        <p:spPr>
          <a:xfrm>
            <a:off x="457200" y="1981200"/>
            <a:ext cx="8229600" cy="4267200"/>
          </a:xfrm>
        </p:spPr>
        <p:txBody>
          <a:bodyPr/>
          <a:lstStyle/>
          <a:p>
            <a:pPr eaLnBrk="1" hangingPunct="1">
              <a:spcBef>
                <a:spcPts val="0"/>
              </a:spcBef>
              <a:spcAft>
                <a:spcPts val="1200"/>
              </a:spcAft>
              <a:defRPr/>
            </a:pPr>
            <a:r>
              <a:rPr lang="en-US" sz="2800" dirty="0"/>
              <a:t>Privacy protection much stronger in Europe than U.S.</a:t>
            </a:r>
          </a:p>
          <a:p>
            <a:pPr eaLnBrk="1" hangingPunct="1">
              <a:spcBef>
                <a:spcPts val="0"/>
              </a:spcBef>
              <a:spcAft>
                <a:spcPts val="1200"/>
              </a:spcAft>
              <a:defRPr/>
            </a:pPr>
            <a:r>
              <a:rPr lang="en-US" sz="2800" dirty="0"/>
              <a:t>European approach: </a:t>
            </a:r>
          </a:p>
          <a:p>
            <a:pPr lvl="1" eaLnBrk="1" hangingPunct="1">
              <a:spcBef>
                <a:spcPts val="0"/>
              </a:spcBef>
              <a:spcAft>
                <a:spcPts val="1200"/>
              </a:spcAft>
              <a:defRPr/>
            </a:pPr>
            <a:r>
              <a:rPr lang="en-US" sz="2000" dirty="0"/>
              <a:t>Comprehensive and regulatory in nature</a:t>
            </a:r>
          </a:p>
          <a:p>
            <a:pPr eaLnBrk="1" hangingPunct="1">
              <a:spcBef>
                <a:spcPts val="0"/>
              </a:spcBef>
              <a:spcAft>
                <a:spcPts val="1200"/>
              </a:spcAft>
              <a:defRPr/>
            </a:pPr>
            <a:r>
              <a:rPr lang="en-US" sz="2800" dirty="0"/>
              <a:t>European Commission’s Directive on Data Protection (1998): </a:t>
            </a:r>
          </a:p>
          <a:p>
            <a:pPr lvl="1" eaLnBrk="1" hangingPunct="1">
              <a:spcBef>
                <a:spcPts val="0"/>
              </a:spcBef>
              <a:spcAft>
                <a:spcPts val="1200"/>
              </a:spcAft>
              <a:defRPr/>
            </a:pPr>
            <a:r>
              <a:rPr lang="en-US" sz="2000" dirty="0"/>
              <a:t>Standardizes and broadens privacy protection in European Union countries</a:t>
            </a:r>
          </a:p>
          <a:p>
            <a:pPr>
              <a:defRPr/>
            </a:pPr>
            <a:r>
              <a:rPr lang="en-US" altLang="ja-JP" sz="2400" dirty="0"/>
              <a:t>2018 E.U. General Data Protection Regulation (GDPR) </a:t>
            </a:r>
          </a:p>
          <a:p>
            <a:pPr lvl="1">
              <a:defRPr/>
            </a:pPr>
            <a:r>
              <a:rPr lang="en-US" altLang="en-US" sz="1800" dirty="0"/>
              <a:t>Privacy Shield</a:t>
            </a:r>
          </a:p>
          <a:p>
            <a:pPr>
              <a:defRPr/>
            </a:pPr>
            <a:r>
              <a:rPr lang="en-US" altLang="en-US" sz="2200" dirty="0"/>
              <a:t>See article on fines in </a:t>
            </a:r>
            <a:r>
              <a:rPr lang="en-US" altLang="en-US" sz="2200" dirty="0" err="1"/>
              <a:t>Brightspace</a:t>
            </a:r>
            <a:endParaRPr lang="en-US" altLang="en-US" sz="2200" dirty="0"/>
          </a:p>
          <a:p>
            <a:pPr eaLnBrk="1" hangingPunct="1">
              <a:spcBef>
                <a:spcPts val="0"/>
              </a:spcBef>
              <a:spcAft>
                <a:spcPts val="1200"/>
              </a:spcAft>
              <a:defRPr/>
            </a:pPr>
            <a:endParaRPr lang="en-US" sz="2400" dirty="0"/>
          </a:p>
        </p:txBody>
      </p:sp>
      <p:sp>
        <p:nvSpPr>
          <p:cNvPr id="5" name="Slide Number Placeholder 4">
            <a:extLst>
              <a:ext uri="{FF2B5EF4-FFF2-40B4-BE49-F238E27FC236}">
                <a16:creationId xmlns:a16="http://schemas.microsoft.com/office/drawing/2014/main" id="{73C51995-5C8A-7446-83CE-08070BF79AEE}"/>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50072"/>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FD29F6C2-3F7B-9E41-94CE-D0C9755B0440}"/>
              </a:ext>
            </a:extLst>
          </p:cNvPr>
          <p:cNvSpPr>
            <a:spLocks noGrp="1" noChangeArrowheads="1"/>
          </p:cNvSpPr>
          <p:nvPr>
            <p:ph type="title"/>
          </p:nvPr>
        </p:nvSpPr>
        <p:spPr/>
        <p:txBody>
          <a:bodyPr/>
          <a:lstStyle/>
          <a:p>
            <a:r>
              <a:rPr lang="en-IE" altLang="en-US"/>
              <a:t>Privacy Issues</a:t>
            </a:r>
          </a:p>
        </p:txBody>
      </p:sp>
      <p:sp>
        <p:nvSpPr>
          <p:cNvPr id="3" name="Content Placeholder 2">
            <a:extLst>
              <a:ext uri="{FF2B5EF4-FFF2-40B4-BE49-F238E27FC236}">
                <a16:creationId xmlns:a16="http://schemas.microsoft.com/office/drawing/2014/main" id="{66AAEF5A-90DC-604A-A75A-80DEA22F1EEE}"/>
              </a:ext>
            </a:extLst>
          </p:cNvPr>
          <p:cNvSpPr>
            <a:spLocks noGrp="1"/>
          </p:cNvSpPr>
          <p:nvPr>
            <p:ph idx="1"/>
          </p:nvPr>
        </p:nvSpPr>
        <p:spPr/>
        <p:txBody>
          <a:bodyPr/>
          <a:lstStyle/>
          <a:p>
            <a:pPr marL="0" indent="0">
              <a:buFont typeface="Wingdings" pitchFamily="2" charset="2"/>
              <a:buNone/>
              <a:defRPr/>
            </a:pPr>
            <a:endParaRPr lang="en-IE" dirty="0"/>
          </a:p>
          <a:p>
            <a:pPr>
              <a:defRPr/>
            </a:pPr>
            <a:r>
              <a:rPr lang="en-US" dirty="0"/>
              <a:t>https://www.youtube.com/watch?v=F7pYHN9iC9I</a:t>
            </a:r>
          </a:p>
          <a:p>
            <a:pPr>
              <a:defRPr/>
            </a:pPr>
            <a:endParaRPr lang="en-IE" dirty="0"/>
          </a:p>
        </p:txBody>
      </p:sp>
    </p:spTree>
  </p:cSld>
  <p:clrMapOvr>
    <a:masterClrMapping/>
  </p:clrMapOvr>
  <p:transition spd="slow" advTm="13973"/>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Date Placeholder 3">
            <a:extLst>
              <a:ext uri="{FF2B5EF4-FFF2-40B4-BE49-F238E27FC236}">
                <a16:creationId xmlns:a16="http://schemas.microsoft.com/office/drawing/2014/main" id="{6362AA05-FABD-2F41-9B39-7B27F93B3D4F}"/>
              </a:ext>
            </a:extLst>
          </p:cNvPr>
          <p:cNvSpPr>
            <a:spLocks noGrp="1"/>
          </p:cNvSpPr>
          <p:nvPr>
            <p:ph type="dt" sz="quarter" idx="4294967295"/>
          </p:nvPr>
        </p:nvSpPr>
        <p:spPr bwMode="auto">
          <a:xfrm>
            <a:off x="457200" y="6400800"/>
            <a:ext cx="3810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eaLnBrk="1" hangingPunct="1">
              <a:spcBef>
                <a:spcPct val="0"/>
              </a:spcBef>
              <a:buClrTx/>
              <a:buSzTx/>
              <a:buFontTx/>
              <a:buNone/>
            </a:pPr>
            <a:fld id="{1A7CE3DA-DF79-A041-86F5-1A1B2F6D6D55}" type="datetime2">
              <a:rPr lang="en-US" altLang="en-US" sz="1200">
                <a:solidFill>
                  <a:srgbClr val="606060"/>
                </a:solidFill>
                <a:latin typeface="Georgia" panose="02040502050405020303" pitchFamily="18" charset="0"/>
              </a:rPr>
              <a:pPr eaLnBrk="1" hangingPunct="1">
                <a:spcBef>
                  <a:spcPct val="0"/>
                </a:spcBef>
                <a:buClrTx/>
                <a:buSzTx/>
                <a:buFontTx/>
                <a:buNone/>
              </a:pPr>
              <a:t>Tuesday, March 24, 2026</a:t>
            </a:fld>
            <a:endParaRPr lang="en-US" altLang="en-US" sz="1200">
              <a:solidFill>
                <a:srgbClr val="606060"/>
              </a:solidFill>
              <a:latin typeface="Georgia" panose="02040502050405020303" pitchFamily="18" charset="0"/>
            </a:endParaRPr>
          </a:p>
        </p:txBody>
      </p:sp>
      <p:sp>
        <p:nvSpPr>
          <p:cNvPr id="40962" name="Slide Number Placeholder 5">
            <a:extLst>
              <a:ext uri="{FF2B5EF4-FFF2-40B4-BE49-F238E27FC236}">
                <a16:creationId xmlns:a16="http://schemas.microsoft.com/office/drawing/2014/main" id="{499F2060-0918-1947-8028-578E87040AF9}"/>
              </a:ext>
            </a:extLst>
          </p:cNvPr>
          <p:cNvSpPr>
            <a:spLocks noGrp="1"/>
          </p:cNvSpPr>
          <p:nvPr>
            <p:ph type="sldNum" sz="quarter" idx="11"/>
          </p:nvPr>
        </p:nvSpPr>
        <p:spPr>
          <a:xfrm>
            <a:off x="6553200" y="6356350"/>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fld id="{E6981C8F-D000-9643-A7D2-4D03DAB47231}" type="slidenum">
              <a:rPr lang="en-US" altLang="en-US" sz="1200" smtClean="0">
                <a:solidFill>
                  <a:srgbClr val="606060"/>
                </a:solidFill>
                <a:latin typeface="Georgia" panose="02040502050405020303" pitchFamily="18" charset="0"/>
              </a:rPr>
              <a:pPr>
                <a:spcBef>
                  <a:spcPct val="0"/>
                </a:spcBef>
                <a:buClrTx/>
                <a:buSzTx/>
                <a:buFontTx/>
                <a:buNone/>
              </a:pPr>
              <a:t>25</a:t>
            </a:fld>
            <a:endParaRPr lang="en-US" altLang="en-US" sz="1200">
              <a:solidFill>
                <a:srgbClr val="606060"/>
              </a:solidFill>
              <a:latin typeface="Georgia" panose="02040502050405020303" pitchFamily="18" charset="0"/>
            </a:endParaRPr>
          </a:p>
        </p:txBody>
      </p:sp>
      <p:sp>
        <p:nvSpPr>
          <p:cNvPr id="40963" name="Rectangle 2">
            <a:extLst>
              <a:ext uri="{FF2B5EF4-FFF2-40B4-BE49-F238E27FC236}">
                <a16:creationId xmlns:a16="http://schemas.microsoft.com/office/drawing/2014/main" id="{BA60CF7D-CE6E-ED49-8B36-DD842379E288}"/>
              </a:ext>
            </a:extLst>
          </p:cNvPr>
          <p:cNvSpPr>
            <a:spLocks noGrp="1" noChangeArrowheads="1"/>
          </p:cNvSpPr>
          <p:nvPr>
            <p:ph type="title"/>
          </p:nvPr>
        </p:nvSpPr>
        <p:spPr>
          <a:xfrm>
            <a:off x="1116013" y="260350"/>
            <a:ext cx="5400675" cy="1296988"/>
          </a:xfrm>
        </p:spPr>
        <p:txBody>
          <a:bodyPr/>
          <a:lstStyle/>
          <a:p>
            <a:pPr eaLnBrk="1" hangingPunct="1"/>
            <a:r>
              <a:rPr lang="en-US" altLang="en-US"/>
              <a:t>Big brother is watching you</a:t>
            </a:r>
          </a:p>
        </p:txBody>
      </p:sp>
      <p:sp>
        <p:nvSpPr>
          <p:cNvPr id="34822" name="Rectangle 3">
            <a:extLst>
              <a:ext uri="{FF2B5EF4-FFF2-40B4-BE49-F238E27FC236}">
                <a16:creationId xmlns:a16="http://schemas.microsoft.com/office/drawing/2014/main" id="{54F84D97-89C1-CB41-8243-189D3614C755}"/>
              </a:ext>
            </a:extLst>
          </p:cNvPr>
          <p:cNvSpPr>
            <a:spLocks noGrp="1" noChangeArrowheads="1"/>
          </p:cNvSpPr>
          <p:nvPr>
            <p:ph type="body" idx="1"/>
          </p:nvPr>
        </p:nvSpPr>
        <p:spPr/>
        <p:txBody>
          <a:bodyPr/>
          <a:lstStyle/>
          <a:p>
            <a:pPr eaLnBrk="1" hangingPunct="1">
              <a:defRPr/>
            </a:pPr>
            <a:r>
              <a:rPr lang="en-US" sz="2800" dirty="0"/>
              <a:t>Monitoring of Employee Internet and Email Usage</a:t>
            </a:r>
          </a:p>
          <a:p>
            <a:pPr lvl="1" eaLnBrk="1" hangingPunct="1">
              <a:defRPr/>
            </a:pPr>
            <a:r>
              <a:rPr lang="en-US" sz="2400" dirty="0"/>
              <a:t>Workplace Policies</a:t>
            </a:r>
          </a:p>
          <a:p>
            <a:pPr lvl="2" eaLnBrk="1" hangingPunct="1">
              <a:defRPr/>
            </a:pPr>
            <a:r>
              <a:rPr lang="en-US" sz="2000" dirty="0"/>
              <a:t>Software downloads</a:t>
            </a:r>
          </a:p>
          <a:p>
            <a:pPr lvl="2" eaLnBrk="1" hangingPunct="1">
              <a:defRPr/>
            </a:pPr>
            <a:r>
              <a:rPr lang="en-US" sz="2000" dirty="0"/>
              <a:t>Screensavers</a:t>
            </a:r>
          </a:p>
          <a:p>
            <a:pPr lvl="2" eaLnBrk="1" hangingPunct="1">
              <a:defRPr/>
            </a:pPr>
            <a:r>
              <a:rPr lang="en-US" sz="2000" dirty="0"/>
              <a:t>Email content, attachments etc.</a:t>
            </a:r>
          </a:p>
          <a:p>
            <a:pPr eaLnBrk="1" hangingPunct="1">
              <a:defRPr/>
            </a:pPr>
            <a:endParaRPr lang="en-US" sz="2800" dirty="0">
              <a:cs typeface="Times New Roman" pitchFamily="18" charset="0"/>
            </a:endParaRPr>
          </a:p>
        </p:txBody>
      </p:sp>
    </p:spTree>
  </p:cSld>
  <p:clrMapOvr>
    <a:masterClrMapping/>
  </p:clrMapOvr>
  <p:transition spd="slow" advTm="4705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58434167-D2AC-8046-9D99-D5613C8AA580}"/>
              </a:ext>
            </a:extLst>
          </p:cNvPr>
          <p:cNvSpPr>
            <a:spLocks noGrp="1" noChangeArrowheads="1"/>
          </p:cNvSpPr>
          <p:nvPr>
            <p:ph type="title"/>
          </p:nvPr>
        </p:nvSpPr>
        <p:spPr/>
        <p:txBody>
          <a:bodyPr/>
          <a:lstStyle/>
          <a:p>
            <a:r>
              <a:rPr lang="en-IE" altLang="en-US"/>
              <a:t>Carr: The Big Switch</a:t>
            </a:r>
          </a:p>
        </p:txBody>
      </p:sp>
      <p:sp>
        <p:nvSpPr>
          <p:cNvPr id="3" name="Content Placeholder 2">
            <a:extLst>
              <a:ext uri="{FF2B5EF4-FFF2-40B4-BE49-F238E27FC236}">
                <a16:creationId xmlns:a16="http://schemas.microsoft.com/office/drawing/2014/main" id="{CDCB9124-1AFC-AE45-9635-0683F26882A3}"/>
              </a:ext>
            </a:extLst>
          </p:cNvPr>
          <p:cNvSpPr>
            <a:spLocks noGrp="1"/>
          </p:cNvSpPr>
          <p:nvPr>
            <p:ph idx="1"/>
          </p:nvPr>
        </p:nvSpPr>
        <p:spPr>
          <a:xfrm>
            <a:off x="457200" y="1600200"/>
            <a:ext cx="5699125" cy="4525963"/>
          </a:xfrm>
        </p:spPr>
        <p:txBody>
          <a:bodyPr>
            <a:normAutofit/>
          </a:bodyPr>
          <a:lstStyle/>
          <a:p>
            <a:pPr>
              <a:defRPr/>
            </a:pPr>
            <a:r>
              <a:rPr lang="en-IE" sz="2000" dirty="0"/>
              <a:t>“We assume that the Net’s decentralized structure is necessarily resistant to social and political control.</a:t>
            </a:r>
          </a:p>
          <a:p>
            <a:pPr>
              <a:defRPr/>
            </a:pPr>
            <a:r>
              <a:rPr lang="en-IE" sz="2000" dirty="0"/>
              <a:t> But, the connection of previously unconnected computers into a network governed by strict protocols has actually created “a new apparatus of control.</a:t>
            </a:r>
          </a:p>
          <a:p>
            <a:pPr>
              <a:defRPr/>
            </a:pPr>
            <a:endParaRPr lang="en-IE" dirty="0"/>
          </a:p>
        </p:txBody>
      </p:sp>
      <p:sp>
        <p:nvSpPr>
          <p:cNvPr id="43011" name="Date Placeholder 3">
            <a:extLst>
              <a:ext uri="{FF2B5EF4-FFF2-40B4-BE49-F238E27FC236}">
                <a16:creationId xmlns:a16="http://schemas.microsoft.com/office/drawing/2014/main" id="{A291FADD-523A-F149-BAFA-CB8EB96E4DD5}"/>
              </a:ext>
            </a:extLst>
          </p:cNvPr>
          <p:cNvSpPr>
            <a:spLocks noGrp="1"/>
          </p:cNvSpPr>
          <p:nvPr>
            <p:ph type="dt" sz="quarter" idx="4294967295"/>
          </p:nvPr>
        </p:nvSpPr>
        <p:spPr bwMode="auto">
          <a:xfrm>
            <a:off x="457200" y="6400800"/>
            <a:ext cx="3810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eaLnBrk="1" hangingPunct="1">
              <a:spcBef>
                <a:spcPct val="0"/>
              </a:spcBef>
              <a:buClrTx/>
              <a:buSzTx/>
              <a:buFontTx/>
              <a:buNone/>
            </a:pPr>
            <a:fld id="{B818DDE1-FCF6-1443-8040-8E5B422B7255}" type="datetime2">
              <a:rPr lang="en-US" altLang="en-US" sz="1200">
                <a:solidFill>
                  <a:srgbClr val="606060"/>
                </a:solidFill>
                <a:latin typeface="Georgia" panose="02040502050405020303" pitchFamily="18" charset="0"/>
              </a:rPr>
              <a:pPr eaLnBrk="1" hangingPunct="1">
                <a:spcBef>
                  <a:spcPct val="0"/>
                </a:spcBef>
                <a:buClrTx/>
                <a:buSzTx/>
                <a:buFontTx/>
                <a:buNone/>
              </a:pPr>
              <a:t>Tuesday, March 24, 2026</a:t>
            </a:fld>
            <a:endParaRPr lang="en-US" altLang="en-US" sz="1200">
              <a:solidFill>
                <a:srgbClr val="606060"/>
              </a:solidFill>
              <a:latin typeface="Georgia" panose="02040502050405020303" pitchFamily="18" charset="0"/>
            </a:endParaRPr>
          </a:p>
        </p:txBody>
      </p:sp>
      <p:sp>
        <p:nvSpPr>
          <p:cNvPr id="43012" name="Slide Number Placeholder 5">
            <a:extLst>
              <a:ext uri="{FF2B5EF4-FFF2-40B4-BE49-F238E27FC236}">
                <a16:creationId xmlns:a16="http://schemas.microsoft.com/office/drawing/2014/main" id="{3807E8C0-F333-6C46-A403-C9F5CAD86FC1}"/>
              </a:ext>
            </a:extLst>
          </p:cNvPr>
          <p:cNvSpPr>
            <a:spLocks noGrp="1"/>
          </p:cNvSpPr>
          <p:nvPr>
            <p:ph type="sldNum" sz="quarter" idx="11"/>
          </p:nvPr>
        </p:nvSpPr>
        <p:spPr>
          <a:xfrm>
            <a:off x="6553200" y="6356350"/>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fld id="{3B9A6E96-9FF3-0843-90A1-66A973E31A39}" type="slidenum">
              <a:rPr lang="en-US" altLang="en-US" sz="1200" smtClean="0">
                <a:solidFill>
                  <a:srgbClr val="606060"/>
                </a:solidFill>
                <a:latin typeface="Georgia" panose="02040502050405020303" pitchFamily="18" charset="0"/>
              </a:rPr>
              <a:pPr>
                <a:spcBef>
                  <a:spcPct val="0"/>
                </a:spcBef>
                <a:buClrTx/>
                <a:buSzTx/>
                <a:buFontTx/>
                <a:buNone/>
              </a:pPr>
              <a:t>26</a:t>
            </a:fld>
            <a:endParaRPr lang="en-US" altLang="en-US" sz="1200">
              <a:solidFill>
                <a:srgbClr val="606060"/>
              </a:solidFill>
              <a:latin typeface="Georgia" panose="02040502050405020303" pitchFamily="18" charset="0"/>
            </a:endParaRPr>
          </a:p>
        </p:txBody>
      </p:sp>
      <p:pic>
        <p:nvPicPr>
          <p:cNvPr id="43013" name="Picture 6">
            <a:extLst>
              <a:ext uri="{FF2B5EF4-FFF2-40B4-BE49-F238E27FC236}">
                <a16:creationId xmlns:a16="http://schemas.microsoft.com/office/drawing/2014/main" id="{DABCFE33-B4CE-8A45-B253-4557F2B788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61138" y="2205038"/>
            <a:ext cx="173355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27972"/>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3B725DC6-DB54-5945-93DA-CAD9760A298C}"/>
              </a:ext>
            </a:extLst>
          </p:cNvPr>
          <p:cNvSpPr>
            <a:spLocks noGrp="1" noChangeArrowheads="1"/>
          </p:cNvSpPr>
          <p:nvPr>
            <p:ph type="title"/>
          </p:nvPr>
        </p:nvSpPr>
        <p:spPr/>
        <p:txBody>
          <a:bodyPr/>
          <a:lstStyle/>
          <a:p>
            <a:r>
              <a:rPr lang="en-IE" altLang="en-US"/>
              <a:t>Carr: The Big Switch</a:t>
            </a:r>
          </a:p>
        </p:txBody>
      </p:sp>
      <p:sp>
        <p:nvSpPr>
          <p:cNvPr id="3" name="Content Placeholder 2">
            <a:extLst>
              <a:ext uri="{FF2B5EF4-FFF2-40B4-BE49-F238E27FC236}">
                <a16:creationId xmlns:a16="http://schemas.microsoft.com/office/drawing/2014/main" id="{D4D5297B-48CD-684D-B454-697AA88CB777}"/>
              </a:ext>
            </a:extLst>
          </p:cNvPr>
          <p:cNvSpPr>
            <a:spLocks noGrp="1"/>
          </p:cNvSpPr>
          <p:nvPr>
            <p:ph idx="1"/>
          </p:nvPr>
        </p:nvSpPr>
        <p:spPr>
          <a:xfrm>
            <a:off x="457200" y="1600200"/>
            <a:ext cx="5699125" cy="4525963"/>
          </a:xfrm>
        </p:spPr>
        <p:txBody>
          <a:bodyPr>
            <a:normAutofit fontScale="92500" lnSpcReduction="10000"/>
          </a:bodyPr>
          <a:lstStyle/>
          <a:p>
            <a:pPr>
              <a:defRPr/>
            </a:pPr>
            <a:r>
              <a:rPr lang="en-IE" sz="2000" dirty="0">
                <a:solidFill>
                  <a:schemeClr val="bg1">
                    <a:lumMod val="75000"/>
                  </a:schemeClr>
                </a:solidFill>
              </a:rPr>
              <a:t>“We assume that the Net’s decentralized structure is necessarily resistant to social and political control.</a:t>
            </a:r>
          </a:p>
          <a:p>
            <a:pPr>
              <a:defRPr/>
            </a:pPr>
            <a:r>
              <a:rPr lang="en-IE" sz="2000" dirty="0">
                <a:solidFill>
                  <a:schemeClr val="bg1">
                    <a:lumMod val="75000"/>
                  </a:schemeClr>
                </a:solidFill>
              </a:rPr>
              <a:t> But, the connection of previously unconnected computers into a network governed by strict protocols has actually created “a new apparatus of control.</a:t>
            </a:r>
          </a:p>
          <a:p>
            <a:pPr>
              <a:defRPr/>
            </a:pPr>
            <a:r>
              <a:rPr lang="en-IE" sz="2000" dirty="0"/>
              <a:t>  As the disparate pages of the Web turn into the unified and programmable database of the World Wide Computer, a powerful new kind of control becomes possible.</a:t>
            </a:r>
          </a:p>
          <a:p>
            <a:pPr>
              <a:defRPr/>
            </a:pPr>
            <a:r>
              <a:rPr lang="en-IE" sz="2000" dirty="0"/>
              <a:t>Even though the Internet still has no centre, technically speaking, control can now be wielded, through software code, from anywhere…acts of control become harder to detect and those wielding control more difficult to discern.”</a:t>
            </a:r>
          </a:p>
          <a:p>
            <a:pPr>
              <a:defRPr/>
            </a:pPr>
            <a:endParaRPr lang="en-IE" dirty="0"/>
          </a:p>
        </p:txBody>
      </p:sp>
      <p:sp>
        <p:nvSpPr>
          <p:cNvPr id="44035" name="Date Placeholder 3">
            <a:extLst>
              <a:ext uri="{FF2B5EF4-FFF2-40B4-BE49-F238E27FC236}">
                <a16:creationId xmlns:a16="http://schemas.microsoft.com/office/drawing/2014/main" id="{D9FB1D65-0C52-C045-A351-AF92E607D9B7}"/>
              </a:ext>
            </a:extLst>
          </p:cNvPr>
          <p:cNvSpPr>
            <a:spLocks noGrp="1"/>
          </p:cNvSpPr>
          <p:nvPr>
            <p:ph type="dt" sz="quarter" idx="4294967295"/>
          </p:nvPr>
        </p:nvSpPr>
        <p:spPr bwMode="auto">
          <a:xfrm>
            <a:off x="457200" y="6400800"/>
            <a:ext cx="3810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eaLnBrk="1" hangingPunct="1">
              <a:spcBef>
                <a:spcPct val="0"/>
              </a:spcBef>
              <a:buClrTx/>
              <a:buSzTx/>
              <a:buFontTx/>
              <a:buNone/>
            </a:pPr>
            <a:fld id="{E3030C2F-23E2-614C-BAB8-2BF6C5E129FA}" type="datetime2">
              <a:rPr lang="en-US" altLang="en-US" sz="1200">
                <a:solidFill>
                  <a:srgbClr val="606060"/>
                </a:solidFill>
                <a:latin typeface="Georgia" panose="02040502050405020303" pitchFamily="18" charset="0"/>
              </a:rPr>
              <a:pPr eaLnBrk="1" hangingPunct="1">
                <a:spcBef>
                  <a:spcPct val="0"/>
                </a:spcBef>
                <a:buClrTx/>
                <a:buSzTx/>
                <a:buFontTx/>
                <a:buNone/>
              </a:pPr>
              <a:t>Tuesday, March 24, 2026</a:t>
            </a:fld>
            <a:endParaRPr lang="en-US" altLang="en-US" sz="1200">
              <a:solidFill>
                <a:srgbClr val="606060"/>
              </a:solidFill>
              <a:latin typeface="Georgia" panose="02040502050405020303" pitchFamily="18" charset="0"/>
            </a:endParaRPr>
          </a:p>
        </p:txBody>
      </p:sp>
      <p:sp>
        <p:nvSpPr>
          <p:cNvPr id="44036" name="Slide Number Placeholder 5">
            <a:extLst>
              <a:ext uri="{FF2B5EF4-FFF2-40B4-BE49-F238E27FC236}">
                <a16:creationId xmlns:a16="http://schemas.microsoft.com/office/drawing/2014/main" id="{23AA2C6D-0EAA-B14C-825D-EB75E49C4A01}"/>
              </a:ext>
            </a:extLst>
          </p:cNvPr>
          <p:cNvSpPr>
            <a:spLocks noGrp="1"/>
          </p:cNvSpPr>
          <p:nvPr>
            <p:ph type="sldNum" sz="quarter" idx="11"/>
          </p:nvPr>
        </p:nvSpPr>
        <p:spPr>
          <a:xfrm>
            <a:off x="6553200" y="6356350"/>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fld id="{B18BBD83-ECBA-2A41-A7CF-C7B5B3E7D66A}" type="slidenum">
              <a:rPr lang="en-US" altLang="en-US" sz="1200" smtClean="0">
                <a:solidFill>
                  <a:srgbClr val="606060"/>
                </a:solidFill>
                <a:latin typeface="Georgia" panose="02040502050405020303" pitchFamily="18" charset="0"/>
              </a:rPr>
              <a:pPr>
                <a:spcBef>
                  <a:spcPct val="0"/>
                </a:spcBef>
                <a:buClrTx/>
                <a:buSzTx/>
                <a:buFontTx/>
                <a:buNone/>
              </a:pPr>
              <a:t>27</a:t>
            </a:fld>
            <a:endParaRPr lang="en-US" altLang="en-US" sz="1200">
              <a:solidFill>
                <a:srgbClr val="606060"/>
              </a:solidFill>
              <a:latin typeface="Georgia" panose="02040502050405020303" pitchFamily="18" charset="0"/>
            </a:endParaRPr>
          </a:p>
        </p:txBody>
      </p:sp>
      <p:pic>
        <p:nvPicPr>
          <p:cNvPr id="44037" name="Picture 6">
            <a:extLst>
              <a:ext uri="{FF2B5EF4-FFF2-40B4-BE49-F238E27FC236}">
                <a16:creationId xmlns:a16="http://schemas.microsoft.com/office/drawing/2014/main" id="{2A332650-2987-154B-A5CB-B74FF8B78A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61138" y="2205038"/>
            <a:ext cx="173355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29432"/>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6989733F-D577-8642-9731-6F840FDB3CCF}"/>
              </a:ext>
            </a:extLst>
          </p:cNvPr>
          <p:cNvSpPr>
            <a:spLocks noGrp="1" noChangeArrowheads="1"/>
          </p:cNvSpPr>
          <p:nvPr>
            <p:ph type="title"/>
          </p:nvPr>
        </p:nvSpPr>
        <p:spPr/>
        <p:txBody>
          <a:bodyPr/>
          <a:lstStyle/>
          <a:p>
            <a:pPr eaLnBrk="1" hangingPunct="1"/>
            <a:r>
              <a:rPr lang="en-US" altLang="en-US"/>
              <a:t> </a:t>
            </a:r>
          </a:p>
        </p:txBody>
      </p:sp>
      <p:sp>
        <p:nvSpPr>
          <p:cNvPr id="3075" name="Rectangle 3">
            <a:extLst>
              <a:ext uri="{FF2B5EF4-FFF2-40B4-BE49-F238E27FC236}">
                <a16:creationId xmlns:a16="http://schemas.microsoft.com/office/drawing/2014/main" id="{49F4EB20-0749-3A4A-A432-F1F1E0DFAA9F}"/>
              </a:ext>
            </a:extLst>
          </p:cNvPr>
          <p:cNvSpPr>
            <a:spLocks noGrp="1" noChangeArrowheads="1"/>
          </p:cNvSpPr>
          <p:nvPr>
            <p:ph type="body" idx="1"/>
          </p:nvPr>
        </p:nvSpPr>
        <p:spPr/>
        <p:txBody>
          <a:bodyPr/>
          <a:lstStyle/>
          <a:p>
            <a:pPr eaLnBrk="1" hangingPunct="1">
              <a:defRPr/>
            </a:pPr>
            <a:r>
              <a:rPr lang="en-IE"/>
              <a:t>Technology is amoral &amp; inventions are routinely deployed in ways their creators neither intended nor sanction</a:t>
            </a:r>
            <a:endParaRPr lang="en-GB"/>
          </a:p>
        </p:txBody>
      </p:sp>
      <p:pic>
        <p:nvPicPr>
          <p:cNvPr id="45059" name="Picture 1">
            <a:extLst>
              <a:ext uri="{FF2B5EF4-FFF2-40B4-BE49-F238E27FC236}">
                <a16:creationId xmlns:a16="http://schemas.microsoft.com/office/drawing/2014/main" id="{B45CE6F2-5A1C-9E45-AE29-6F5BF8F32E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3933825"/>
            <a:ext cx="2543175"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1442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4">
            <a:extLst>
              <a:ext uri="{FF2B5EF4-FFF2-40B4-BE49-F238E27FC236}">
                <a16:creationId xmlns:a16="http://schemas.microsoft.com/office/drawing/2014/main" id="{2CA506FE-9770-7F42-A213-AFFBBEF4171E}"/>
              </a:ext>
            </a:extLst>
          </p:cNvPr>
          <p:cNvSpPr>
            <a:spLocks noGrp="1" noChangeArrowheads="1"/>
          </p:cNvSpPr>
          <p:nvPr>
            <p:ph/>
          </p:nvPr>
        </p:nvSpPr>
        <p:spPr/>
        <p:txBody>
          <a:bodyPr/>
          <a:lstStyle/>
          <a:p>
            <a:pPr marL="0" indent="0" eaLnBrk="1" hangingPunct="1">
              <a:buFont typeface="Wingdings" pitchFamily="2" charset="2"/>
              <a:buNone/>
            </a:pPr>
            <a:r>
              <a:rPr lang="en-US" altLang="en-US"/>
              <a:t> </a:t>
            </a:r>
          </a:p>
        </p:txBody>
      </p:sp>
      <p:sp>
        <p:nvSpPr>
          <p:cNvPr id="4099" name="Rectangle 3">
            <a:extLst>
              <a:ext uri="{FF2B5EF4-FFF2-40B4-BE49-F238E27FC236}">
                <a16:creationId xmlns:a16="http://schemas.microsoft.com/office/drawing/2014/main" id="{67BB8FF9-0E81-684B-AD7C-19839063CF34}"/>
              </a:ext>
            </a:extLst>
          </p:cNvPr>
          <p:cNvSpPr>
            <a:spLocks noGrp="1" noChangeArrowheads="1"/>
          </p:cNvSpPr>
          <p:nvPr>
            <p:ph type="body" idx="4294967295"/>
          </p:nvPr>
        </p:nvSpPr>
        <p:spPr>
          <a:xfrm>
            <a:off x="0" y="1600200"/>
            <a:ext cx="6804025" cy="4525963"/>
          </a:xfrm>
        </p:spPr>
        <p:txBody>
          <a:bodyPr>
            <a:normAutofit fontScale="92500" lnSpcReduction="10000"/>
          </a:bodyPr>
          <a:lstStyle/>
          <a:p>
            <a:pPr eaLnBrk="1" hangingPunct="1">
              <a:defRPr/>
            </a:pPr>
            <a:r>
              <a:rPr lang="en-IE" dirty="0"/>
              <a:t>For terrorists, the Internet provides easy access to maps photographs, descriptions of weaponry &amp; other valuable tactical information</a:t>
            </a:r>
          </a:p>
          <a:p>
            <a:pPr eaLnBrk="1" hangingPunct="1">
              <a:defRPr/>
            </a:pPr>
            <a:r>
              <a:rPr lang="en-IE" dirty="0"/>
              <a:t>It is an all-purpose communications  network, surveillance medium, propaganda channel &amp; recruiting tool, freely available from anywhere in the world</a:t>
            </a:r>
            <a:endParaRPr lang="en-GB" dirty="0"/>
          </a:p>
        </p:txBody>
      </p:sp>
      <p:pic>
        <p:nvPicPr>
          <p:cNvPr id="46083" name="Picture 1">
            <a:extLst>
              <a:ext uri="{FF2B5EF4-FFF2-40B4-BE49-F238E27FC236}">
                <a16:creationId xmlns:a16="http://schemas.microsoft.com/office/drawing/2014/main" id="{2EDC4533-8943-E145-8314-AAB2C73FDD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19925" y="908050"/>
            <a:ext cx="19145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17932"/>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4E8A402F-8952-154C-AD55-837C237B4614}"/>
              </a:ext>
            </a:extLst>
          </p:cNvPr>
          <p:cNvSpPr>
            <a:spLocks noGrp="1" noChangeArrowheads="1"/>
          </p:cNvSpPr>
          <p:nvPr>
            <p:ph type="title"/>
          </p:nvPr>
        </p:nvSpPr>
        <p:spPr/>
        <p:txBody>
          <a:bodyPr/>
          <a:lstStyle/>
          <a:p>
            <a:pPr eaLnBrk="1" hangingPunct="1"/>
            <a:r>
              <a:rPr lang="en-US" altLang="en-US"/>
              <a:t> </a:t>
            </a:r>
          </a:p>
        </p:txBody>
      </p:sp>
      <p:sp>
        <p:nvSpPr>
          <p:cNvPr id="5123" name="Rectangle 3">
            <a:extLst>
              <a:ext uri="{FF2B5EF4-FFF2-40B4-BE49-F238E27FC236}">
                <a16:creationId xmlns:a16="http://schemas.microsoft.com/office/drawing/2014/main" id="{75123E21-738D-FC40-84EF-FF32AFA69B23}"/>
              </a:ext>
            </a:extLst>
          </p:cNvPr>
          <p:cNvSpPr>
            <a:spLocks noGrp="1" noChangeArrowheads="1"/>
          </p:cNvSpPr>
          <p:nvPr>
            <p:ph type="body" idx="1"/>
          </p:nvPr>
        </p:nvSpPr>
        <p:spPr>
          <a:xfrm>
            <a:off x="107504" y="1628800"/>
            <a:ext cx="8229600" cy="4267200"/>
          </a:xfrm>
        </p:spPr>
        <p:txBody>
          <a:bodyPr/>
          <a:lstStyle/>
          <a:p>
            <a:pPr eaLnBrk="1" hangingPunct="1">
              <a:lnSpc>
                <a:spcPct val="90000"/>
              </a:lnSpc>
              <a:defRPr/>
            </a:pPr>
            <a:r>
              <a:rPr lang="en-IE" sz="2800" dirty="0"/>
              <a:t>As computing becomes more of a utility, companies and governments may give up not only the management but the ownerships of their computer assets</a:t>
            </a:r>
          </a:p>
          <a:p>
            <a:pPr eaLnBrk="1" hangingPunct="1">
              <a:lnSpc>
                <a:spcPct val="90000"/>
              </a:lnSpc>
              <a:defRPr/>
            </a:pPr>
            <a:r>
              <a:rPr lang="en-IE" sz="2800" dirty="0"/>
              <a:t>They will be moved to a place where they can be maintained and operated at the lowest cost</a:t>
            </a:r>
          </a:p>
          <a:p>
            <a:pPr eaLnBrk="1" hangingPunct="1">
              <a:lnSpc>
                <a:spcPct val="90000"/>
              </a:lnSpc>
              <a:defRPr/>
            </a:pPr>
            <a:r>
              <a:rPr lang="en-IE" sz="2800" dirty="0"/>
              <a:t>Do countries trust foreign governments, some of which my be unstable or even unfriendly to safeguard sensitive data about the operations of their companies and the lives of their citizens?</a:t>
            </a:r>
          </a:p>
        </p:txBody>
      </p:sp>
      <p:sp>
        <p:nvSpPr>
          <p:cNvPr id="47107" name="TextBox 1">
            <a:extLst>
              <a:ext uri="{FF2B5EF4-FFF2-40B4-BE49-F238E27FC236}">
                <a16:creationId xmlns:a16="http://schemas.microsoft.com/office/drawing/2014/main" id="{01E8B5ED-BF67-6D4F-AC1A-24ECC881264E}"/>
              </a:ext>
            </a:extLst>
          </p:cNvPr>
          <p:cNvSpPr txBox="1">
            <a:spLocks noChangeArrowheads="1"/>
          </p:cNvSpPr>
          <p:nvPr/>
        </p:nvSpPr>
        <p:spPr bwMode="auto">
          <a:xfrm>
            <a:off x="1752600" y="762000"/>
            <a:ext cx="4495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IE" altLang="en-US" sz="4000" b="1">
                <a:solidFill>
                  <a:schemeClr val="tx1"/>
                </a:solidFill>
                <a:latin typeface="Tahoma" panose="020B0604030504040204" pitchFamily="34" charset="0"/>
              </a:rPr>
              <a:t>Ownership</a:t>
            </a:r>
          </a:p>
        </p:txBody>
      </p:sp>
    </p:spTree>
  </p:cSld>
  <p:clrMapOvr>
    <a:masterClrMapping/>
  </p:clrMapOvr>
  <p:transition spd="slow" advTm="26652"/>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713835BB-7374-4E4D-877E-34B339ED60E2}"/>
              </a:ext>
            </a:extLst>
          </p:cNvPr>
          <p:cNvSpPr>
            <a:spLocks noGrp="1" noChangeArrowheads="1"/>
          </p:cNvSpPr>
          <p:nvPr>
            <p:ph type="title"/>
          </p:nvPr>
        </p:nvSpPr>
        <p:spPr/>
        <p:txBody>
          <a:bodyPr/>
          <a:lstStyle/>
          <a:p>
            <a:r>
              <a:rPr lang="en-IE" altLang="en-US"/>
              <a:t>The New Economy</a:t>
            </a:r>
          </a:p>
        </p:txBody>
      </p:sp>
      <p:sp>
        <p:nvSpPr>
          <p:cNvPr id="49154" name="Content Placeholder 2">
            <a:extLst>
              <a:ext uri="{FF2B5EF4-FFF2-40B4-BE49-F238E27FC236}">
                <a16:creationId xmlns:a16="http://schemas.microsoft.com/office/drawing/2014/main" id="{096D5628-4E69-AE49-8CFF-AA3C59D78A6A}"/>
              </a:ext>
            </a:extLst>
          </p:cNvPr>
          <p:cNvSpPr>
            <a:spLocks noGrp="1" noChangeArrowheads="1"/>
          </p:cNvSpPr>
          <p:nvPr>
            <p:ph sz="half" idx="1"/>
          </p:nvPr>
        </p:nvSpPr>
        <p:spPr/>
        <p:txBody>
          <a:bodyPr/>
          <a:lstStyle/>
          <a:p>
            <a:r>
              <a:rPr lang="en-IE" altLang="en-US"/>
              <a:t>2006. YouTube sold $1.65B</a:t>
            </a:r>
          </a:p>
          <a:p>
            <a:pPr lvl="1"/>
            <a:r>
              <a:rPr lang="en-IE" altLang="en-US"/>
              <a:t>60 employees</a:t>
            </a:r>
          </a:p>
          <a:p>
            <a:pPr lvl="1"/>
            <a:endParaRPr lang="en-IE" altLang="en-US"/>
          </a:p>
          <a:p>
            <a:pPr lvl="1"/>
            <a:endParaRPr lang="en-IE" altLang="en-US"/>
          </a:p>
          <a:p>
            <a:pPr lvl="1"/>
            <a:r>
              <a:rPr lang="en-IE" altLang="en-US"/>
              <a:t>Compare Disney 133,000 people</a:t>
            </a:r>
          </a:p>
        </p:txBody>
      </p:sp>
      <p:sp>
        <p:nvSpPr>
          <p:cNvPr id="49155" name="Content Placeholder 3">
            <a:extLst>
              <a:ext uri="{FF2B5EF4-FFF2-40B4-BE49-F238E27FC236}">
                <a16:creationId xmlns:a16="http://schemas.microsoft.com/office/drawing/2014/main" id="{4FD4ECB9-8D9C-5440-B5E1-B8569BABC522}"/>
              </a:ext>
            </a:extLst>
          </p:cNvPr>
          <p:cNvSpPr>
            <a:spLocks noGrp="1" noChangeArrowheads="1"/>
          </p:cNvSpPr>
          <p:nvPr>
            <p:ph sz="half" idx="2"/>
          </p:nvPr>
        </p:nvSpPr>
        <p:spPr/>
        <p:txBody>
          <a:bodyPr/>
          <a:lstStyle/>
          <a:p>
            <a:r>
              <a:rPr lang="en-IE" altLang="en-US"/>
              <a:t>Compare</a:t>
            </a:r>
          </a:p>
          <a:p>
            <a:r>
              <a:rPr lang="en-IE" altLang="en-US"/>
              <a:t>Skype</a:t>
            </a:r>
          </a:p>
          <a:p>
            <a:pPr lvl="1"/>
            <a:r>
              <a:rPr lang="en-IE" altLang="en-US"/>
              <a:t>2005. 53 mil customers, sold to Ebay $2.1Billion, more than twice number of cuustomers than BT, yet Skype employed just 200 people vs. 90,000 BT people</a:t>
            </a:r>
          </a:p>
        </p:txBody>
      </p:sp>
      <p:sp>
        <p:nvSpPr>
          <p:cNvPr id="49156" name="Footer Placeholder 4">
            <a:extLst>
              <a:ext uri="{FF2B5EF4-FFF2-40B4-BE49-F238E27FC236}">
                <a16:creationId xmlns:a16="http://schemas.microsoft.com/office/drawing/2014/main" id="{377F27DC-EC20-CA47-828A-8787FA02B21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The Big Switch – Nicholas Carr.</a:t>
            </a:r>
          </a:p>
        </p:txBody>
      </p:sp>
      <p:sp>
        <p:nvSpPr>
          <p:cNvPr id="49157" name="Slide Number Placeholder 5">
            <a:extLst>
              <a:ext uri="{FF2B5EF4-FFF2-40B4-BE49-F238E27FC236}">
                <a16:creationId xmlns:a16="http://schemas.microsoft.com/office/drawing/2014/main" id="{08B56F23-3A99-144D-B91C-9C03DC428A7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Slide </a:t>
            </a:r>
            <a:fld id="{3C7914C8-2BB9-2E43-8E12-9A2BA3121311}" type="slidenum">
              <a:rPr lang="en-US" altLang="en-US" sz="1200" smtClean="0">
                <a:solidFill>
                  <a:srgbClr val="606060"/>
                </a:solidFill>
                <a:latin typeface="Georgia" panose="02040502050405020303" pitchFamily="18" charset="0"/>
              </a:rPr>
              <a:pPr>
                <a:spcBef>
                  <a:spcPct val="0"/>
                </a:spcBef>
                <a:buClrTx/>
                <a:buSzTx/>
                <a:buFontTx/>
                <a:buNone/>
              </a:pPr>
              <a:t>31</a:t>
            </a:fld>
            <a:endParaRPr lang="en-US" altLang="en-US" sz="1200">
              <a:solidFill>
                <a:srgbClr val="606060"/>
              </a:solidFill>
              <a:latin typeface="Georgia" panose="02040502050405020303" pitchFamily="18" charset="0"/>
            </a:endParaRPr>
          </a:p>
        </p:txBody>
      </p:sp>
    </p:spTree>
  </p:cSld>
  <p:clrMapOvr>
    <a:masterClrMapping/>
  </p:clrMapOvr>
  <p:transition spd="slow" advTm="70617"/>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49858F01-A597-D346-A439-5EC03D98FEF6}"/>
              </a:ext>
            </a:extLst>
          </p:cNvPr>
          <p:cNvSpPr>
            <a:spLocks noGrp="1" noChangeArrowheads="1"/>
          </p:cNvSpPr>
          <p:nvPr>
            <p:ph type="title"/>
          </p:nvPr>
        </p:nvSpPr>
        <p:spPr/>
        <p:txBody>
          <a:bodyPr/>
          <a:lstStyle/>
          <a:p>
            <a:r>
              <a:rPr lang="en-IE" altLang="en-US"/>
              <a:t>From Many to Few</a:t>
            </a:r>
          </a:p>
        </p:txBody>
      </p:sp>
      <p:sp>
        <p:nvSpPr>
          <p:cNvPr id="51202" name="Content Placeholder 2">
            <a:extLst>
              <a:ext uri="{FF2B5EF4-FFF2-40B4-BE49-F238E27FC236}">
                <a16:creationId xmlns:a16="http://schemas.microsoft.com/office/drawing/2014/main" id="{ADEE1C22-8088-D04E-9D45-76F6ACA91366}"/>
              </a:ext>
            </a:extLst>
          </p:cNvPr>
          <p:cNvSpPr>
            <a:spLocks noGrp="1" noChangeArrowheads="1"/>
          </p:cNvSpPr>
          <p:nvPr>
            <p:ph sz="half" idx="1"/>
          </p:nvPr>
        </p:nvSpPr>
        <p:spPr/>
        <p:txBody>
          <a:bodyPr/>
          <a:lstStyle/>
          <a:p>
            <a:r>
              <a:rPr lang="en-IE" altLang="en-US"/>
              <a:t>There are some who believe that IT as it continues to gain momentum will begin to close the gap that up to now it has helped widen</a:t>
            </a:r>
          </a:p>
        </p:txBody>
      </p:sp>
      <p:sp>
        <p:nvSpPr>
          <p:cNvPr id="51203" name="Content Placeholder 3">
            <a:extLst>
              <a:ext uri="{FF2B5EF4-FFF2-40B4-BE49-F238E27FC236}">
                <a16:creationId xmlns:a16="http://schemas.microsoft.com/office/drawing/2014/main" id="{1B5C1DFC-0DE6-2C44-BBBD-CD820A160283}"/>
              </a:ext>
            </a:extLst>
          </p:cNvPr>
          <p:cNvSpPr>
            <a:spLocks noGrp="1" noChangeArrowheads="1"/>
          </p:cNvSpPr>
          <p:nvPr>
            <p:ph sz="half" idx="2"/>
          </p:nvPr>
        </p:nvSpPr>
        <p:spPr/>
        <p:txBody>
          <a:bodyPr/>
          <a:lstStyle/>
          <a:p>
            <a:r>
              <a:rPr lang="en-IE" altLang="en-US"/>
              <a:t>But when we take into account the replacement of skilled as well as unskilled workers with software, the ability of companies to aggregate volunteer labour and harvest its economic value</a:t>
            </a:r>
          </a:p>
        </p:txBody>
      </p:sp>
      <p:sp>
        <p:nvSpPr>
          <p:cNvPr id="51205" name="Slide Number Placeholder 5">
            <a:extLst>
              <a:ext uri="{FF2B5EF4-FFF2-40B4-BE49-F238E27FC236}">
                <a16:creationId xmlns:a16="http://schemas.microsoft.com/office/drawing/2014/main" id="{D5820D62-F02B-194D-8395-4BECEC9488D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EAB43"/>
              </a:buClr>
              <a:buSzPct val="80000"/>
              <a:buFont typeface="Wingdings" pitchFamily="2" charset="2"/>
              <a:buChar char="n"/>
              <a:defRPr sz="3600">
                <a:solidFill>
                  <a:srgbClr val="001D70"/>
                </a:solidFill>
                <a:latin typeface="Calibri" panose="020F0502020204030204" pitchFamily="34" charset="0"/>
              </a:defRPr>
            </a:lvl1pPr>
            <a:lvl2pPr marL="742950" indent="-285750">
              <a:spcBef>
                <a:spcPct val="20000"/>
              </a:spcBef>
              <a:buClr>
                <a:srgbClr val="5EAB43"/>
              </a:buClr>
              <a:buSzPct val="79000"/>
              <a:buFont typeface="Wingdings" pitchFamily="2" charset="2"/>
              <a:buChar char="v"/>
              <a:defRPr sz="2800">
                <a:solidFill>
                  <a:srgbClr val="001D70"/>
                </a:solidFill>
                <a:latin typeface="Calibri" panose="020F0502020204030204" pitchFamily="34" charset="0"/>
              </a:defRPr>
            </a:lvl2pPr>
            <a:lvl3pPr marL="1143000" indent="-228600">
              <a:spcBef>
                <a:spcPct val="20000"/>
              </a:spcBef>
              <a:buClr>
                <a:srgbClr val="5EAB43"/>
              </a:buClr>
              <a:buSzPct val="79000"/>
              <a:buFont typeface="Wingdings" pitchFamily="2" charset="2"/>
              <a:buChar char="n"/>
              <a:defRPr sz="2400">
                <a:solidFill>
                  <a:srgbClr val="001D70"/>
                </a:solidFill>
                <a:latin typeface="Calibri" panose="020F0502020204030204" pitchFamily="34" charset="0"/>
              </a:defRPr>
            </a:lvl3pPr>
            <a:lvl4pPr marL="1600200" indent="-228600">
              <a:spcBef>
                <a:spcPct val="20000"/>
              </a:spcBef>
              <a:buClr>
                <a:srgbClr val="5EAB43"/>
              </a:buClr>
              <a:buSzPct val="79000"/>
              <a:buFont typeface="Wingdings" pitchFamily="2" charset="2"/>
              <a:buChar char="v"/>
              <a:defRPr sz="2000">
                <a:solidFill>
                  <a:srgbClr val="001D70"/>
                </a:solidFill>
                <a:latin typeface="Calibri" panose="020F0502020204030204" pitchFamily="34" charset="0"/>
              </a:defRPr>
            </a:lvl4pPr>
            <a:lvl5pPr marL="2057400" indent="-228600">
              <a:spcBef>
                <a:spcPct val="20000"/>
              </a:spcBef>
              <a:buClr>
                <a:srgbClr val="5EAB43"/>
              </a:buClr>
              <a:buSzPct val="79000"/>
              <a:buFont typeface="Wingdings" pitchFamily="2" charset="2"/>
              <a:buChar char="n"/>
              <a:defRPr sz="2000">
                <a:solidFill>
                  <a:srgbClr val="001D70"/>
                </a:solidFill>
                <a:latin typeface="Calibri" panose="020F0502020204030204" pitchFamily="34" charset="0"/>
              </a:defRPr>
            </a:lvl5pPr>
            <a:lvl6pPr marL="25146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6pPr>
            <a:lvl7pPr marL="29718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7pPr>
            <a:lvl8pPr marL="34290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8pPr>
            <a:lvl9pPr marL="3886200" indent="-228600" eaLnBrk="0" fontAlgn="base" hangingPunct="0">
              <a:spcBef>
                <a:spcPct val="20000"/>
              </a:spcBef>
              <a:spcAft>
                <a:spcPct val="0"/>
              </a:spcAft>
              <a:buClr>
                <a:srgbClr val="5EAB43"/>
              </a:buClr>
              <a:buSzPct val="79000"/>
              <a:buFont typeface="Wingdings" pitchFamily="2" charset="2"/>
              <a:buChar char="n"/>
              <a:defRPr sz="2000">
                <a:solidFill>
                  <a:srgbClr val="001D70"/>
                </a:solidFill>
                <a:latin typeface="Calibri" panose="020F0502020204030204" pitchFamily="34" charset="0"/>
              </a:defRPr>
            </a:lvl9pPr>
          </a:lstStyle>
          <a:p>
            <a:pPr>
              <a:spcBef>
                <a:spcPct val="0"/>
              </a:spcBef>
              <a:buClrTx/>
              <a:buSzTx/>
              <a:buFontTx/>
              <a:buNone/>
            </a:pPr>
            <a:r>
              <a:rPr lang="en-US" altLang="en-US" sz="1200">
                <a:solidFill>
                  <a:srgbClr val="606060"/>
                </a:solidFill>
                <a:latin typeface="Georgia" panose="02040502050405020303" pitchFamily="18" charset="0"/>
              </a:rPr>
              <a:t>Slide-</a:t>
            </a:r>
            <a:fld id="{4759E211-F5C6-0140-9CB0-8DE7A7D1714C}" type="slidenum">
              <a:rPr lang="en-US" altLang="en-US" sz="1200" smtClean="0">
                <a:solidFill>
                  <a:srgbClr val="606060"/>
                </a:solidFill>
                <a:latin typeface="Georgia" panose="02040502050405020303" pitchFamily="18" charset="0"/>
              </a:rPr>
              <a:pPr>
                <a:spcBef>
                  <a:spcPct val="0"/>
                </a:spcBef>
                <a:buClrTx/>
                <a:buSzTx/>
                <a:buFontTx/>
                <a:buNone/>
              </a:pPr>
              <a:t>32</a:t>
            </a:fld>
            <a:endParaRPr lang="en-US" altLang="en-US" sz="1200">
              <a:solidFill>
                <a:srgbClr val="606060"/>
              </a:solidFill>
              <a:latin typeface="Georgia" panose="02040502050405020303" pitchFamily="18" charset="0"/>
            </a:endParaRPr>
          </a:p>
        </p:txBody>
      </p:sp>
    </p:spTree>
  </p:cSld>
  <p:clrMapOvr>
    <a:masterClrMapping/>
  </p:clrMapOvr>
  <p:transition spd="slow" advTm="42484"/>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561428BE-A01A-BF40-B792-5096220111E7}"/>
              </a:ext>
            </a:extLst>
          </p:cNvPr>
          <p:cNvSpPr>
            <a:spLocks noGrp="1" noChangeArrowheads="1"/>
          </p:cNvSpPr>
          <p:nvPr>
            <p:ph type="title"/>
          </p:nvPr>
        </p:nvSpPr>
        <p:spPr/>
        <p:txBody>
          <a:bodyPr/>
          <a:lstStyle/>
          <a:p>
            <a:r>
              <a:rPr lang="en-IE" altLang="en-US"/>
              <a:t>From Many to Few</a:t>
            </a:r>
          </a:p>
        </p:txBody>
      </p:sp>
      <p:sp>
        <p:nvSpPr>
          <p:cNvPr id="52226" name="Content Placeholder 2">
            <a:extLst>
              <a:ext uri="{FF2B5EF4-FFF2-40B4-BE49-F238E27FC236}">
                <a16:creationId xmlns:a16="http://schemas.microsoft.com/office/drawing/2014/main" id="{A105D595-5145-A042-B1A8-485FCAA9F1E5}"/>
              </a:ext>
            </a:extLst>
          </p:cNvPr>
          <p:cNvSpPr>
            <a:spLocks noGrp="1" noChangeArrowheads="1"/>
          </p:cNvSpPr>
          <p:nvPr>
            <p:ph sz="half" idx="1"/>
          </p:nvPr>
        </p:nvSpPr>
        <p:spPr>
          <a:xfrm>
            <a:off x="685800" y="1981200"/>
            <a:ext cx="4343400" cy="4114800"/>
          </a:xfrm>
        </p:spPr>
        <p:txBody>
          <a:bodyPr/>
          <a:lstStyle/>
          <a:p>
            <a:r>
              <a:rPr lang="en-IE" altLang="en-US"/>
              <a:t>The erosion of the middleclass many well accelerate, as the divide widens between a relatively small group of extraordinarily wealthy people – the digital elite – and a very large group of people who face eroding fortunes</a:t>
            </a:r>
          </a:p>
        </p:txBody>
      </p:sp>
      <p:sp>
        <p:nvSpPr>
          <p:cNvPr id="52227" name="Content Placeholder 3">
            <a:extLst>
              <a:ext uri="{FF2B5EF4-FFF2-40B4-BE49-F238E27FC236}">
                <a16:creationId xmlns:a16="http://schemas.microsoft.com/office/drawing/2014/main" id="{89A8E91C-034B-004A-A41D-8AD2DBF07F78}"/>
              </a:ext>
            </a:extLst>
          </p:cNvPr>
          <p:cNvSpPr>
            <a:spLocks noGrp="1" noChangeArrowheads="1"/>
          </p:cNvSpPr>
          <p:nvPr>
            <p:ph sz="half" idx="2"/>
          </p:nvPr>
        </p:nvSpPr>
        <p:spPr/>
        <p:txBody>
          <a:bodyPr/>
          <a:lstStyle/>
          <a:p>
            <a:r>
              <a:rPr lang="en-IE" altLang="en-US" dirty="0"/>
              <a:t>In the new AI economy, everyone is free to play but only a few will reap the rewards</a:t>
            </a:r>
          </a:p>
          <a:p>
            <a:endParaRPr lang="en-IE" altLang="en-US" dirty="0"/>
          </a:p>
          <a:p>
            <a:r>
              <a:rPr lang="en-IE" altLang="en-US" dirty="0"/>
              <a:t>(see articles on Brightspace)</a:t>
            </a:r>
          </a:p>
        </p:txBody>
      </p:sp>
      <p:sp>
        <p:nvSpPr>
          <p:cNvPr id="6" name="Slide Number Placeholder 5">
            <a:extLst>
              <a:ext uri="{FF2B5EF4-FFF2-40B4-BE49-F238E27FC236}">
                <a16:creationId xmlns:a16="http://schemas.microsoft.com/office/drawing/2014/main" id="{3467DF5A-0193-AF47-8CF9-0BA4D5D76366}"/>
              </a:ext>
            </a:extLst>
          </p:cNvPr>
          <p:cNvSpPr>
            <a:spLocks noGrp="1"/>
          </p:cNvSpPr>
          <p:nvPr>
            <p:ph type="sldNum" sz="quarter" idx="11"/>
          </p:nvPr>
        </p:nvSpPr>
        <p:spPr/>
        <p:txBody>
          <a:bodyPr/>
          <a:lstStyle/>
          <a:p>
            <a:pPr>
              <a:defRPr/>
            </a:pPr>
            <a:r>
              <a:rPr lang="en-US" dirty="0">
                <a:solidFill>
                  <a:schemeClr val="accent5">
                    <a:lumMod val="50000"/>
                  </a:schemeClr>
                </a:solidFill>
              </a:rPr>
              <a:t> </a:t>
            </a:r>
          </a:p>
        </p:txBody>
      </p:sp>
    </p:spTree>
  </p:cSld>
  <p:clrMapOvr>
    <a:masterClrMapping/>
  </p:clrMapOvr>
  <p:transition spd="slow" advTm="73382"/>
</p:sld>
</file>

<file path=ppt/theme/theme1.xml><?xml version="1.0" encoding="utf-8"?>
<a:theme xmlns:a="http://schemas.openxmlformats.org/drawingml/2006/main" name="EC7E_powerpoint">
  <a:themeElements>
    <a:clrScheme name="EC7E powerpoint">
      <a:dk1>
        <a:srgbClr val="003E75"/>
      </a:dk1>
      <a:lt1>
        <a:sysClr val="window" lastClr="FFFFFF"/>
      </a:lt1>
      <a:dk2>
        <a:srgbClr val="003E75"/>
      </a:dk2>
      <a:lt2>
        <a:srgbClr val="D6ECFF"/>
      </a:lt2>
      <a:accent1>
        <a:srgbClr val="7FD13B"/>
      </a:accent1>
      <a:accent2>
        <a:srgbClr val="EA157A"/>
      </a:accent2>
      <a:accent3>
        <a:srgbClr val="FEB80A"/>
      </a:accent3>
      <a:accent4>
        <a:srgbClr val="00ADDC"/>
      </a:accent4>
      <a:accent5>
        <a:srgbClr val="BFBFBF"/>
      </a:accent5>
      <a:accent6>
        <a:srgbClr val="47596C"/>
      </a:accent6>
      <a:hlink>
        <a:srgbClr val="EB8803"/>
      </a:hlink>
      <a:folHlink>
        <a:srgbClr val="5F7791"/>
      </a:folHlink>
    </a:clrScheme>
    <a:fontScheme name="EC6E">
      <a:majorFont>
        <a:latin typeface="Georgi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Presentation2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Presentation2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Presentation2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Presentation2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Presentation2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Presentation2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Presentation2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eek 10 Ethics Law and Ecommerce_voice over" id="{6532A78A-0FC4-3E4D-A77A-E3611F3BBD4E}" vid="{E0A403A1-C87A-884B-8F39-5F9AFF46987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EC7E_powerpoint</Template>
  <TotalTime>333</TotalTime>
  <Words>1890</Words>
  <Application>Microsoft Macintosh PowerPoint</Application>
  <PresentationFormat>On-screen Show (4:3)</PresentationFormat>
  <Paragraphs>224</Paragraphs>
  <Slides>33</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ＭＳ Ｐゴシック</vt:lpstr>
      <vt:lpstr>Aptos</vt:lpstr>
      <vt:lpstr>Arial</vt:lpstr>
      <vt:lpstr>Calibri</vt:lpstr>
      <vt:lpstr>Georgia</vt:lpstr>
      <vt:lpstr>Sanomat</vt:lpstr>
      <vt:lpstr>Tahoma</vt:lpstr>
      <vt:lpstr>Times New Roman</vt:lpstr>
      <vt:lpstr>var(--wp--preset--font-family--sanomat)</vt:lpstr>
      <vt:lpstr>Verdana</vt:lpstr>
      <vt:lpstr>Wingdings</vt:lpstr>
      <vt:lpstr>EC7E_powerpoint</vt:lpstr>
      <vt:lpstr>Chapter 8: Ethical, Social, and Political Issues in E-commerce</vt:lpstr>
      <vt:lpstr>Understanding Ethical, Social, and Political Issues in E-commerce</vt:lpstr>
      <vt:lpstr>  </vt:lpstr>
      <vt:lpstr>Video</vt:lpstr>
      <vt:lpstr>Who can save us from social media?</vt:lpstr>
      <vt:lpstr>Who can save us from social media?</vt:lpstr>
      <vt:lpstr>Who can save us from social media?</vt:lpstr>
      <vt:lpstr> </vt:lpstr>
      <vt:lpstr>“The Sirens’ Call, by Chris Hayes</vt:lpstr>
      <vt:lpstr>A Model for Organizing the Issues</vt:lpstr>
      <vt:lpstr>The Moral Dimensions of an  Internet Society</vt:lpstr>
      <vt:lpstr>A Model for Organizing the Issues</vt:lpstr>
      <vt:lpstr>Basic Ethical Concepts</vt:lpstr>
      <vt:lpstr>Basic Ethical Concepts</vt:lpstr>
      <vt:lpstr>Analyzing Ethical Dilemmas</vt:lpstr>
      <vt:lpstr>Privacy and Information Rights</vt:lpstr>
      <vt:lpstr>Information Collected at  E-commerce Sites</vt:lpstr>
      <vt:lpstr>Key Issues in Online Privacy of Consumers </vt:lpstr>
      <vt:lpstr>Marketing: Profiling, Behavioral Targeting, and Retargeting</vt:lpstr>
      <vt:lpstr>Social Networks and Privacy</vt:lpstr>
      <vt:lpstr>Mobile and Location-based Privacy Issues</vt:lpstr>
      <vt:lpstr>The Internet and Government Invasions of Privacy</vt:lpstr>
      <vt:lpstr>The European Data  Protection Directive</vt:lpstr>
      <vt:lpstr>Privacy Issues</vt:lpstr>
      <vt:lpstr>Big brother is watching you</vt:lpstr>
      <vt:lpstr>Carr: The Big Switch</vt:lpstr>
      <vt:lpstr>Carr: The Big Switch</vt:lpstr>
      <vt:lpstr> </vt:lpstr>
      <vt:lpstr>PowerPoint Presentation</vt:lpstr>
      <vt:lpstr> </vt:lpstr>
      <vt:lpstr>The New Economy</vt:lpstr>
      <vt:lpstr>From Many to Few</vt:lpstr>
      <vt:lpstr>From Many to Few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Ethical, Social, and Political Issues in E-commerce</dc:title>
  <dc:creator>Clare Branigan</dc:creator>
  <cp:lastModifiedBy>Clare Branigan</cp:lastModifiedBy>
  <cp:revision>22</cp:revision>
  <cp:lastPrinted>2002-04-12T18:43:07Z</cp:lastPrinted>
  <dcterms:created xsi:type="dcterms:W3CDTF">2020-04-06T10:31:10Z</dcterms:created>
  <dcterms:modified xsi:type="dcterms:W3CDTF">2026-03-24T17:20:28Z</dcterms:modified>
</cp:coreProperties>
</file>