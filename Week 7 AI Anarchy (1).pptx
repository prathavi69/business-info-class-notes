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58" r:id="rId7"/>
    <p:sldId id="25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7" autoAdjust="0"/>
    <p:restoredTop sz="94660"/>
  </p:normalViewPr>
  <p:slideViewPr>
    <p:cSldViewPr snapToGrid="0">
      <p:cViewPr varScale="1">
        <p:scale>
          <a:sx n="39" d="100"/>
          <a:sy n="39" d="100"/>
        </p:scale>
        <p:origin x="72" y="11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18082-0E02-91F6-D44A-CCE3829E6B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CE6AAC2-C99D-2320-57ED-1202BBA070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F41A708-B609-DFE7-DF97-66813AF593DD}"/>
              </a:ext>
            </a:extLst>
          </p:cNvPr>
          <p:cNvSpPr>
            <a:spLocks noGrp="1"/>
          </p:cNvSpPr>
          <p:nvPr>
            <p:ph type="dt" sz="half" idx="10"/>
          </p:nvPr>
        </p:nvSpPr>
        <p:spPr/>
        <p:txBody>
          <a:bodyPr/>
          <a:lstStyle/>
          <a:p>
            <a:fld id="{1CC9C3B2-8BB1-489F-93B4-2B23A2E5FD72}" type="datetimeFigureOut">
              <a:rPr lang="en-GB" smtClean="0"/>
              <a:t>23/02/2026</a:t>
            </a:fld>
            <a:endParaRPr lang="en-GB"/>
          </a:p>
        </p:txBody>
      </p:sp>
      <p:sp>
        <p:nvSpPr>
          <p:cNvPr id="5" name="Footer Placeholder 4">
            <a:extLst>
              <a:ext uri="{FF2B5EF4-FFF2-40B4-BE49-F238E27FC236}">
                <a16:creationId xmlns:a16="http://schemas.microsoft.com/office/drawing/2014/main" id="{2A7666B1-AE2A-0C24-BFD8-EA9ADC77FE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4894AC-C264-738F-104D-DEE6E7DBDA5A}"/>
              </a:ext>
            </a:extLst>
          </p:cNvPr>
          <p:cNvSpPr>
            <a:spLocks noGrp="1"/>
          </p:cNvSpPr>
          <p:nvPr>
            <p:ph type="sldNum" sz="quarter" idx="12"/>
          </p:nvPr>
        </p:nvSpPr>
        <p:spPr/>
        <p:txBody>
          <a:bodyPr/>
          <a:lstStyle/>
          <a:p>
            <a:fld id="{20DA0B75-EC21-4B4E-BC57-321AEC47677F}" type="slidenum">
              <a:rPr lang="en-GB" smtClean="0"/>
              <a:t>‹#›</a:t>
            </a:fld>
            <a:endParaRPr lang="en-GB"/>
          </a:p>
        </p:txBody>
      </p:sp>
    </p:spTree>
    <p:extLst>
      <p:ext uri="{BB962C8B-B14F-4D97-AF65-F5344CB8AC3E}">
        <p14:creationId xmlns:p14="http://schemas.microsoft.com/office/powerpoint/2010/main" val="35613981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54A65-1D9D-552D-223A-4AD952CB3C0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96EB7F6-F084-BAC6-2FA0-6527DC8794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7440186-0714-2EAE-38EA-FEC512DC35FC}"/>
              </a:ext>
            </a:extLst>
          </p:cNvPr>
          <p:cNvSpPr>
            <a:spLocks noGrp="1"/>
          </p:cNvSpPr>
          <p:nvPr>
            <p:ph type="dt" sz="half" idx="10"/>
          </p:nvPr>
        </p:nvSpPr>
        <p:spPr/>
        <p:txBody>
          <a:bodyPr/>
          <a:lstStyle/>
          <a:p>
            <a:fld id="{1CC9C3B2-8BB1-489F-93B4-2B23A2E5FD72}" type="datetimeFigureOut">
              <a:rPr lang="en-GB" smtClean="0"/>
              <a:t>23/02/2026</a:t>
            </a:fld>
            <a:endParaRPr lang="en-GB"/>
          </a:p>
        </p:txBody>
      </p:sp>
      <p:sp>
        <p:nvSpPr>
          <p:cNvPr id="5" name="Footer Placeholder 4">
            <a:extLst>
              <a:ext uri="{FF2B5EF4-FFF2-40B4-BE49-F238E27FC236}">
                <a16:creationId xmlns:a16="http://schemas.microsoft.com/office/drawing/2014/main" id="{E425A470-A5FD-19B2-DE14-B502766E25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BFA1E40-60B3-D24E-27D4-47A4414BE82D}"/>
              </a:ext>
            </a:extLst>
          </p:cNvPr>
          <p:cNvSpPr>
            <a:spLocks noGrp="1"/>
          </p:cNvSpPr>
          <p:nvPr>
            <p:ph type="sldNum" sz="quarter" idx="12"/>
          </p:nvPr>
        </p:nvSpPr>
        <p:spPr/>
        <p:txBody>
          <a:bodyPr/>
          <a:lstStyle/>
          <a:p>
            <a:fld id="{20DA0B75-EC21-4B4E-BC57-321AEC47677F}" type="slidenum">
              <a:rPr lang="en-GB" smtClean="0"/>
              <a:t>‹#›</a:t>
            </a:fld>
            <a:endParaRPr lang="en-GB"/>
          </a:p>
        </p:txBody>
      </p:sp>
    </p:spTree>
    <p:extLst>
      <p:ext uri="{BB962C8B-B14F-4D97-AF65-F5344CB8AC3E}">
        <p14:creationId xmlns:p14="http://schemas.microsoft.com/office/powerpoint/2010/main" val="92487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B62D3-F390-574E-A180-717262B188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88719D1-1F0D-24CC-D244-334343F5B0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EBF4F8-59B3-BAA8-C8FE-F406AB03E8EF}"/>
              </a:ext>
            </a:extLst>
          </p:cNvPr>
          <p:cNvSpPr>
            <a:spLocks noGrp="1"/>
          </p:cNvSpPr>
          <p:nvPr>
            <p:ph type="dt" sz="half" idx="10"/>
          </p:nvPr>
        </p:nvSpPr>
        <p:spPr/>
        <p:txBody>
          <a:bodyPr/>
          <a:lstStyle/>
          <a:p>
            <a:fld id="{1CC9C3B2-8BB1-489F-93B4-2B23A2E5FD72}" type="datetimeFigureOut">
              <a:rPr lang="en-GB" smtClean="0"/>
              <a:t>23/02/2026</a:t>
            </a:fld>
            <a:endParaRPr lang="en-GB"/>
          </a:p>
        </p:txBody>
      </p:sp>
      <p:sp>
        <p:nvSpPr>
          <p:cNvPr id="5" name="Footer Placeholder 4">
            <a:extLst>
              <a:ext uri="{FF2B5EF4-FFF2-40B4-BE49-F238E27FC236}">
                <a16:creationId xmlns:a16="http://schemas.microsoft.com/office/drawing/2014/main" id="{01E1BC57-1FCF-EDBC-C0C3-DFC946DF117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0CDE163-F046-1FED-4C63-51B4DA597629}"/>
              </a:ext>
            </a:extLst>
          </p:cNvPr>
          <p:cNvSpPr>
            <a:spLocks noGrp="1"/>
          </p:cNvSpPr>
          <p:nvPr>
            <p:ph type="sldNum" sz="quarter" idx="12"/>
          </p:nvPr>
        </p:nvSpPr>
        <p:spPr/>
        <p:txBody>
          <a:bodyPr/>
          <a:lstStyle/>
          <a:p>
            <a:fld id="{20DA0B75-EC21-4B4E-BC57-321AEC47677F}" type="slidenum">
              <a:rPr lang="en-GB" smtClean="0"/>
              <a:t>‹#›</a:t>
            </a:fld>
            <a:endParaRPr lang="en-GB"/>
          </a:p>
        </p:txBody>
      </p:sp>
    </p:spTree>
    <p:extLst>
      <p:ext uri="{BB962C8B-B14F-4D97-AF65-F5344CB8AC3E}">
        <p14:creationId xmlns:p14="http://schemas.microsoft.com/office/powerpoint/2010/main" val="2825842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7F350-3CDF-1DA0-FB51-9723FC4C3D8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9FC2892-FA5E-FF93-91D6-4F9E5711F2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BE82BD5-E8E7-A785-C53D-0A38E0E716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A68C9B6-7F92-A8A3-B955-E809F22D93D0}"/>
              </a:ext>
            </a:extLst>
          </p:cNvPr>
          <p:cNvSpPr>
            <a:spLocks noGrp="1"/>
          </p:cNvSpPr>
          <p:nvPr>
            <p:ph type="dt" sz="half" idx="10"/>
          </p:nvPr>
        </p:nvSpPr>
        <p:spPr/>
        <p:txBody>
          <a:bodyPr/>
          <a:lstStyle/>
          <a:p>
            <a:fld id="{1CC9C3B2-8BB1-489F-93B4-2B23A2E5FD72}" type="datetimeFigureOut">
              <a:rPr lang="en-GB" smtClean="0"/>
              <a:t>23/02/2026</a:t>
            </a:fld>
            <a:endParaRPr lang="en-GB"/>
          </a:p>
        </p:txBody>
      </p:sp>
      <p:sp>
        <p:nvSpPr>
          <p:cNvPr id="6" name="Footer Placeholder 5">
            <a:extLst>
              <a:ext uri="{FF2B5EF4-FFF2-40B4-BE49-F238E27FC236}">
                <a16:creationId xmlns:a16="http://schemas.microsoft.com/office/drawing/2014/main" id="{278E3463-C7D9-E85C-6006-AAC1EB8282A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5C3AC68-BB15-3745-3841-1D09F5671F4C}"/>
              </a:ext>
            </a:extLst>
          </p:cNvPr>
          <p:cNvSpPr>
            <a:spLocks noGrp="1"/>
          </p:cNvSpPr>
          <p:nvPr>
            <p:ph type="sldNum" sz="quarter" idx="12"/>
          </p:nvPr>
        </p:nvSpPr>
        <p:spPr/>
        <p:txBody>
          <a:bodyPr/>
          <a:lstStyle/>
          <a:p>
            <a:fld id="{20DA0B75-EC21-4B4E-BC57-321AEC47677F}" type="slidenum">
              <a:rPr lang="en-GB" smtClean="0"/>
              <a:t>‹#›</a:t>
            </a:fld>
            <a:endParaRPr lang="en-GB"/>
          </a:p>
        </p:txBody>
      </p:sp>
    </p:spTree>
    <p:extLst>
      <p:ext uri="{BB962C8B-B14F-4D97-AF65-F5344CB8AC3E}">
        <p14:creationId xmlns:p14="http://schemas.microsoft.com/office/powerpoint/2010/main" val="2578194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9BB09-2F6C-3506-C81A-F0B3DF5C933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6B29444-5F8A-9A51-0CB7-1522E63EDA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923644-610B-0D49-DD33-91D1ACFFD2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83C7AB5-ED49-4D8B-B38F-BA5ABBE57B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D275E0-80D6-B45B-3FD4-3358177A7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E81E1BA-DF6E-7AF8-EFA7-EBC3154C7634}"/>
              </a:ext>
            </a:extLst>
          </p:cNvPr>
          <p:cNvSpPr>
            <a:spLocks noGrp="1"/>
          </p:cNvSpPr>
          <p:nvPr>
            <p:ph type="dt" sz="half" idx="10"/>
          </p:nvPr>
        </p:nvSpPr>
        <p:spPr/>
        <p:txBody>
          <a:bodyPr/>
          <a:lstStyle/>
          <a:p>
            <a:fld id="{1CC9C3B2-8BB1-489F-93B4-2B23A2E5FD72}" type="datetimeFigureOut">
              <a:rPr lang="en-GB" smtClean="0"/>
              <a:t>23/02/2026</a:t>
            </a:fld>
            <a:endParaRPr lang="en-GB"/>
          </a:p>
        </p:txBody>
      </p:sp>
      <p:sp>
        <p:nvSpPr>
          <p:cNvPr id="8" name="Footer Placeholder 7">
            <a:extLst>
              <a:ext uri="{FF2B5EF4-FFF2-40B4-BE49-F238E27FC236}">
                <a16:creationId xmlns:a16="http://schemas.microsoft.com/office/drawing/2014/main" id="{E8EBD97C-233F-2D45-8A60-3CBC93D3BB4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946BB0D-0C80-930C-7CE0-6B98A7207F48}"/>
              </a:ext>
            </a:extLst>
          </p:cNvPr>
          <p:cNvSpPr>
            <a:spLocks noGrp="1"/>
          </p:cNvSpPr>
          <p:nvPr>
            <p:ph type="sldNum" sz="quarter" idx="12"/>
          </p:nvPr>
        </p:nvSpPr>
        <p:spPr/>
        <p:txBody>
          <a:bodyPr/>
          <a:lstStyle/>
          <a:p>
            <a:fld id="{20DA0B75-EC21-4B4E-BC57-321AEC47677F}" type="slidenum">
              <a:rPr lang="en-GB" smtClean="0"/>
              <a:t>‹#›</a:t>
            </a:fld>
            <a:endParaRPr lang="en-GB"/>
          </a:p>
        </p:txBody>
      </p:sp>
    </p:spTree>
    <p:extLst>
      <p:ext uri="{BB962C8B-B14F-4D97-AF65-F5344CB8AC3E}">
        <p14:creationId xmlns:p14="http://schemas.microsoft.com/office/powerpoint/2010/main" val="3122752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CB360-7F93-A3B3-5D76-7B96C89D256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8CE26F0-BC27-C7F4-78E6-AFAE1C883907}"/>
              </a:ext>
            </a:extLst>
          </p:cNvPr>
          <p:cNvSpPr>
            <a:spLocks noGrp="1"/>
          </p:cNvSpPr>
          <p:nvPr>
            <p:ph type="dt" sz="half" idx="10"/>
          </p:nvPr>
        </p:nvSpPr>
        <p:spPr/>
        <p:txBody>
          <a:bodyPr/>
          <a:lstStyle/>
          <a:p>
            <a:fld id="{1CC9C3B2-8BB1-489F-93B4-2B23A2E5FD72}" type="datetimeFigureOut">
              <a:rPr lang="en-GB" smtClean="0"/>
              <a:t>23/02/2026</a:t>
            </a:fld>
            <a:endParaRPr lang="en-GB"/>
          </a:p>
        </p:txBody>
      </p:sp>
      <p:sp>
        <p:nvSpPr>
          <p:cNvPr id="4" name="Footer Placeholder 3">
            <a:extLst>
              <a:ext uri="{FF2B5EF4-FFF2-40B4-BE49-F238E27FC236}">
                <a16:creationId xmlns:a16="http://schemas.microsoft.com/office/drawing/2014/main" id="{6F33A877-FC67-A2F0-9FD4-D7174B44A10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EAAF75B-A4D0-E43F-F3E7-69929B8591F3}"/>
              </a:ext>
            </a:extLst>
          </p:cNvPr>
          <p:cNvSpPr>
            <a:spLocks noGrp="1"/>
          </p:cNvSpPr>
          <p:nvPr>
            <p:ph type="sldNum" sz="quarter" idx="12"/>
          </p:nvPr>
        </p:nvSpPr>
        <p:spPr/>
        <p:txBody>
          <a:bodyPr/>
          <a:lstStyle/>
          <a:p>
            <a:fld id="{20DA0B75-EC21-4B4E-BC57-321AEC47677F}" type="slidenum">
              <a:rPr lang="en-GB" smtClean="0"/>
              <a:t>‹#›</a:t>
            </a:fld>
            <a:endParaRPr lang="en-GB"/>
          </a:p>
        </p:txBody>
      </p:sp>
    </p:spTree>
    <p:extLst>
      <p:ext uri="{BB962C8B-B14F-4D97-AF65-F5344CB8AC3E}">
        <p14:creationId xmlns:p14="http://schemas.microsoft.com/office/powerpoint/2010/main" val="3522425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317452-E6D6-F728-8719-3DD4F2B06ED8}"/>
              </a:ext>
            </a:extLst>
          </p:cNvPr>
          <p:cNvSpPr>
            <a:spLocks noGrp="1"/>
          </p:cNvSpPr>
          <p:nvPr>
            <p:ph type="dt" sz="half" idx="10"/>
          </p:nvPr>
        </p:nvSpPr>
        <p:spPr/>
        <p:txBody>
          <a:bodyPr/>
          <a:lstStyle/>
          <a:p>
            <a:fld id="{1CC9C3B2-8BB1-489F-93B4-2B23A2E5FD72}" type="datetimeFigureOut">
              <a:rPr lang="en-GB" smtClean="0"/>
              <a:t>23/02/2026</a:t>
            </a:fld>
            <a:endParaRPr lang="en-GB"/>
          </a:p>
        </p:txBody>
      </p:sp>
      <p:sp>
        <p:nvSpPr>
          <p:cNvPr id="3" name="Footer Placeholder 2">
            <a:extLst>
              <a:ext uri="{FF2B5EF4-FFF2-40B4-BE49-F238E27FC236}">
                <a16:creationId xmlns:a16="http://schemas.microsoft.com/office/drawing/2014/main" id="{49389409-E149-8858-61F4-9D49EA15326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CB0D20F-E945-19C7-8568-3FD36F129A2D}"/>
              </a:ext>
            </a:extLst>
          </p:cNvPr>
          <p:cNvSpPr>
            <a:spLocks noGrp="1"/>
          </p:cNvSpPr>
          <p:nvPr>
            <p:ph type="sldNum" sz="quarter" idx="12"/>
          </p:nvPr>
        </p:nvSpPr>
        <p:spPr/>
        <p:txBody>
          <a:bodyPr/>
          <a:lstStyle/>
          <a:p>
            <a:fld id="{20DA0B75-EC21-4B4E-BC57-321AEC47677F}" type="slidenum">
              <a:rPr lang="en-GB" smtClean="0"/>
              <a:t>‹#›</a:t>
            </a:fld>
            <a:endParaRPr lang="en-GB"/>
          </a:p>
        </p:txBody>
      </p:sp>
    </p:spTree>
    <p:extLst>
      <p:ext uri="{BB962C8B-B14F-4D97-AF65-F5344CB8AC3E}">
        <p14:creationId xmlns:p14="http://schemas.microsoft.com/office/powerpoint/2010/main" val="4254765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8D8A2-2224-4ECE-80D3-B323376009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B1C5636-6AAE-B4F8-5186-E0E5F5FB0E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FE7FF69-B038-641D-6CAC-0AEA811C4B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459365-289B-518E-10C4-7723B33615C9}"/>
              </a:ext>
            </a:extLst>
          </p:cNvPr>
          <p:cNvSpPr>
            <a:spLocks noGrp="1"/>
          </p:cNvSpPr>
          <p:nvPr>
            <p:ph type="dt" sz="half" idx="10"/>
          </p:nvPr>
        </p:nvSpPr>
        <p:spPr/>
        <p:txBody>
          <a:bodyPr/>
          <a:lstStyle/>
          <a:p>
            <a:fld id="{1CC9C3B2-8BB1-489F-93B4-2B23A2E5FD72}" type="datetimeFigureOut">
              <a:rPr lang="en-GB" smtClean="0"/>
              <a:t>23/02/2026</a:t>
            </a:fld>
            <a:endParaRPr lang="en-GB"/>
          </a:p>
        </p:txBody>
      </p:sp>
      <p:sp>
        <p:nvSpPr>
          <p:cNvPr id="6" name="Footer Placeholder 5">
            <a:extLst>
              <a:ext uri="{FF2B5EF4-FFF2-40B4-BE49-F238E27FC236}">
                <a16:creationId xmlns:a16="http://schemas.microsoft.com/office/drawing/2014/main" id="{4FDFC3E5-76C3-BBBC-EFFB-E9246BB295C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1D6CC85-6E4A-3ACF-50F6-3C85DD2910C3}"/>
              </a:ext>
            </a:extLst>
          </p:cNvPr>
          <p:cNvSpPr>
            <a:spLocks noGrp="1"/>
          </p:cNvSpPr>
          <p:nvPr>
            <p:ph type="sldNum" sz="quarter" idx="12"/>
          </p:nvPr>
        </p:nvSpPr>
        <p:spPr/>
        <p:txBody>
          <a:bodyPr/>
          <a:lstStyle/>
          <a:p>
            <a:fld id="{20DA0B75-EC21-4B4E-BC57-321AEC47677F}" type="slidenum">
              <a:rPr lang="en-GB" smtClean="0"/>
              <a:t>‹#›</a:t>
            </a:fld>
            <a:endParaRPr lang="en-GB"/>
          </a:p>
        </p:txBody>
      </p:sp>
    </p:spTree>
    <p:extLst>
      <p:ext uri="{BB962C8B-B14F-4D97-AF65-F5344CB8AC3E}">
        <p14:creationId xmlns:p14="http://schemas.microsoft.com/office/powerpoint/2010/main" val="2995960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844B-CF2F-C46C-E9BB-D9502728ED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FB4014F-27B4-04A1-9C05-52FA3267E7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DCA5BB7-3810-EA4B-87B4-D44DCC91BD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AEFF26-A887-E378-5F17-087DCE51ECF5}"/>
              </a:ext>
            </a:extLst>
          </p:cNvPr>
          <p:cNvSpPr>
            <a:spLocks noGrp="1"/>
          </p:cNvSpPr>
          <p:nvPr>
            <p:ph type="dt" sz="half" idx="10"/>
          </p:nvPr>
        </p:nvSpPr>
        <p:spPr/>
        <p:txBody>
          <a:bodyPr/>
          <a:lstStyle/>
          <a:p>
            <a:fld id="{1CC9C3B2-8BB1-489F-93B4-2B23A2E5FD72}" type="datetimeFigureOut">
              <a:rPr lang="en-GB" smtClean="0"/>
              <a:t>23/02/2026</a:t>
            </a:fld>
            <a:endParaRPr lang="en-GB"/>
          </a:p>
        </p:txBody>
      </p:sp>
      <p:sp>
        <p:nvSpPr>
          <p:cNvPr id="6" name="Footer Placeholder 5">
            <a:extLst>
              <a:ext uri="{FF2B5EF4-FFF2-40B4-BE49-F238E27FC236}">
                <a16:creationId xmlns:a16="http://schemas.microsoft.com/office/drawing/2014/main" id="{A4639709-0BEF-26E6-80C9-8EAD9A575F4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3E3CE77-9F04-5389-BBE4-92166934D87B}"/>
              </a:ext>
            </a:extLst>
          </p:cNvPr>
          <p:cNvSpPr>
            <a:spLocks noGrp="1"/>
          </p:cNvSpPr>
          <p:nvPr>
            <p:ph type="sldNum" sz="quarter" idx="12"/>
          </p:nvPr>
        </p:nvSpPr>
        <p:spPr/>
        <p:txBody>
          <a:bodyPr/>
          <a:lstStyle/>
          <a:p>
            <a:fld id="{20DA0B75-EC21-4B4E-BC57-321AEC47677F}" type="slidenum">
              <a:rPr lang="en-GB" smtClean="0"/>
              <a:t>‹#›</a:t>
            </a:fld>
            <a:endParaRPr lang="en-GB"/>
          </a:p>
        </p:txBody>
      </p:sp>
    </p:spTree>
    <p:extLst>
      <p:ext uri="{BB962C8B-B14F-4D97-AF65-F5344CB8AC3E}">
        <p14:creationId xmlns:p14="http://schemas.microsoft.com/office/powerpoint/2010/main" val="2613257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DFFFF-43FB-1792-54CF-6D81C9451B1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656F7A1-F77D-B649-7336-4857636BB5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3BD4822-5B16-82EE-8742-DD275FBE1ADB}"/>
              </a:ext>
            </a:extLst>
          </p:cNvPr>
          <p:cNvSpPr>
            <a:spLocks noGrp="1"/>
          </p:cNvSpPr>
          <p:nvPr>
            <p:ph type="dt" sz="half" idx="10"/>
          </p:nvPr>
        </p:nvSpPr>
        <p:spPr/>
        <p:txBody>
          <a:bodyPr/>
          <a:lstStyle/>
          <a:p>
            <a:fld id="{1CC9C3B2-8BB1-489F-93B4-2B23A2E5FD72}" type="datetimeFigureOut">
              <a:rPr lang="en-GB" smtClean="0"/>
              <a:t>23/02/2026</a:t>
            </a:fld>
            <a:endParaRPr lang="en-GB"/>
          </a:p>
        </p:txBody>
      </p:sp>
      <p:sp>
        <p:nvSpPr>
          <p:cNvPr id="5" name="Footer Placeholder 4">
            <a:extLst>
              <a:ext uri="{FF2B5EF4-FFF2-40B4-BE49-F238E27FC236}">
                <a16:creationId xmlns:a16="http://schemas.microsoft.com/office/drawing/2014/main" id="{CD262C37-CFAF-8E53-C21C-096E7BBC3F4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01254CF-4F56-BC17-C8F5-AF76EC91E7B7}"/>
              </a:ext>
            </a:extLst>
          </p:cNvPr>
          <p:cNvSpPr>
            <a:spLocks noGrp="1"/>
          </p:cNvSpPr>
          <p:nvPr>
            <p:ph type="sldNum" sz="quarter" idx="12"/>
          </p:nvPr>
        </p:nvSpPr>
        <p:spPr/>
        <p:txBody>
          <a:bodyPr/>
          <a:lstStyle/>
          <a:p>
            <a:fld id="{20DA0B75-EC21-4B4E-BC57-321AEC47677F}" type="slidenum">
              <a:rPr lang="en-GB" smtClean="0"/>
              <a:t>‹#›</a:t>
            </a:fld>
            <a:endParaRPr lang="en-GB"/>
          </a:p>
        </p:txBody>
      </p:sp>
    </p:spTree>
    <p:extLst>
      <p:ext uri="{BB962C8B-B14F-4D97-AF65-F5344CB8AC3E}">
        <p14:creationId xmlns:p14="http://schemas.microsoft.com/office/powerpoint/2010/main" val="2866470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47BB2-0347-9D71-C462-D19C1C35B6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B99E00F-FEAD-AEAB-2B99-750AEA6148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1DC26B3-8444-B5EC-993D-4A42C592E0E9}"/>
              </a:ext>
            </a:extLst>
          </p:cNvPr>
          <p:cNvSpPr>
            <a:spLocks noGrp="1"/>
          </p:cNvSpPr>
          <p:nvPr>
            <p:ph type="dt" sz="half" idx="10"/>
          </p:nvPr>
        </p:nvSpPr>
        <p:spPr/>
        <p:txBody>
          <a:bodyPr/>
          <a:lstStyle/>
          <a:p>
            <a:fld id="{1CC9C3B2-8BB1-489F-93B4-2B23A2E5FD72}" type="datetimeFigureOut">
              <a:rPr lang="en-GB" smtClean="0"/>
              <a:t>23/02/2026</a:t>
            </a:fld>
            <a:endParaRPr lang="en-GB"/>
          </a:p>
        </p:txBody>
      </p:sp>
      <p:sp>
        <p:nvSpPr>
          <p:cNvPr id="5" name="Footer Placeholder 4">
            <a:extLst>
              <a:ext uri="{FF2B5EF4-FFF2-40B4-BE49-F238E27FC236}">
                <a16:creationId xmlns:a16="http://schemas.microsoft.com/office/drawing/2014/main" id="{0D969C8A-50DB-672F-45EB-B764842643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678C592-BB98-A0F4-4A07-3C1DE14350BD}"/>
              </a:ext>
            </a:extLst>
          </p:cNvPr>
          <p:cNvSpPr>
            <a:spLocks noGrp="1"/>
          </p:cNvSpPr>
          <p:nvPr>
            <p:ph type="sldNum" sz="quarter" idx="12"/>
          </p:nvPr>
        </p:nvSpPr>
        <p:spPr/>
        <p:txBody>
          <a:bodyPr/>
          <a:lstStyle/>
          <a:p>
            <a:fld id="{20DA0B75-EC21-4B4E-BC57-321AEC47677F}" type="slidenum">
              <a:rPr lang="en-GB" smtClean="0"/>
              <a:t>‹#›</a:t>
            </a:fld>
            <a:endParaRPr lang="en-GB"/>
          </a:p>
        </p:txBody>
      </p:sp>
    </p:spTree>
    <p:extLst>
      <p:ext uri="{BB962C8B-B14F-4D97-AF65-F5344CB8AC3E}">
        <p14:creationId xmlns:p14="http://schemas.microsoft.com/office/powerpoint/2010/main" val="984768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230371-E436-5AA0-7198-13AE24EADC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7F79163-9BF0-3A2D-E181-1181877666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6A83CE-78F6-9DA1-0298-EEDBEA05E4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C9C3B2-8BB1-489F-93B4-2B23A2E5FD72}" type="datetimeFigureOut">
              <a:rPr lang="en-GB" smtClean="0"/>
              <a:t>23/02/2026</a:t>
            </a:fld>
            <a:endParaRPr lang="en-GB"/>
          </a:p>
        </p:txBody>
      </p:sp>
      <p:sp>
        <p:nvSpPr>
          <p:cNvPr id="5" name="Footer Placeholder 4">
            <a:extLst>
              <a:ext uri="{FF2B5EF4-FFF2-40B4-BE49-F238E27FC236}">
                <a16:creationId xmlns:a16="http://schemas.microsoft.com/office/drawing/2014/main" id="{6F819830-6D68-7F35-BAB8-05AA8C0B1E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861D905-69F9-ED8B-4C2F-5AEEF79CCB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DA0B75-EC21-4B4E-BC57-321AEC47677F}" type="slidenum">
              <a:rPr lang="en-GB" smtClean="0"/>
              <a:t>‹#›</a:t>
            </a:fld>
            <a:endParaRPr lang="en-GB"/>
          </a:p>
        </p:txBody>
      </p:sp>
    </p:spTree>
    <p:extLst>
      <p:ext uri="{BB962C8B-B14F-4D97-AF65-F5344CB8AC3E}">
        <p14:creationId xmlns:p14="http://schemas.microsoft.com/office/powerpoint/2010/main" val="576008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ight Triangle 39">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39449-7288-5BE1-576E-9ED0168C0B6E}"/>
              </a:ext>
            </a:extLst>
          </p:cNvPr>
          <p:cNvSpPr>
            <a:spLocks noGrp="1"/>
          </p:cNvSpPr>
          <p:nvPr>
            <p:ph type="ctrTitle"/>
          </p:nvPr>
        </p:nvSpPr>
        <p:spPr>
          <a:xfrm>
            <a:off x="1285241" y="1008993"/>
            <a:ext cx="9231410" cy="3542045"/>
          </a:xfrm>
        </p:spPr>
        <p:txBody>
          <a:bodyPr anchor="b">
            <a:normAutofit/>
          </a:bodyPr>
          <a:lstStyle/>
          <a:p>
            <a:pPr algn="l"/>
            <a:br>
              <a:rPr lang="en-GB" sz="3700"/>
            </a:br>
            <a:br>
              <a:rPr lang="en-GB" sz="3700"/>
            </a:br>
            <a:r>
              <a:rPr lang="en-GB" sz="3700"/>
              <a:t>AI - Anarchy or Abundance: Why The Future of Work Needs Pro-Human Leaders</a:t>
            </a:r>
            <a:br>
              <a:rPr lang="en-GB" sz="3700"/>
            </a:br>
            <a:endParaRPr lang="en-GB" sz="3700"/>
          </a:p>
        </p:txBody>
      </p:sp>
      <p:sp>
        <p:nvSpPr>
          <p:cNvPr id="3" name="Subtitle 2">
            <a:extLst>
              <a:ext uri="{FF2B5EF4-FFF2-40B4-BE49-F238E27FC236}">
                <a16:creationId xmlns:a16="http://schemas.microsoft.com/office/drawing/2014/main" id="{B458A286-9A7C-FEA3-ABE8-FDC21E115473}"/>
              </a:ext>
            </a:extLst>
          </p:cNvPr>
          <p:cNvSpPr>
            <a:spLocks noGrp="1"/>
          </p:cNvSpPr>
          <p:nvPr>
            <p:ph type="subTitle" idx="1"/>
          </p:nvPr>
        </p:nvSpPr>
        <p:spPr>
          <a:xfrm>
            <a:off x="1285241" y="4582814"/>
            <a:ext cx="7132335" cy="1312657"/>
          </a:xfrm>
        </p:spPr>
        <p:txBody>
          <a:bodyPr anchor="t">
            <a:normAutofit/>
          </a:bodyPr>
          <a:lstStyle/>
          <a:p>
            <a:pPr algn="l"/>
            <a:r>
              <a:rPr lang="en-GB"/>
              <a:t>Rob Garlick</a:t>
            </a:r>
          </a:p>
        </p:txBody>
      </p:sp>
    </p:spTree>
    <p:extLst>
      <p:ext uri="{BB962C8B-B14F-4D97-AF65-F5344CB8AC3E}">
        <p14:creationId xmlns:p14="http://schemas.microsoft.com/office/powerpoint/2010/main" val="635901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76C28B-ACF7-7F4C-58BA-19F442CFA5C6}"/>
              </a:ext>
            </a:extLst>
          </p:cNvPr>
          <p:cNvSpPr>
            <a:spLocks noGrp="1"/>
          </p:cNvSpPr>
          <p:nvPr>
            <p:ph type="title"/>
          </p:nvPr>
        </p:nvSpPr>
        <p:spPr>
          <a:xfrm>
            <a:off x="4654296" y="329184"/>
            <a:ext cx="6894576" cy="1783080"/>
          </a:xfrm>
          <a:prstGeom prst="ellipse">
            <a:avLst/>
          </a:prstGeom>
        </p:spPr>
        <p:txBody>
          <a:bodyPr vert="horz" lIns="91440" tIns="45720" rIns="91440" bIns="45720" rtlCol="0" anchor="b">
            <a:normAutofit/>
          </a:bodyPr>
          <a:lstStyle/>
          <a:p>
            <a:r>
              <a:rPr lang="en-US" sz="5400" kern="1200">
                <a:latin typeface="+mj-lt"/>
                <a:ea typeface="+mj-ea"/>
                <a:cs typeface="+mj-cs"/>
              </a:rPr>
              <a:t> </a:t>
            </a:r>
          </a:p>
        </p:txBody>
      </p:sp>
      <p:pic>
        <p:nvPicPr>
          <p:cNvPr id="5" name="Content Placeholder 4">
            <a:extLst>
              <a:ext uri="{FF2B5EF4-FFF2-40B4-BE49-F238E27FC236}">
                <a16:creationId xmlns:a16="http://schemas.microsoft.com/office/drawing/2014/main" id="{41566C73-FF42-EF37-5F1B-5BAB9513527F}"/>
              </a:ext>
            </a:extLst>
          </p:cNvPr>
          <p:cNvPicPr>
            <a:picLocks noChangeAspect="1"/>
          </p:cNvPicPr>
          <p:nvPr/>
        </p:nvPicPr>
        <p:blipFill>
          <a:blip r:embed="rId2">
            <a:extLst>
              <a:ext uri="{28A0092B-C50C-407E-A947-70E740481C1C}">
                <a14:useLocalDpi xmlns:a14="http://schemas.microsoft.com/office/drawing/2010/main" val="0"/>
              </a:ext>
            </a:extLst>
          </a:blip>
          <a:srcRect l="3597" r="5142"/>
          <a:stretch>
            <a:fillRect/>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23"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15">
            <a:extLst>
              <a:ext uri="{FF2B5EF4-FFF2-40B4-BE49-F238E27FC236}">
                <a16:creationId xmlns:a16="http://schemas.microsoft.com/office/drawing/2014/main" id="{D3DB8929-B10B-98F3-9BA7-9E1C48C4D954}"/>
              </a:ext>
            </a:extLst>
          </p:cNvPr>
          <p:cNvSpPr>
            <a:spLocks noGrp="1"/>
          </p:cNvSpPr>
          <p:nvPr>
            <p:ph idx="1"/>
          </p:nvPr>
        </p:nvSpPr>
        <p:spPr>
          <a:xfrm>
            <a:off x="4654296" y="2706624"/>
            <a:ext cx="6894576" cy="3483864"/>
          </a:xfrm>
        </p:spPr>
        <p:txBody>
          <a:bodyPr>
            <a:normAutofit/>
          </a:bodyPr>
          <a:lstStyle/>
          <a:p>
            <a:r>
              <a:rPr lang="en-GB" sz="2200" b="1"/>
              <a:t>AI workers will outnumber human workers within two decades—transforming work faster than societies are ready for.</a:t>
            </a:r>
            <a:endParaRPr lang="en-US" sz="2200"/>
          </a:p>
        </p:txBody>
      </p:sp>
    </p:spTree>
    <p:extLst>
      <p:ext uri="{BB962C8B-B14F-4D97-AF65-F5344CB8AC3E}">
        <p14:creationId xmlns:p14="http://schemas.microsoft.com/office/powerpoint/2010/main" val="2576422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3839CB-B6E1-B4D7-6986-A0AD0ABD275A}"/>
              </a:ext>
            </a:extLst>
          </p:cNvPr>
          <p:cNvSpPr>
            <a:spLocks noGrp="1"/>
          </p:cNvSpPr>
          <p:nvPr>
            <p:ph type="title"/>
          </p:nvPr>
        </p:nvSpPr>
        <p:spPr>
          <a:xfrm>
            <a:off x="761803" y="350196"/>
            <a:ext cx="4646904" cy="1624520"/>
          </a:xfrm>
        </p:spPr>
        <p:txBody>
          <a:bodyPr anchor="ctr">
            <a:normAutofit/>
          </a:bodyPr>
          <a:lstStyle/>
          <a:p>
            <a:r>
              <a:rPr lang="en-GB" sz="4000"/>
              <a:t> </a:t>
            </a:r>
          </a:p>
        </p:txBody>
      </p:sp>
      <p:sp>
        <p:nvSpPr>
          <p:cNvPr id="3" name="Content Placeholder 2">
            <a:extLst>
              <a:ext uri="{FF2B5EF4-FFF2-40B4-BE49-F238E27FC236}">
                <a16:creationId xmlns:a16="http://schemas.microsoft.com/office/drawing/2014/main" id="{16B8CC83-E68E-591F-933B-5215CF200F56}"/>
              </a:ext>
            </a:extLst>
          </p:cNvPr>
          <p:cNvSpPr>
            <a:spLocks noGrp="1"/>
          </p:cNvSpPr>
          <p:nvPr>
            <p:ph idx="1"/>
          </p:nvPr>
        </p:nvSpPr>
        <p:spPr>
          <a:xfrm>
            <a:off x="761802" y="1631092"/>
            <a:ext cx="4646905" cy="4725257"/>
          </a:xfrm>
        </p:spPr>
        <p:txBody>
          <a:bodyPr anchor="ctr">
            <a:normAutofit/>
          </a:bodyPr>
          <a:lstStyle/>
          <a:p>
            <a:r>
              <a:rPr lang="en-GB" sz="2000" dirty="0"/>
              <a:t>Enacting solutions so AI benefits most is not a technology question; it's a leadership question. </a:t>
            </a:r>
          </a:p>
          <a:p>
            <a:r>
              <a:rPr lang="en-GB" sz="2000" dirty="0"/>
              <a:t>The natural path favours machines and profits, so leaders must balance this with pro-human thinking, not by rejecting AI but by shaping how it's deployed.</a:t>
            </a:r>
          </a:p>
        </p:txBody>
      </p:sp>
      <p:pic>
        <p:nvPicPr>
          <p:cNvPr id="5" name="Picture 4" descr="A 3D pattern of ring shapes connected by lines">
            <a:extLst>
              <a:ext uri="{FF2B5EF4-FFF2-40B4-BE49-F238E27FC236}">
                <a16:creationId xmlns:a16="http://schemas.microsoft.com/office/drawing/2014/main" id="{B73083FC-9EBE-38B8-1408-92739CC725F7}"/>
              </a:ext>
            </a:extLst>
          </p:cNvPr>
          <p:cNvPicPr>
            <a:picLocks noChangeAspect="1"/>
          </p:cNvPicPr>
          <p:nvPr/>
        </p:nvPicPr>
        <p:blipFill>
          <a:blip r:embed="rId2"/>
          <a:srcRect l="8611" r="41333"/>
          <a:stretch>
            <a:fillRect/>
          </a:stretch>
        </p:blipFill>
        <p:spPr>
          <a:xfrm>
            <a:off x="6096000" y="1"/>
            <a:ext cx="6102825" cy="6858000"/>
          </a:xfrm>
          <a:prstGeom prst="rect">
            <a:avLst/>
          </a:prstGeom>
        </p:spPr>
      </p:pic>
    </p:spTree>
    <p:extLst>
      <p:ext uri="{BB962C8B-B14F-4D97-AF65-F5344CB8AC3E}">
        <p14:creationId xmlns:p14="http://schemas.microsoft.com/office/powerpoint/2010/main" val="2188794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B1F3B74-DF0E-4446-4F92-C4FDA7383213}"/>
              </a:ext>
            </a:extLst>
          </p:cNvPr>
          <p:cNvPicPr>
            <a:picLocks noChangeAspect="1"/>
          </p:cNvPicPr>
          <p:nvPr/>
        </p:nvPicPr>
        <p:blipFill>
          <a:blip r:embed="rId2"/>
          <a:srcRect l="3924" r="43416" b="-2"/>
          <a:stretch>
            <a:fillRect/>
          </a:stretch>
        </p:blipFill>
        <p:spPr>
          <a:xfrm>
            <a:off x="-1" y="0"/>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DA3228-6860-663B-CE45-52A6C94011A1}"/>
              </a:ext>
            </a:extLst>
          </p:cNvPr>
          <p:cNvSpPr>
            <a:spLocks noGrp="1"/>
          </p:cNvSpPr>
          <p:nvPr>
            <p:ph type="title"/>
          </p:nvPr>
        </p:nvSpPr>
        <p:spPr>
          <a:xfrm>
            <a:off x="6115317" y="405685"/>
            <a:ext cx="5464968" cy="1559301"/>
          </a:xfrm>
        </p:spPr>
        <p:txBody>
          <a:bodyPr>
            <a:normAutofit/>
          </a:bodyPr>
          <a:lstStyle/>
          <a:p>
            <a:r>
              <a:rPr lang="en-GB" sz="4000" dirty="0"/>
              <a:t> </a:t>
            </a:r>
          </a:p>
        </p:txBody>
      </p:sp>
      <p:sp>
        <p:nvSpPr>
          <p:cNvPr id="3" name="Content Placeholder 2">
            <a:extLst>
              <a:ext uri="{FF2B5EF4-FFF2-40B4-BE49-F238E27FC236}">
                <a16:creationId xmlns:a16="http://schemas.microsoft.com/office/drawing/2014/main" id="{BB538A96-A3A0-DD87-BB42-A0D6F641CA9F}"/>
              </a:ext>
            </a:extLst>
          </p:cNvPr>
          <p:cNvSpPr>
            <a:spLocks noGrp="1"/>
          </p:cNvSpPr>
          <p:nvPr>
            <p:ph idx="1"/>
          </p:nvPr>
        </p:nvSpPr>
        <p:spPr>
          <a:xfrm>
            <a:off x="6115317" y="2743200"/>
            <a:ext cx="5247340" cy="3496878"/>
          </a:xfrm>
        </p:spPr>
        <p:txBody>
          <a:bodyPr anchor="ctr">
            <a:normAutofit/>
          </a:bodyPr>
          <a:lstStyle/>
          <a:p>
            <a:r>
              <a:rPr lang="en-GB" dirty="0"/>
              <a:t>Currently Robots are less than 1% of human population, prediction of book is that robots will out- number human workers by 2 decades</a:t>
            </a:r>
          </a:p>
        </p:txBody>
      </p:sp>
    </p:spTree>
    <p:extLst>
      <p:ext uri="{BB962C8B-B14F-4D97-AF65-F5344CB8AC3E}">
        <p14:creationId xmlns:p14="http://schemas.microsoft.com/office/powerpoint/2010/main" val="244923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FB3E7B-AC14-9C82-514A-C9484C6446F8}"/>
              </a:ext>
            </a:extLst>
          </p:cNvPr>
          <p:cNvSpPr>
            <a:spLocks noGrp="1"/>
          </p:cNvSpPr>
          <p:nvPr>
            <p:ph type="title"/>
          </p:nvPr>
        </p:nvSpPr>
        <p:spPr>
          <a:xfrm>
            <a:off x="630936" y="640823"/>
            <a:ext cx="3419856" cy="5583148"/>
          </a:xfrm>
        </p:spPr>
        <p:txBody>
          <a:bodyPr anchor="ctr">
            <a:normAutofit/>
          </a:bodyPr>
          <a:lstStyle/>
          <a:p>
            <a:r>
              <a:rPr lang="en-GB" sz="5400"/>
              <a:t>Example McKinsey</a:t>
            </a:r>
          </a:p>
        </p:txBody>
      </p:sp>
      <p:sp>
        <p:nvSpPr>
          <p:cNvPr id="1033"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Mckinsey hi-res stock photography and images - Alamy">
            <a:extLst>
              <a:ext uri="{FF2B5EF4-FFF2-40B4-BE49-F238E27FC236}">
                <a16:creationId xmlns:a16="http://schemas.microsoft.com/office/drawing/2014/main" id="{6BC7226C-1F84-5769-875B-4FD4C3C500A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6" y="630936"/>
            <a:ext cx="6425760" cy="391363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95A7CF6-88ED-DC3E-4DAA-AFA897987369}"/>
              </a:ext>
            </a:extLst>
          </p:cNvPr>
          <p:cNvSpPr>
            <a:spLocks noGrp="1"/>
          </p:cNvSpPr>
          <p:nvPr>
            <p:ph idx="1"/>
          </p:nvPr>
        </p:nvSpPr>
        <p:spPr>
          <a:xfrm>
            <a:off x="4654296" y="4798577"/>
            <a:ext cx="6894576" cy="1428487"/>
          </a:xfrm>
        </p:spPr>
        <p:txBody>
          <a:bodyPr anchor="t">
            <a:normAutofit fontScale="92500" lnSpcReduction="20000"/>
          </a:bodyPr>
          <a:lstStyle/>
          <a:p>
            <a:r>
              <a:rPr lang="en-GB" sz="2400" dirty="0"/>
              <a:t>Current workforce, 40,000 people</a:t>
            </a:r>
          </a:p>
          <a:p>
            <a:r>
              <a:rPr lang="en-GB" sz="2400" dirty="0"/>
              <a:t>18 months ago, they had 3000 agents</a:t>
            </a:r>
          </a:p>
          <a:p>
            <a:r>
              <a:rPr lang="en-GB" sz="2400" dirty="0"/>
              <a:t>Today 20,000 agents</a:t>
            </a:r>
          </a:p>
          <a:p>
            <a:r>
              <a:rPr lang="en-GB" sz="2400" dirty="0" err="1"/>
              <a:t>Presictict</a:t>
            </a:r>
            <a:r>
              <a:rPr lang="en-GB" sz="2400" dirty="0"/>
              <a:t> in 18 months will have 40,000 agents</a:t>
            </a:r>
          </a:p>
          <a:p>
            <a:endParaRPr lang="en-GB" sz="1700" dirty="0"/>
          </a:p>
        </p:txBody>
      </p:sp>
    </p:spTree>
    <p:extLst>
      <p:ext uri="{BB962C8B-B14F-4D97-AF65-F5344CB8AC3E}">
        <p14:creationId xmlns:p14="http://schemas.microsoft.com/office/powerpoint/2010/main" val="116603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FEA2A5-ED7E-B1BD-73B9-A37A927187A9}"/>
              </a:ext>
            </a:extLst>
          </p:cNvPr>
          <p:cNvSpPr>
            <a:spLocks noGrp="1"/>
          </p:cNvSpPr>
          <p:nvPr>
            <p:ph type="title"/>
          </p:nvPr>
        </p:nvSpPr>
        <p:spPr>
          <a:xfrm>
            <a:off x="6657715" y="467271"/>
            <a:ext cx="4195674" cy="2052522"/>
          </a:xfrm>
        </p:spPr>
        <p:txBody>
          <a:bodyPr anchor="b">
            <a:normAutofit/>
          </a:bodyPr>
          <a:lstStyle/>
          <a:p>
            <a:r>
              <a:rPr lang="en-GB" sz="5600"/>
              <a:t>Issues</a:t>
            </a:r>
          </a:p>
        </p:txBody>
      </p:sp>
      <p:sp>
        <p:nvSpPr>
          <p:cNvPr id="2057" name="Oval 2056">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17+ Thousand Worried About Future Royalty-Free Images, Stock ...">
            <a:extLst>
              <a:ext uri="{FF2B5EF4-FFF2-40B4-BE49-F238E27FC236}">
                <a16:creationId xmlns:a16="http://schemas.microsoft.com/office/drawing/2014/main" id="{A70FE2CB-D3AF-2072-8736-7AEA100353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882" r="-1" b="-1"/>
          <a:stretch>
            <a:fillRect/>
          </a:stretch>
        </p:blipFill>
        <p:spPr bwMode="auto">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a:noFill/>
          <a:extLst>
            <a:ext uri="{909E8E84-426E-40DD-AFC4-6F175D3DCCD1}">
              <a14:hiddenFill xmlns:a14="http://schemas.microsoft.com/office/drawing/2010/main">
                <a:solidFill>
                  <a:srgbClr val="FFFFFF"/>
                </a:solidFill>
              </a14:hiddenFill>
            </a:ext>
          </a:extLst>
        </p:spPr>
      </p:pic>
      <p:sp>
        <p:nvSpPr>
          <p:cNvPr id="2059"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2061"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E38B97EB-AC64-A507-E8A8-5D5CA3BB92E6}"/>
              </a:ext>
            </a:extLst>
          </p:cNvPr>
          <p:cNvSpPr>
            <a:spLocks noGrp="1"/>
          </p:cNvSpPr>
          <p:nvPr>
            <p:ph idx="1"/>
          </p:nvPr>
        </p:nvSpPr>
        <p:spPr>
          <a:xfrm>
            <a:off x="6657715" y="2990818"/>
            <a:ext cx="4195673" cy="2913872"/>
          </a:xfrm>
        </p:spPr>
        <p:txBody>
          <a:bodyPr anchor="t">
            <a:normAutofit/>
          </a:bodyPr>
          <a:lstStyle/>
          <a:p>
            <a:r>
              <a:rPr lang="en-GB" sz="2000" dirty="0">
                <a:solidFill>
                  <a:schemeClr val="tx1">
                    <a:alpha val="80000"/>
                  </a:schemeClr>
                </a:solidFill>
              </a:rPr>
              <a:t>Workers worried about their jobs. CEOs, board members juggling investor expectations and employee </a:t>
            </a:r>
            <a:r>
              <a:rPr lang="en-GB" sz="2000">
                <a:solidFill>
                  <a:schemeClr val="tx1">
                    <a:alpha val="80000"/>
                  </a:schemeClr>
                </a:solidFill>
              </a:rPr>
              <a:t>anxiety.</a:t>
            </a:r>
          </a:p>
          <a:p>
            <a:r>
              <a:rPr lang="en-GB" sz="2000">
                <a:solidFill>
                  <a:schemeClr val="tx1">
                    <a:alpha val="80000"/>
                  </a:schemeClr>
                </a:solidFill>
              </a:rPr>
              <a:t>Politicians </a:t>
            </a:r>
            <a:r>
              <a:rPr lang="en-GB" sz="2000" dirty="0">
                <a:solidFill>
                  <a:schemeClr val="tx1">
                    <a:alpha val="80000"/>
                  </a:schemeClr>
                </a:solidFill>
              </a:rPr>
              <a:t>trying to keep economies competitive without breaking the social contract.</a:t>
            </a:r>
          </a:p>
        </p:txBody>
      </p:sp>
      <p:sp>
        <p:nvSpPr>
          <p:cNvPr id="2063"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2065"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6719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33C0E7F-0A17-106A-B9B2-4AEF66FC56EC}"/>
              </a:ext>
            </a:extLst>
          </p:cNvPr>
          <p:cNvSpPr>
            <a:spLocks noGrp="1"/>
          </p:cNvSpPr>
          <p:nvPr>
            <p:ph type="title"/>
          </p:nvPr>
        </p:nvSpPr>
        <p:spPr>
          <a:xfrm>
            <a:off x="3027924" y="991261"/>
            <a:ext cx="5754696" cy="1837349"/>
          </a:xfrm>
        </p:spPr>
        <p:txBody>
          <a:bodyPr>
            <a:normAutofit/>
          </a:bodyPr>
          <a:lstStyle/>
          <a:p>
            <a:pPr algn="ctr"/>
            <a:endParaRPr lang="en-GB" sz="3600" dirty="0">
              <a:solidFill>
                <a:schemeClr val="tx2"/>
              </a:solidFill>
            </a:endParaRPr>
          </a:p>
        </p:txBody>
      </p:sp>
      <p:sp>
        <p:nvSpPr>
          <p:cNvPr id="3" name="Content Placeholder 2">
            <a:extLst>
              <a:ext uri="{FF2B5EF4-FFF2-40B4-BE49-F238E27FC236}">
                <a16:creationId xmlns:a16="http://schemas.microsoft.com/office/drawing/2014/main" id="{6A70567F-654C-BC90-8B99-15D3E263AFCD}"/>
              </a:ext>
            </a:extLst>
          </p:cNvPr>
          <p:cNvSpPr>
            <a:spLocks noGrp="1"/>
          </p:cNvSpPr>
          <p:nvPr>
            <p:ph idx="1"/>
          </p:nvPr>
        </p:nvSpPr>
        <p:spPr>
          <a:xfrm>
            <a:off x="3050412" y="2979336"/>
            <a:ext cx="5709721" cy="2430864"/>
          </a:xfrm>
        </p:spPr>
        <p:txBody>
          <a:bodyPr anchor="t">
            <a:normAutofit/>
          </a:bodyPr>
          <a:lstStyle/>
          <a:p>
            <a:r>
              <a:rPr lang="en-GB" sz="1300">
                <a:solidFill>
                  <a:schemeClr val="tx2"/>
                </a:solidFill>
              </a:rPr>
              <a:t>If you are responsible for people, you are already pulled in two directions: the promise of productivity versus anxiety about what happens when non-human workers scale faster than our safety nets. This book focuses on that tension and what we can do about it.</a:t>
            </a:r>
          </a:p>
          <a:p>
            <a:r>
              <a:rPr lang="en-GB" sz="1300" b="1">
                <a:solidFill>
                  <a:schemeClr val="tx2"/>
                </a:solidFill>
              </a:rPr>
              <a:t>The stakes are stark.</a:t>
            </a:r>
            <a:r>
              <a:rPr lang="en-GB" sz="1300">
                <a:solidFill>
                  <a:schemeClr val="tx2"/>
                </a:solidFill>
              </a:rPr>
              <a:t> Data is becoming more valuable than people. Capital wins; workers lose. Unmanaged, we face collapsing incomes, shrinking tax bases, and social upheaval, an economic singularity.</a:t>
            </a:r>
          </a:p>
          <a:p>
            <a:r>
              <a:rPr lang="en-GB" sz="1300" b="1">
                <a:solidFill>
                  <a:schemeClr val="tx2"/>
                </a:solidFill>
              </a:rPr>
              <a:t>But book is about solutions</a:t>
            </a:r>
            <a:r>
              <a:rPr lang="en-GB" sz="1300">
                <a:solidFill>
                  <a:schemeClr val="tx2"/>
                </a:solidFill>
              </a:rPr>
              <a:t>—what to ask of leaders as they invest in AI and how to make the right choices so AI's upsides exceed the downsides. Anarchy, "without leadership," is the opposite of what this moment requires.</a:t>
            </a:r>
          </a:p>
          <a:p>
            <a:endParaRPr lang="en-GB" sz="1300">
              <a:solidFill>
                <a:schemeClr val="tx2"/>
              </a:solidFill>
            </a:endParaRP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190676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298</Words>
  <Application>Microsoft Office PowerPoint</Application>
  <PresentationFormat>Widescreen</PresentationFormat>
  <Paragraphs>20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  AI - Anarchy or Abundance: Why The Future of Work Needs Pro-Human Leaders </vt:lpstr>
      <vt:lpstr> </vt:lpstr>
      <vt:lpstr> </vt:lpstr>
      <vt:lpstr> </vt:lpstr>
      <vt:lpstr>Example McKinsey</vt:lpstr>
      <vt:lpstr>Issues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Clare Branigan</dc:creator>
  <cp:lastModifiedBy>Clare Branigan</cp:lastModifiedBy>
  <cp:revision>1</cp:revision>
  <dcterms:created xsi:type="dcterms:W3CDTF">2026-02-23T09:14:50Z</dcterms:created>
  <dcterms:modified xsi:type="dcterms:W3CDTF">2026-02-23T09:29:25Z</dcterms:modified>
</cp:coreProperties>
</file>