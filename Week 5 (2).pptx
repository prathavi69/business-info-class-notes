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74" r:id="rId6"/>
    <p:sldId id="260" r:id="rId7"/>
    <p:sldId id="261" r:id="rId8"/>
    <p:sldId id="262" r:id="rId9"/>
    <p:sldId id="263" r:id="rId10"/>
    <p:sldId id="264" r:id="rId11"/>
    <p:sldId id="265" r:id="rId12"/>
    <p:sldId id="266" r:id="rId13"/>
    <p:sldId id="267" r:id="rId14"/>
    <p:sldId id="268" r:id="rId15"/>
    <p:sldId id="269" r:id="rId16"/>
    <p:sldId id="272" r:id="rId17"/>
    <p:sldId id="27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60"/>
    <p:restoredTop sz="94610"/>
  </p:normalViewPr>
  <p:slideViewPr>
    <p:cSldViewPr snapToGrid="0" snapToObjects="1">
      <p:cViewPr varScale="1">
        <p:scale>
          <a:sx n="149" d="100"/>
          <a:sy n="149" d="100"/>
        </p:scale>
        <p:origin x="192"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987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Morning everyone — For anyone who missed last weeks class </a:t>
            </a:r>
            <a:r>
              <a:rPr lang="en-US" sz="1200" kern="1200" dirty="0" err="1">
                <a:solidFill>
                  <a:schemeClr val="tx1"/>
                </a:solidFill>
                <a:effectLst/>
                <a:latin typeface="+mn-lt"/>
                <a:ea typeface="+mn-ea"/>
                <a:cs typeface="+mn-cs"/>
              </a:rPr>
              <a:t>i'll</a:t>
            </a:r>
            <a:r>
              <a:rPr lang="en-US" sz="1200" kern="1200" dirty="0">
                <a:solidFill>
                  <a:schemeClr val="tx1"/>
                </a:solidFill>
                <a:effectLst/>
                <a:latin typeface="+mn-lt"/>
                <a:ea typeface="+mn-ea"/>
                <a:cs typeface="+mn-cs"/>
              </a:rPr>
              <a:t> be your guest lecturer tom </a:t>
            </a:r>
            <a:r>
              <a:rPr lang="en-US" sz="1200" kern="1200" dirty="0" err="1">
                <a:solidFill>
                  <a:schemeClr val="tx1"/>
                </a:solidFill>
                <a:effectLst/>
                <a:latin typeface="+mn-lt"/>
                <a:ea typeface="+mn-ea"/>
                <a:cs typeface="+mn-cs"/>
              </a:rPr>
              <a:t>hughes</a:t>
            </a:r>
            <a:r>
              <a:rPr lang="en-US" sz="1200" kern="1200" dirty="0">
                <a:solidFill>
                  <a:schemeClr val="tx1"/>
                </a:solidFill>
                <a:effectLst/>
                <a:latin typeface="+mn-lt"/>
                <a:ea typeface="+mn-ea"/>
                <a:cs typeface="+mn-cs"/>
              </a:rPr>
              <a:t> and well be continuing on with our work on LLM's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Today we'll be focusing on how to get consistently good results from LLM's in practice.</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main idea is simple: you don’t “freestyle” prompts. You use templates, like forms.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You copy/paste the structure and fill in the blanks.</a:t>
            </a:r>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By the end, you should be able to:</a:t>
            </a:r>
            <a:endParaRPr lang="en-AU"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pick the right prompt structure for the task</a:t>
            </a:r>
            <a:r>
              <a:rPr lang="en-AU" sz="1200" kern="1200" dirty="0">
                <a:solidFill>
                  <a:schemeClr val="tx1"/>
                </a:solidFill>
                <a:effectLst/>
                <a:latin typeface="+mn-lt"/>
                <a:ea typeface="+mn-ea"/>
                <a:cs typeface="+mn-cs"/>
              </a:rPr>
              <a:t> and </a:t>
            </a:r>
            <a:r>
              <a:rPr lang="en-US" sz="1200" kern="1200" dirty="0">
                <a:solidFill>
                  <a:schemeClr val="tx1"/>
                </a:solidFill>
                <a:effectLst/>
                <a:latin typeface="+mn-lt"/>
                <a:ea typeface="+mn-ea"/>
                <a:cs typeface="+mn-cs"/>
              </a:rPr>
              <a:t>fill it quickly without overthinking</a:t>
            </a:r>
            <a:endParaRPr lang="en-AU"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we jump into templates, lets just do a quick recap of last week.</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First: tokens. The model doesn’t read your prompt as whole words — it reads it as chunks. When you change wording, you often change the token pattern (what chunks appear and where). That can change what the model treats as the main instruction — so two prompts that feel the same to you can lead to different outputs.</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Second: context window. The model can only use what it can “see” in the current window — your prompt, the recent chat, and what it’s already written. If key details aren’t included, it will either ask, or more commonly it will fill the gaps with assumptions.</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Third: attention. Inside that window, the model focuses more on some parts than others. Clear structure, repeated constraints, and recent text usually carries more weight. If an important requirement is buried or vague, it can be missed.</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finally: next-token generation. It generates one token at a time. If it starts with a wrong assumption, the rest of the answer often builds on it, because each next step is chosen to stay coherent with what it already produced.</a:t>
            </a:r>
          </a:p>
          <a:p>
            <a:endParaRPr lang="en-AU" sz="1200" kern="1200" dirty="0">
              <a:solidFill>
                <a:schemeClr val="tx1"/>
              </a:solidFill>
              <a:effectLst/>
              <a:latin typeface="+mn-lt"/>
              <a:ea typeface="+mn-ea"/>
              <a:cs typeface="+mn-cs"/>
            </a:endParaRPr>
          </a:p>
          <a:p>
            <a:r>
              <a:rPr lang="en-AU" dirty="0"/>
              <a:t>Include the key context, and don’t make it guess — clarity and structure are what make prompts reliable.</a:t>
            </a:r>
            <a:endParaRPr lang="en-AU"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Most people treat prompting like “how do I word this nicely?”</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the more reliable approach is: use a reusable structure.</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Think of it like: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don’t write an essay without a structure</a:t>
            </a:r>
            <a:endParaRPr lang="en-AU"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you don’t write code without patterns</a:t>
            </a:r>
            <a:endParaRPr lang="en-AU"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you don’t do </a:t>
            </a:r>
            <a:r>
              <a:rPr lang="en-US" sz="1200" kern="1200" dirty="0" err="1">
                <a:solidFill>
                  <a:schemeClr val="tx1"/>
                </a:solidFill>
                <a:effectLst/>
                <a:latin typeface="+mn-lt"/>
                <a:ea typeface="+mn-ea"/>
                <a:cs typeface="+mn-cs"/>
              </a:rPr>
              <a:t>maths</a:t>
            </a:r>
            <a:r>
              <a:rPr lang="en-US" sz="1200" kern="1200" dirty="0">
                <a:solidFill>
                  <a:schemeClr val="tx1"/>
                </a:solidFill>
                <a:effectLst/>
                <a:latin typeface="+mn-lt"/>
                <a:ea typeface="+mn-ea"/>
                <a:cs typeface="+mn-cs"/>
              </a:rPr>
              <a:t> without a formula</a:t>
            </a:r>
          </a:p>
          <a:p>
            <a:pPr lvl="0"/>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Prompting is the same.</a:t>
            </a:r>
          </a:p>
          <a:p>
            <a:endParaRPr lang="en-AU"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the one you can use for about 80% of tasks.</a:t>
            </a:r>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Prompt = [ROLE] + [TASK] + [CONTEXT] + [CONSTRAINTS] + [OUTPUT] (+ [CHECKS])</a:t>
            </a:r>
            <a:endParaRPr lang="en-AU" sz="1200" kern="1200" dirty="0">
              <a:solidFill>
                <a:schemeClr val="tx1"/>
              </a:solidFill>
              <a:effectLst/>
              <a:latin typeface="+mn-lt"/>
              <a:ea typeface="+mn-ea"/>
              <a:cs typeface="+mn-cs"/>
            </a:endParaRP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Role: who the model is acting as. This is optional, but useful when you want a certain style — like “tutor”, “editor”, “analyst”.</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Task: what you want it to do, and what “good” looks like.</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Context: the facts, inputs, or background it should use — paste the paragraph, the notes or the code.</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Constraints: tone, length, scope, what to include, what to avoid.</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Output: force structure so the answer is usable — table, bullets, headings, steps.</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Checks: list assumptions, flag uncertainty, quick verification checklist.</a:t>
            </a:r>
          </a:p>
          <a:p>
            <a:endParaRPr lang="en-AU"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Key point: most weak prompts are missing Context, Constraints, or Output format. Templates force you to include them.</a:t>
            </a:r>
            <a:endParaRPr lang="en-AU"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2F789-2CB8-AF91-3568-1CA1C15DE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D2521-FFF7-B5F4-AE9D-E74B6051D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78CA9-D350-9C10-EC5A-8A35A2BC3D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279DD7-8A68-24BB-E47E-EDC6D62F33D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88711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Different tasks need different structures.</a:t>
            </a:r>
          </a:p>
          <a:p>
            <a:endParaRPr lang="en-AU" dirty="0"/>
          </a:p>
          <a:p>
            <a:r>
              <a:rPr lang="en-AU" dirty="0"/>
              <a:t>As LLM’s are looking for different things, for example </a:t>
            </a:r>
          </a:p>
          <a:p>
            <a:endParaRPr lang="en-AU" b="1" dirty="0"/>
          </a:p>
          <a:p>
            <a:r>
              <a:rPr lang="en-AU" b="1" dirty="0"/>
              <a:t>a study plan needs time, level and goals</a:t>
            </a:r>
          </a:p>
          <a:p>
            <a:endParaRPr lang="en-AU" b="1" dirty="0"/>
          </a:p>
          <a:p>
            <a:r>
              <a:rPr lang="en-AU" dirty="0"/>
              <a:t>A </a:t>
            </a:r>
            <a:r>
              <a:rPr lang="en-AU" b="1" dirty="0"/>
              <a:t>summary needs the text plus the exact outputs you want</a:t>
            </a:r>
          </a:p>
          <a:p>
            <a:endParaRPr lang="en-AU" b="1" dirty="0"/>
          </a:p>
          <a:p>
            <a:r>
              <a:rPr lang="en-AU" b="1" dirty="0"/>
              <a:t>debugging needs the code, error message, environment, and tests</a:t>
            </a:r>
          </a:p>
          <a:p>
            <a:endParaRPr lang="en-AU" b="1" dirty="0"/>
          </a:p>
          <a:p>
            <a:r>
              <a:rPr lang="en-AU" dirty="0"/>
              <a:t>so using the right template stops the model guessing and makes the result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a:t>
            </a:r>
            <a:endParaRPr lang="en-US" sz="1200" dirty="0"/>
          </a:p>
        </p:txBody>
      </p:sp>
      <p:sp>
        <p:nvSpPr>
          <p:cNvPr id="10" name="Text 8"/>
          <p:cNvSpPr/>
          <p:nvPr/>
        </p:nvSpPr>
        <p:spPr>
          <a:xfrm>
            <a:off x="658368" y="1783080"/>
            <a:ext cx="10972800" cy="822960"/>
          </a:xfrm>
          <a:prstGeom prst="rect">
            <a:avLst/>
          </a:prstGeom>
          <a:noFill/>
          <a:ln/>
        </p:spPr>
        <p:txBody>
          <a:bodyPr wrap="square" rtlCol="0" anchor="ctr"/>
          <a:lstStyle/>
          <a:p>
            <a:pPr marL="0" indent="0">
              <a:buNone/>
            </a:pPr>
            <a:r>
              <a:rPr lang="en-US" sz="4400" dirty="0">
                <a:solidFill>
                  <a:srgbClr val="111827"/>
                </a:solidFill>
                <a:latin typeface="Aptos" pitchFamily="34" charset="0"/>
                <a:ea typeface="Aptos" pitchFamily="34" charset="-122"/>
                <a:cs typeface="Aptos" pitchFamily="34" charset="-120"/>
              </a:rPr>
              <a:t>Prompting for LLMs</a:t>
            </a:r>
            <a:endParaRPr lang="en-US" sz="4400" dirty="0"/>
          </a:p>
        </p:txBody>
      </p:sp>
      <p:sp>
        <p:nvSpPr>
          <p:cNvPr id="11" name="Text 9"/>
          <p:cNvSpPr/>
          <p:nvPr/>
        </p:nvSpPr>
        <p:spPr>
          <a:xfrm>
            <a:off x="658368" y="2514600"/>
            <a:ext cx="10972800" cy="548640"/>
          </a:xfrm>
          <a:prstGeom prst="rect">
            <a:avLst/>
          </a:prstGeom>
          <a:noFill/>
          <a:ln/>
        </p:spPr>
        <p:txBody>
          <a:bodyPr wrap="square" rtlCol="0" anchor="ctr"/>
          <a:lstStyle/>
          <a:p>
            <a:pPr marL="0" indent="0">
              <a:buNone/>
            </a:pPr>
            <a:r>
              <a:rPr lang="en-US" sz="2600" dirty="0">
                <a:solidFill>
                  <a:srgbClr val="6B7280"/>
                </a:solidFill>
                <a:latin typeface="Aptos" pitchFamily="34" charset="0"/>
                <a:ea typeface="Aptos" pitchFamily="34" charset="-122"/>
                <a:cs typeface="Aptos" pitchFamily="34" charset="-120"/>
              </a:rPr>
              <a:t>Templates for consistently good results</a:t>
            </a:r>
            <a:endParaRPr lang="en-US" sz="2600" dirty="0"/>
          </a:p>
        </p:txBody>
      </p:sp>
      <p:sp>
        <p:nvSpPr>
          <p:cNvPr id="12" name="Text 10"/>
          <p:cNvSpPr/>
          <p:nvPr/>
        </p:nvSpPr>
        <p:spPr>
          <a:xfrm>
            <a:off x="658368" y="3154680"/>
            <a:ext cx="10972800" cy="457200"/>
          </a:xfrm>
          <a:prstGeom prst="rect">
            <a:avLst/>
          </a:prstGeom>
          <a:noFill/>
          <a:ln/>
        </p:spPr>
        <p:txBody>
          <a:bodyPr wrap="square" rtlCol="0" anchor="ctr"/>
          <a:lstStyle/>
          <a:p>
            <a:pPr marL="0" indent="0">
              <a:buNone/>
            </a:pPr>
            <a:r>
              <a:rPr lang="en-US" sz="2000" dirty="0">
                <a:solidFill>
                  <a:srgbClr val="6B7280"/>
                </a:solidFill>
                <a:latin typeface="Aptos" pitchFamily="34" charset="0"/>
                <a:ea typeface="Aptos" pitchFamily="34" charset="-122"/>
                <a:cs typeface="Aptos" pitchFamily="34" charset="-120"/>
              </a:rPr>
              <a:t>Templates → iteration → verification</a:t>
            </a:r>
            <a:endParaRPr lang="en-US" sz="2000" dirty="0"/>
          </a:p>
        </p:txBody>
      </p:sp>
      <p:sp>
        <p:nvSpPr>
          <p:cNvPr id="13" name="Shape 11"/>
          <p:cNvSpPr/>
          <p:nvPr/>
        </p:nvSpPr>
        <p:spPr>
          <a:xfrm>
            <a:off x="658368" y="3977640"/>
            <a:ext cx="1600200" cy="310896"/>
          </a:xfrm>
          <a:prstGeom prst="roundRect">
            <a:avLst/>
          </a:prstGeom>
          <a:solidFill>
            <a:srgbClr val="227AB4"/>
          </a:solidFill>
          <a:ln w="12700">
            <a:solidFill>
              <a:srgbClr val="227AB4"/>
            </a:solidFill>
            <a:prstDash val="solid"/>
          </a:ln>
        </p:spPr>
        <p:txBody>
          <a:bodyPr/>
          <a:lstStyle/>
          <a:p>
            <a:endParaRPr lang="en-US"/>
          </a:p>
        </p:txBody>
      </p:sp>
      <p:sp>
        <p:nvSpPr>
          <p:cNvPr id="14" name="Text 12"/>
          <p:cNvSpPr/>
          <p:nvPr/>
        </p:nvSpPr>
        <p:spPr>
          <a:xfrm>
            <a:off x="658368" y="4005072"/>
            <a:ext cx="1600200" cy="310896"/>
          </a:xfrm>
          <a:prstGeom prst="rect">
            <a:avLst/>
          </a:prstGeom>
          <a:noFill/>
          <a:ln/>
        </p:spPr>
        <p:txBody>
          <a:bodyPr wrap="square" rtlCol="0" anchor="ctr"/>
          <a:lstStyle/>
          <a:p>
            <a:pPr marL="0" indent="0" algn="ctr">
              <a:buNone/>
            </a:pPr>
            <a:r>
              <a:rPr lang="en-US" sz="1200" dirty="0">
                <a:solidFill>
                  <a:srgbClr val="FFFFFF"/>
                </a:solidFill>
                <a:latin typeface="Aptos" pitchFamily="34" charset="0"/>
                <a:ea typeface="Aptos" pitchFamily="34" charset="-122"/>
                <a:cs typeface="Aptos" pitchFamily="34" charset="-120"/>
              </a:rPr>
              <a:t>Lecture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2/18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2</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Quick recap: why prompts matter</a:t>
            </a:r>
            <a:endParaRPr lang="en-US" sz="3400" dirty="0"/>
          </a:p>
        </p:txBody>
      </p:sp>
      <p:sp>
        <p:nvSpPr>
          <p:cNvPr id="11" name="Text 9"/>
          <p:cNvSpPr/>
          <p:nvPr/>
        </p:nvSpPr>
        <p:spPr>
          <a:xfrm>
            <a:off x="868680" y="1508760"/>
            <a:ext cx="5486400" cy="3566160"/>
          </a:xfrm>
          <a:prstGeom prst="rect">
            <a:avLst/>
          </a:prstGeom>
          <a:noFill/>
          <a:ln/>
        </p:spPr>
        <p:txBody>
          <a:bodyPr wrap="square" rtlCol="0" anchor="t"/>
          <a:lstStyle/>
          <a:p>
            <a:pPr marL="285750" indent="-285750">
              <a:buFont typeface="Arial" panose="020B0604020202020204" pitchFamily="34" charset="0"/>
              <a:buChar char="•"/>
            </a:pPr>
            <a:r>
              <a:rPr lang="en-AU" sz="1600" b="1" dirty="0">
                <a:latin typeface="Aptos" panose="020B0004020202020204" pitchFamily="34" charset="0"/>
              </a:rPr>
              <a:t>Tokens:</a:t>
            </a:r>
            <a:r>
              <a:rPr lang="en-AU" sz="1600" dirty="0">
                <a:latin typeface="Aptos" panose="020B0004020202020204" pitchFamily="34" charset="0"/>
              </a:rPr>
              <a:t> different wording can change the </a:t>
            </a:r>
            <a:r>
              <a:rPr lang="en-AU" sz="1600" i="1" dirty="0">
                <a:latin typeface="Aptos" panose="020B0004020202020204" pitchFamily="34" charset="0"/>
              </a:rPr>
              <a:t>chunks</a:t>
            </a:r>
            <a:r>
              <a:rPr lang="en-AU" sz="1600" dirty="0">
                <a:latin typeface="Aptos" panose="020B0004020202020204" pitchFamily="34" charset="0"/>
              </a:rPr>
              <a:t> the model reads, shifting the result</a:t>
            </a:r>
          </a:p>
          <a:p>
            <a:pPr marL="285750" indent="-285750">
              <a:buFont typeface="Arial" panose="020B0604020202020204" pitchFamily="34" charset="0"/>
              <a:buChar char="•"/>
            </a:pPr>
            <a:r>
              <a:rPr lang="en-AU" sz="1600" b="1" dirty="0">
                <a:latin typeface="Aptos" panose="020B0004020202020204" pitchFamily="34" charset="0"/>
              </a:rPr>
              <a:t>Context window:</a:t>
            </a:r>
            <a:r>
              <a:rPr lang="en-AU" sz="1600" dirty="0">
                <a:latin typeface="Aptos" panose="020B0004020202020204" pitchFamily="34" charset="0"/>
              </a:rPr>
              <a:t> it only uses what’s in view — missing info becomes assumptions</a:t>
            </a:r>
          </a:p>
          <a:p>
            <a:pPr marL="285750" indent="-285750">
              <a:buFont typeface="Arial" panose="020B0604020202020204" pitchFamily="34" charset="0"/>
              <a:buChar char="•"/>
            </a:pPr>
            <a:r>
              <a:rPr lang="en-AU" sz="1600" b="1" dirty="0">
                <a:latin typeface="Aptos" panose="020B0004020202020204" pitchFamily="34" charset="0"/>
              </a:rPr>
              <a:t>Attention:</a:t>
            </a:r>
            <a:r>
              <a:rPr lang="en-AU" sz="1600" dirty="0">
                <a:latin typeface="Aptos" panose="020B0004020202020204" pitchFamily="34" charset="0"/>
              </a:rPr>
              <a:t> clear structure makes key constraints stand out and get followed</a:t>
            </a:r>
          </a:p>
          <a:p>
            <a:pPr marL="285750" indent="-285750">
              <a:buFont typeface="Arial" panose="020B0604020202020204" pitchFamily="34" charset="0"/>
              <a:buChar char="•"/>
            </a:pPr>
            <a:r>
              <a:rPr lang="en-AU" sz="1600" b="1" dirty="0">
                <a:latin typeface="Aptos" panose="020B0004020202020204" pitchFamily="34" charset="0"/>
              </a:rPr>
              <a:t>Next-token loop:</a:t>
            </a:r>
            <a:r>
              <a:rPr lang="en-AU" sz="1600" dirty="0">
                <a:latin typeface="Aptos" panose="020B0004020202020204" pitchFamily="34" charset="0"/>
              </a:rPr>
              <a:t> a wrong early assumption can cascade through the whole answer</a:t>
            </a:r>
          </a:p>
        </p:txBody>
      </p:sp>
      <p:sp>
        <p:nvSpPr>
          <p:cNvPr id="12" name="Shape 10"/>
          <p:cNvSpPr/>
          <p:nvPr/>
        </p:nvSpPr>
        <p:spPr>
          <a:xfrm>
            <a:off x="6812280" y="1600200"/>
            <a:ext cx="2240280" cy="1417320"/>
          </a:xfrm>
          <a:prstGeom prst="roundRect">
            <a:avLst/>
          </a:prstGeom>
          <a:solidFill>
            <a:srgbClr val="DBEAFE"/>
          </a:solidFill>
          <a:ln w="12700">
            <a:solidFill>
              <a:srgbClr val="CBD5E1"/>
            </a:solidFill>
            <a:prstDash val="solid"/>
          </a:ln>
        </p:spPr>
        <p:txBody>
          <a:bodyPr/>
          <a:lstStyle/>
          <a:p>
            <a:endParaRPr lang="en-US"/>
          </a:p>
        </p:txBody>
      </p:sp>
      <p:sp>
        <p:nvSpPr>
          <p:cNvPr id="13" name="Text 11"/>
          <p:cNvSpPr/>
          <p:nvPr/>
        </p:nvSpPr>
        <p:spPr>
          <a:xfrm>
            <a:off x="6976872" y="1737360"/>
            <a:ext cx="1911096"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Tokens</a:t>
            </a:r>
            <a:endParaRPr lang="en-US" sz="1600" dirty="0"/>
          </a:p>
        </p:txBody>
      </p:sp>
      <p:sp>
        <p:nvSpPr>
          <p:cNvPr id="14" name="Text 12"/>
          <p:cNvSpPr/>
          <p:nvPr/>
        </p:nvSpPr>
        <p:spPr>
          <a:xfrm>
            <a:off x="6976872" y="2103120"/>
            <a:ext cx="1911096" cy="731520"/>
          </a:xfrm>
          <a:prstGeom prst="rect">
            <a:avLst/>
          </a:prstGeom>
          <a:noFill/>
          <a:ln/>
        </p:spPr>
        <p:txBody>
          <a:bodyPr wrap="square" rtlCol="0" anchor="ctr"/>
          <a:lstStyle/>
          <a:p>
            <a:pPr marL="0" indent="0">
              <a:buNone/>
            </a:pPr>
            <a:r>
              <a:rPr lang="en-US" sz="1200" dirty="0">
                <a:solidFill>
                  <a:srgbClr val="6B7280"/>
                </a:solidFill>
                <a:latin typeface="Aptos" pitchFamily="34" charset="0"/>
                <a:ea typeface="Aptos" pitchFamily="34" charset="-122"/>
                <a:cs typeface="Aptos" pitchFamily="34" charset="-120"/>
              </a:rPr>
              <a:t>Tiny text chunks</a:t>
            </a:r>
            <a:endParaRPr lang="en-US" sz="1200" dirty="0"/>
          </a:p>
        </p:txBody>
      </p:sp>
      <p:sp>
        <p:nvSpPr>
          <p:cNvPr id="15" name="Shape 13"/>
          <p:cNvSpPr/>
          <p:nvPr/>
        </p:nvSpPr>
        <p:spPr>
          <a:xfrm>
            <a:off x="9281160" y="1600200"/>
            <a:ext cx="2240280" cy="1417320"/>
          </a:xfrm>
          <a:prstGeom prst="roundRect">
            <a:avLst/>
          </a:prstGeom>
          <a:solidFill>
            <a:srgbClr val="E0F2FE"/>
          </a:solidFill>
          <a:ln w="12700">
            <a:solidFill>
              <a:srgbClr val="CBD5E1"/>
            </a:solidFill>
            <a:prstDash val="solid"/>
          </a:ln>
        </p:spPr>
        <p:txBody>
          <a:bodyPr/>
          <a:lstStyle/>
          <a:p>
            <a:endParaRPr lang="en-US"/>
          </a:p>
        </p:txBody>
      </p:sp>
      <p:sp>
        <p:nvSpPr>
          <p:cNvPr id="16" name="Text 14"/>
          <p:cNvSpPr/>
          <p:nvPr/>
        </p:nvSpPr>
        <p:spPr>
          <a:xfrm>
            <a:off x="9445752" y="1737360"/>
            <a:ext cx="1911096"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Context</a:t>
            </a:r>
            <a:endParaRPr lang="en-US" sz="1600" dirty="0"/>
          </a:p>
        </p:txBody>
      </p:sp>
      <p:sp>
        <p:nvSpPr>
          <p:cNvPr id="17" name="Text 15"/>
          <p:cNvSpPr/>
          <p:nvPr/>
        </p:nvSpPr>
        <p:spPr>
          <a:xfrm>
            <a:off x="9445752" y="2103120"/>
            <a:ext cx="1911096" cy="731520"/>
          </a:xfrm>
          <a:prstGeom prst="rect">
            <a:avLst/>
          </a:prstGeom>
          <a:noFill/>
          <a:ln/>
        </p:spPr>
        <p:txBody>
          <a:bodyPr wrap="square" rtlCol="0" anchor="ctr"/>
          <a:lstStyle/>
          <a:p>
            <a:pPr marL="0" indent="0">
              <a:buNone/>
            </a:pPr>
            <a:r>
              <a:rPr lang="en-US" sz="1200" dirty="0">
                <a:solidFill>
                  <a:srgbClr val="6B7280"/>
                </a:solidFill>
                <a:latin typeface="Aptos" pitchFamily="34" charset="0"/>
                <a:ea typeface="Aptos" pitchFamily="34" charset="-122"/>
                <a:cs typeface="Aptos" pitchFamily="34" charset="-120"/>
              </a:rPr>
              <a:t>Working memory</a:t>
            </a:r>
            <a:endParaRPr lang="en-US" sz="1200" dirty="0"/>
          </a:p>
        </p:txBody>
      </p:sp>
      <p:sp>
        <p:nvSpPr>
          <p:cNvPr id="18" name="Shape 16"/>
          <p:cNvSpPr/>
          <p:nvPr/>
        </p:nvSpPr>
        <p:spPr>
          <a:xfrm>
            <a:off x="6812280" y="3246120"/>
            <a:ext cx="2240280" cy="1417320"/>
          </a:xfrm>
          <a:prstGeom prst="roundRect">
            <a:avLst/>
          </a:prstGeom>
          <a:solidFill>
            <a:srgbClr val="EDE9FE"/>
          </a:solidFill>
          <a:ln w="12700">
            <a:solidFill>
              <a:srgbClr val="CBD5E1"/>
            </a:solidFill>
            <a:prstDash val="solid"/>
          </a:ln>
        </p:spPr>
        <p:txBody>
          <a:bodyPr/>
          <a:lstStyle/>
          <a:p>
            <a:endParaRPr lang="en-US"/>
          </a:p>
        </p:txBody>
      </p:sp>
      <p:sp>
        <p:nvSpPr>
          <p:cNvPr id="19" name="Text 17"/>
          <p:cNvSpPr/>
          <p:nvPr/>
        </p:nvSpPr>
        <p:spPr>
          <a:xfrm>
            <a:off x="6976872" y="3383280"/>
            <a:ext cx="1911096"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Attention</a:t>
            </a:r>
            <a:endParaRPr lang="en-US" sz="1600" dirty="0"/>
          </a:p>
        </p:txBody>
      </p:sp>
      <p:sp>
        <p:nvSpPr>
          <p:cNvPr id="20" name="Text 18"/>
          <p:cNvSpPr/>
          <p:nvPr/>
        </p:nvSpPr>
        <p:spPr>
          <a:xfrm>
            <a:off x="6976872" y="3749040"/>
            <a:ext cx="1911096" cy="731520"/>
          </a:xfrm>
          <a:prstGeom prst="rect">
            <a:avLst/>
          </a:prstGeom>
          <a:noFill/>
          <a:ln/>
        </p:spPr>
        <p:txBody>
          <a:bodyPr wrap="square" rtlCol="0" anchor="ctr"/>
          <a:lstStyle/>
          <a:p>
            <a:pPr marL="0" indent="0">
              <a:buNone/>
            </a:pPr>
            <a:r>
              <a:rPr lang="en-US" sz="1200" dirty="0">
                <a:solidFill>
                  <a:srgbClr val="6B7280"/>
                </a:solidFill>
                <a:latin typeface="Aptos" pitchFamily="34" charset="0"/>
                <a:ea typeface="Aptos" pitchFamily="34" charset="-122"/>
                <a:cs typeface="Aptos" pitchFamily="34" charset="-120"/>
              </a:rPr>
              <a:t>Focus weights</a:t>
            </a:r>
            <a:endParaRPr lang="en-US" sz="1200" dirty="0"/>
          </a:p>
        </p:txBody>
      </p:sp>
      <p:sp>
        <p:nvSpPr>
          <p:cNvPr id="21" name="Shape 19"/>
          <p:cNvSpPr/>
          <p:nvPr/>
        </p:nvSpPr>
        <p:spPr>
          <a:xfrm>
            <a:off x="9281160" y="3246120"/>
            <a:ext cx="2240280" cy="1417320"/>
          </a:xfrm>
          <a:prstGeom prst="roundRect">
            <a:avLst/>
          </a:prstGeom>
          <a:solidFill>
            <a:srgbClr val="FEF3C7"/>
          </a:solidFill>
          <a:ln w="12700">
            <a:solidFill>
              <a:srgbClr val="CBD5E1"/>
            </a:solidFill>
            <a:prstDash val="solid"/>
          </a:ln>
        </p:spPr>
        <p:txBody>
          <a:bodyPr/>
          <a:lstStyle/>
          <a:p>
            <a:endParaRPr lang="en-US"/>
          </a:p>
        </p:txBody>
      </p:sp>
      <p:sp>
        <p:nvSpPr>
          <p:cNvPr id="22" name="Text 20"/>
          <p:cNvSpPr/>
          <p:nvPr/>
        </p:nvSpPr>
        <p:spPr>
          <a:xfrm>
            <a:off x="9445752" y="3383280"/>
            <a:ext cx="1911096"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Generation</a:t>
            </a:r>
            <a:endParaRPr lang="en-US" sz="1600" dirty="0"/>
          </a:p>
        </p:txBody>
      </p:sp>
      <p:sp>
        <p:nvSpPr>
          <p:cNvPr id="23" name="Text 21"/>
          <p:cNvSpPr/>
          <p:nvPr/>
        </p:nvSpPr>
        <p:spPr>
          <a:xfrm>
            <a:off x="9445752" y="3749040"/>
            <a:ext cx="1911096" cy="731520"/>
          </a:xfrm>
          <a:prstGeom prst="rect">
            <a:avLst/>
          </a:prstGeom>
          <a:noFill/>
          <a:ln/>
        </p:spPr>
        <p:txBody>
          <a:bodyPr wrap="square" rtlCol="0" anchor="ctr"/>
          <a:lstStyle/>
          <a:p>
            <a:pPr marL="0" indent="0">
              <a:buNone/>
            </a:pPr>
            <a:r>
              <a:rPr lang="en-US" sz="1200" dirty="0">
                <a:solidFill>
                  <a:srgbClr val="6B7280"/>
                </a:solidFill>
                <a:latin typeface="Aptos" pitchFamily="34" charset="0"/>
                <a:ea typeface="Aptos" pitchFamily="34" charset="-122"/>
                <a:cs typeface="Aptos" pitchFamily="34" charset="-120"/>
              </a:rPr>
              <a:t>Predict → add → repeat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3/18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3</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The big idea: use templates like forms</a:t>
            </a:r>
            <a:endParaRPr lang="en-US" sz="3400" dirty="0"/>
          </a:p>
        </p:txBody>
      </p:sp>
      <p:sp>
        <p:nvSpPr>
          <p:cNvPr id="11" name="Text 9"/>
          <p:cNvSpPr/>
          <p:nvPr/>
        </p:nvSpPr>
        <p:spPr>
          <a:xfrm>
            <a:off x="868680" y="1508760"/>
            <a:ext cx="5852160" cy="3566160"/>
          </a:xfrm>
          <a:prstGeom prst="rect">
            <a:avLst/>
          </a:prstGeom>
          <a:noFill/>
          <a:ln/>
        </p:spPr>
        <p:txBody>
          <a:bodyPr wrap="square" rtlCol="0" anchor="t"/>
          <a:lstStyle/>
          <a:p>
            <a:pPr marL="228600" indent="-228600">
              <a:buSzPct val="100000"/>
              <a:buChar char="•"/>
            </a:pPr>
            <a:r>
              <a:rPr lang="en-US" sz="1600" dirty="0">
                <a:solidFill>
                  <a:srgbClr val="111827"/>
                </a:solidFill>
                <a:latin typeface="Aptos" pitchFamily="34" charset="0"/>
                <a:ea typeface="Aptos" pitchFamily="34" charset="-122"/>
                <a:cs typeface="Aptos" pitchFamily="34" charset="-120"/>
              </a:rPr>
              <a:t>Choose the right structure for the task</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Fill the blanks (inputs, constraints, format)</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Run it, then refine once using a debug prompt</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Result: fewer guesses, more consistent outputs</a:t>
            </a:r>
            <a:endParaRPr lang="en-US" sz="1600" dirty="0"/>
          </a:p>
        </p:txBody>
      </p:sp>
      <p:sp>
        <p:nvSpPr>
          <p:cNvPr id="12" name="Shape 10"/>
          <p:cNvSpPr/>
          <p:nvPr/>
        </p:nvSpPr>
        <p:spPr>
          <a:xfrm>
            <a:off x="6903720" y="1874520"/>
            <a:ext cx="4343400" cy="2148840"/>
          </a:xfrm>
          <a:prstGeom prst="roundRect">
            <a:avLst/>
          </a:prstGeom>
          <a:solidFill>
            <a:schemeClr val="accent1">
              <a:lumMod val="20000"/>
              <a:lumOff val="80000"/>
            </a:schemeClr>
          </a:solidFill>
          <a:ln w="25400">
            <a:solidFill>
              <a:srgbClr val="2563EB"/>
            </a:solidFill>
            <a:prstDash val="solid"/>
          </a:ln>
        </p:spPr>
        <p:txBody>
          <a:bodyPr/>
          <a:lstStyle/>
          <a:p>
            <a:endParaRPr lang="en-US"/>
          </a:p>
        </p:txBody>
      </p:sp>
      <p:sp>
        <p:nvSpPr>
          <p:cNvPr id="13" name="Text 11"/>
          <p:cNvSpPr/>
          <p:nvPr/>
        </p:nvSpPr>
        <p:spPr>
          <a:xfrm>
            <a:off x="7086600" y="2057400"/>
            <a:ext cx="3977640" cy="822960"/>
          </a:xfrm>
          <a:prstGeom prst="rect">
            <a:avLst/>
          </a:prstGeom>
          <a:noFill/>
          <a:ln/>
        </p:spPr>
        <p:txBody>
          <a:bodyPr wrap="square" rtlCol="0" anchor="ctr"/>
          <a:lstStyle/>
          <a:p>
            <a:pPr marL="0" indent="0">
              <a:buNone/>
            </a:pPr>
            <a:r>
              <a:rPr lang="en-US" sz="2400" b="1" dirty="0">
                <a:solidFill>
                  <a:srgbClr val="111827"/>
                </a:solidFill>
                <a:latin typeface="Aptos" pitchFamily="34" charset="0"/>
                <a:ea typeface="Aptos" pitchFamily="34" charset="-122"/>
                <a:cs typeface="Aptos" pitchFamily="34" charset="-120"/>
              </a:rPr>
              <a:t>You don’t need</a:t>
            </a:r>
            <a:endParaRPr lang="en-US" sz="2400" dirty="0"/>
          </a:p>
          <a:p>
            <a:pPr marL="0" indent="0">
              <a:buNone/>
            </a:pPr>
            <a:r>
              <a:rPr lang="en-US" sz="2400" b="1" dirty="0">
                <a:solidFill>
                  <a:srgbClr val="111827"/>
                </a:solidFill>
                <a:latin typeface="Aptos" pitchFamily="34" charset="0"/>
                <a:ea typeface="Aptos" pitchFamily="34" charset="-122"/>
                <a:cs typeface="Aptos" pitchFamily="34" charset="-120"/>
              </a:rPr>
              <a:t>magic words.</a:t>
            </a:r>
            <a:endParaRPr lang="en-US" sz="2400" dirty="0"/>
          </a:p>
        </p:txBody>
      </p:sp>
      <p:sp>
        <p:nvSpPr>
          <p:cNvPr id="14" name="Text 12"/>
          <p:cNvSpPr/>
          <p:nvPr/>
        </p:nvSpPr>
        <p:spPr>
          <a:xfrm>
            <a:off x="7086600" y="2926080"/>
            <a:ext cx="3977640" cy="822960"/>
          </a:xfrm>
          <a:prstGeom prst="rect">
            <a:avLst/>
          </a:prstGeom>
          <a:noFill/>
          <a:ln/>
        </p:spPr>
        <p:txBody>
          <a:bodyPr wrap="square" rtlCol="0" anchor="ctr"/>
          <a:lstStyle/>
          <a:p>
            <a:pPr marL="0" indent="0">
              <a:buNone/>
            </a:pPr>
            <a:r>
              <a:rPr lang="en-US" sz="1600" dirty="0">
                <a:solidFill>
                  <a:srgbClr val="6B7280"/>
                </a:solidFill>
                <a:latin typeface="Aptos" pitchFamily="34" charset="0"/>
                <a:ea typeface="Aptos" pitchFamily="34" charset="-122"/>
                <a:cs typeface="Aptos" pitchFamily="34" charset="-120"/>
              </a:rPr>
              <a:t>You need a clear brief</a:t>
            </a:r>
            <a:endParaRPr lang="en-US" sz="1600" dirty="0"/>
          </a:p>
          <a:p>
            <a:pPr marL="0" indent="0">
              <a:buNone/>
            </a:pPr>
            <a:r>
              <a:rPr lang="en-US" sz="1600" dirty="0">
                <a:solidFill>
                  <a:srgbClr val="6B7280"/>
                </a:solidFill>
                <a:latin typeface="Aptos" pitchFamily="34" charset="0"/>
                <a:ea typeface="Aptos" pitchFamily="34" charset="-122"/>
                <a:cs typeface="Aptos" pitchFamily="34" charset="-120"/>
              </a:rPr>
              <a:t>(and a reusable structure).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4/18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4</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Default structure</a:t>
            </a:r>
            <a:endParaRPr lang="en-US" sz="3400" dirty="0"/>
          </a:p>
        </p:txBody>
      </p:sp>
      <p:sp>
        <p:nvSpPr>
          <p:cNvPr id="11" name="Text 9"/>
          <p:cNvSpPr/>
          <p:nvPr/>
        </p:nvSpPr>
        <p:spPr>
          <a:xfrm>
            <a:off x="868680" y="1417320"/>
            <a:ext cx="10607040" cy="457200"/>
          </a:xfrm>
          <a:prstGeom prst="rect">
            <a:avLst/>
          </a:prstGeom>
          <a:noFill/>
          <a:ln/>
        </p:spPr>
        <p:txBody>
          <a:bodyPr wrap="square" rtlCol="0" anchor="ctr"/>
          <a:lstStyle/>
          <a:p>
            <a:pPr marL="0" indent="0">
              <a:buNone/>
            </a:pPr>
            <a:r>
              <a:rPr lang="en-US" sz="2000" b="1" dirty="0">
                <a:solidFill>
                  <a:srgbClr val="111827"/>
                </a:solidFill>
                <a:latin typeface="Aptos" pitchFamily="34" charset="0"/>
                <a:ea typeface="Aptos" pitchFamily="34" charset="-122"/>
                <a:cs typeface="Aptos" pitchFamily="34" charset="-120"/>
              </a:rPr>
              <a:t>Prompt = ROLE + TASK + CONTEXT + CONSTRAINTS + OUTPUT (+ CHECKS)</a:t>
            </a:r>
            <a:endParaRPr lang="en-US" sz="2000" dirty="0"/>
          </a:p>
        </p:txBody>
      </p:sp>
      <p:sp>
        <p:nvSpPr>
          <p:cNvPr id="12" name="Text 10"/>
          <p:cNvSpPr/>
          <p:nvPr/>
        </p:nvSpPr>
        <p:spPr>
          <a:xfrm>
            <a:off x="868680" y="1965960"/>
            <a:ext cx="5669280" cy="2971800"/>
          </a:xfrm>
          <a:prstGeom prst="rect">
            <a:avLst/>
          </a:prstGeom>
          <a:noFill/>
          <a:ln/>
        </p:spPr>
        <p:txBody>
          <a:bodyPr wrap="square" rtlCol="0" anchor="t"/>
          <a:lstStyle/>
          <a:p>
            <a:pPr marL="203200" indent="-203200">
              <a:buSzPct val="100000"/>
              <a:buChar char="•"/>
            </a:pPr>
            <a:r>
              <a:rPr lang="en-US" sz="1400" dirty="0">
                <a:solidFill>
                  <a:srgbClr val="111827"/>
                </a:solidFill>
                <a:latin typeface="Aptos" pitchFamily="34" charset="0"/>
                <a:ea typeface="Aptos" pitchFamily="34" charset="-122"/>
                <a:cs typeface="Aptos" pitchFamily="34" charset="-120"/>
              </a:rPr>
              <a:t>Role: who you want the model to act as (optional unless style matters)</a:t>
            </a:r>
            <a:endParaRPr lang="en-US" sz="1400" dirty="0"/>
          </a:p>
          <a:p>
            <a:pPr marL="203200" indent="-203200">
              <a:buSzPct val="100000"/>
              <a:buChar char="•"/>
            </a:pPr>
            <a:r>
              <a:rPr lang="en-US" sz="1400" dirty="0">
                <a:solidFill>
                  <a:srgbClr val="111827"/>
                </a:solidFill>
                <a:latin typeface="Aptos" pitchFamily="34" charset="0"/>
                <a:ea typeface="Aptos" pitchFamily="34" charset="-122"/>
                <a:cs typeface="Aptos" pitchFamily="34" charset="-120"/>
              </a:rPr>
              <a:t>Task: what you want done (success criteria)</a:t>
            </a:r>
            <a:endParaRPr lang="en-US" sz="1400" dirty="0"/>
          </a:p>
          <a:p>
            <a:pPr marL="203200" indent="-203200">
              <a:buSzPct val="100000"/>
              <a:buChar char="•"/>
            </a:pPr>
            <a:r>
              <a:rPr lang="en-US" sz="1400" dirty="0">
                <a:solidFill>
                  <a:srgbClr val="111827"/>
                </a:solidFill>
                <a:latin typeface="Aptos" pitchFamily="34" charset="0"/>
                <a:ea typeface="Aptos" pitchFamily="34" charset="-122"/>
                <a:cs typeface="Aptos" pitchFamily="34" charset="-120"/>
              </a:rPr>
              <a:t>Context: inputs + facts it should use</a:t>
            </a:r>
            <a:endParaRPr lang="en-US" sz="1400" dirty="0"/>
          </a:p>
          <a:p>
            <a:pPr marL="203200" indent="-203200">
              <a:buSzPct val="100000"/>
              <a:buChar char="•"/>
            </a:pPr>
            <a:r>
              <a:rPr lang="en-US" sz="1400" dirty="0">
                <a:solidFill>
                  <a:srgbClr val="111827"/>
                </a:solidFill>
                <a:latin typeface="Aptos" pitchFamily="34" charset="0"/>
                <a:ea typeface="Aptos" pitchFamily="34" charset="-122"/>
                <a:cs typeface="Aptos" pitchFamily="34" charset="-120"/>
              </a:rPr>
              <a:t>Constraints: tone, length, scope, must/avoid</a:t>
            </a:r>
            <a:endParaRPr lang="en-US" sz="1400" dirty="0"/>
          </a:p>
          <a:p>
            <a:pPr marL="203200" indent="-203200">
              <a:buSzPct val="100000"/>
              <a:buChar char="•"/>
            </a:pPr>
            <a:r>
              <a:rPr lang="en-US" sz="1400" dirty="0">
                <a:solidFill>
                  <a:srgbClr val="111827"/>
                </a:solidFill>
                <a:latin typeface="Aptos" pitchFamily="34" charset="0"/>
                <a:ea typeface="Aptos" pitchFamily="34" charset="-122"/>
                <a:cs typeface="Aptos" pitchFamily="34" charset="-120"/>
              </a:rPr>
              <a:t>Output: headings, table, bullets, JSON — make it usable</a:t>
            </a:r>
            <a:endParaRPr lang="en-US" sz="1400" dirty="0"/>
          </a:p>
          <a:p>
            <a:pPr marL="203200" indent="-203200">
              <a:buSzPct val="100000"/>
              <a:buChar char="•"/>
            </a:pPr>
            <a:r>
              <a:rPr lang="en-US" sz="1400" dirty="0">
                <a:solidFill>
                  <a:srgbClr val="111827"/>
                </a:solidFill>
                <a:latin typeface="Aptos" pitchFamily="34" charset="0"/>
                <a:ea typeface="Aptos" pitchFamily="34" charset="-122"/>
                <a:cs typeface="Aptos" pitchFamily="34" charset="-120"/>
              </a:rPr>
              <a:t>Checks: questions, assumptions, uncertainty, verification</a:t>
            </a:r>
            <a:endParaRPr lang="en-US" sz="1400" dirty="0"/>
          </a:p>
        </p:txBody>
      </p:sp>
      <p:sp>
        <p:nvSpPr>
          <p:cNvPr id="13" name="Shape 11"/>
          <p:cNvSpPr/>
          <p:nvPr/>
        </p:nvSpPr>
        <p:spPr>
          <a:xfrm>
            <a:off x="6903720" y="1874520"/>
            <a:ext cx="4343400" cy="3246120"/>
          </a:xfrm>
          <a:prstGeom prst="roundRect">
            <a:avLst/>
          </a:prstGeom>
          <a:solidFill>
            <a:schemeClr val="tx1"/>
          </a:solidFill>
          <a:ln w="12700">
            <a:solidFill>
              <a:srgbClr val="CBD5E1"/>
            </a:solidFill>
            <a:prstDash val="solid"/>
          </a:ln>
        </p:spPr>
        <p:txBody>
          <a:bodyPr/>
          <a:lstStyle/>
          <a:p>
            <a:endParaRPr lang="en-US"/>
          </a:p>
        </p:txBody>
      </p:sp>
      <p:sp>
        <p:nvSpPr>
          <p:cNvPr id="14" name="Text 12"/>
          <p:cNvSpPr/>
          <p:nvPr/>
        </p:nvSpPr>
        <p:spPr>
          <a:xfrm>
            <a:off x="7068312" y="1984248"/>
            <a:ext cx="4014216" cy="3026664"/>
          </a:xfrm>
          <a:prstGeom prst="rect">
            <a:avLst/>
          </a:prstGeom>
          <a:noFill/>
          <a:ln/>
        </p:spPr>
        <p:txBody>
          <a:bodyPr wrap="square" rtlCol="0" anchor="t"/>
          <a:lstStyle/>
          <a:p>
            <a:pPr marL="0" indent="0">
              <a:buNone/>
            </a:pPr>
            <a:r>
              <a:rPr lang="en-US" sz="1100" dirty="0">
                <a:solidFill>
                  <a:schemeClr val="accent2"/>
                </a:solidFill>
                <a:latin typeface="Consolas" pitchFamily="34" charset="0"/>
                <a:ea typeface="Consolas" pitchFamily="34" charset="-122"/>
                <a:cs typeface="Consolas" pitchFamily="34" charset="-120"/>
              </a:rPr>
              <a:t>ROLE</a:t>
            </a:r>
            <a:r>
              <a:rPr lang="en-US" sz="1100" dirty="0">
                <a:solidFill>
                  <a:schemeClr val="bg1"/>
                </a:solidFill>
                <a:latin typeface="Consolas" pitchFamily="34" charset="0"/>
                <a:ea typeface="Consolas" pitchFamily="34" charset="-122"/>
                <a:cs typeface="Consolas" pitchFamily="34" charset="-120"/>
              </a:rPr>
              <a:t>: You are a [role].</a:t>
            </a:r>
            <a:endParaRPr lang="en-US" sz="1100" dirty="0">
              <a:solidFill>
                <a:schemeClr val="bg1"/>
              </a:solidFill>
            </a:endParaRPr>
          </a:p>
          <a:p>
            <a:pPr marL="0" indent="0">
              <a:buNone/>
            </a:pPr>
            <a:r>
              <a:rPr lang="en-US" sz="1100" dirty="0">
                <a:solidFill>
                  <a:schemeClr val="accent2"/>
                </a:solidFill>
                <a:latin typeface="Consolas" pitchFamily="34" charset="0"/>
                <a:ea typeface="Consolas" pitchFamily="34" charset="-122"/>
                <a:cs typeface="Consolas" pitchFamily="34" charset="-120"/>
              </a:rPr>
              <a:t>TASK</a:t>
            </a:r>
            <a:r>
              <a:rPr lang="en-US" sz="1100" dirty="0">
                <a:solidFill>
                  <a:schemeClr val="bg1"/>
                </a:solidFill>
                <a:latin typeface="Consolas" pitchFamily="34" charset="0"/>
                <a:ea typeface="Consolas" pitchFamily="34" charset="-122"/>
                <a:cs typeface="Consolas" pitchFamily="34" charset="-120"/>
              </a:rPr>
              <a:t>: [What you want].</a:t>
            </a:r>
            <a:endParaRPr lang="en-US" sz="1100" dirty="0">
              <a:solidFill>
                <a:schemeClr val="bg1"/>
              </a:solidFill>
            </a:endParaRPr>
          </a:p>
          <a:p>
            <a:pPr marL="0" indent="0">
              <a:buNone/>
            </a:pPr>
            <a:r>
              <a:rPr lang="en-US" sz="1100" dirty="0">
                <a:solidFill>
                  <a:schemeClr val="accent2"/>
                </a:solidFill>
                <a:latin typeface="Consolas" pitchFamily="34" charset="0"/>
                <a:ea typeface="Consolas" pitchFamily="34" charset="-122"/>
                <a:cs typeface="Consolas" pitchFamily="34" charset="-120"/>
              </a:rPr>
              <a:t>CONTEXT</a:t>
            </a:r>
            <a:r>
              <a:rPr lang="en-US" sz="1100" dirty="0">
                <a:solidFill>
                  <a:schemeClr val="bg1"/>
                </a:solidFill>
                <a:latin typeface="Consolas" pitchFamily="34" charset="0"/>
                <a:ea typeface="Consolas" pitchFamily="34" charset="-122"/>
                <a:cs typeface="Consolas" pitchFamily="34" charset="-120"/>
              </a:rPr>
              <a:t>: [Background + inputs].</a:t>
            </a:r>
            <a:endParaRPr lang="en-US" sz="1100" dirty="0">
              <a:solidFill>
                <a:schemeClr val="bg1"/>
              </a:solidFill>
            </a:endParaRPr>
          </a:p>
          <a:p>
            <a:pPr marL="0" indent="0">
              <a:buNone/>
            </a:pPr>
            <a:r>
              <a:rPr lang="en-US" sz="1100" dirty="0">
                <a:solidFill>
                  <a:schemeClr val="accent2"/>
                </a:solidFill>
                <a:latin typeface="Consolas" pitchFamily="34" charset="0"/>
                <a:ea typeface="Consolas" pitchFamily="34" charset="-122"/>
                <a:cs typeface="Consolas" pitchFamily="34" charset="-120"/>
              </a:rPr>
              <a:t>CONSTRAINTS</a:t>
            </a:r>
            <a:r>
              <a:rPr lang="en-US" sz="1100" dirty="0">
                <a:solidFill>
                  <a:schemeClr val="bg1"/>
                </a:solidFill>
                <a:latin typeface="Consolas" pitchFamily="34" charset="0"/>
                <a:ea typeface="Consolas" pitchFamily="34" charset="-122"/>
                <a:cs typeface="Consolas" pitchFamily="34" charset="-120"/>
              </a:rPr>
              <a:t>: [Tone/length/scope/must/avoid].</a:t>
            </a:r>
            <a:endParaRPr lang="en-US" sz="1100" dirty="0">
              <a:solidFill>
                <a:schemeClr val="bg1"/>
              </a:solidFill>
            </a:endParaRPr>
          </a:p>
          <a:p>
            <a:pPr marL="0" indent="0">
              <a:buNone/>
            </a:pPr>
            <a:r>
              <a:rPr lang="en-US" sz="1100" dirty="0">
                <a:solidFill>
                  <a:schemeClr val="accent2"/>
                </a:solidFill>
                <a:latin typeface="Consolas" pitchFamily="34" charset="0"/>
                <a:ea typeface="Consolas" pitchFamily="34" charset="-122"/>
                <a:cs typeface="Consolas" pitchFamily="34" charset="-120"/>
              </a:rPr>
              <a:t>OUTPUT</a:t>
            </a:r>
            <a:r>
              <a:rPr lang="en-US" sz="1100" dirty="0">
                <a:solidFill>
                  <a:schemeClr val="bg1"/>
                </a:solidFill>
                <a:latin typeface="Consolas" pitchFamily="34" charset="0"/>
                <a:ea typeface="Consolas" pitchFamily="34" charset="-122"/>
                <a:cs typeface="Consolas" pitchFamily="34" charset="-120"/>
              </a:rPr>
              <a:t>: [Format: bullets/table/sections].</a:t>
            </a:r>
            <a:endParaRPr lang="en-US" sz="1100" dirty="0">
              <a:solidFill>
                <a:schemeClr val="bg1"/>
              </a:solidFill>
            </a:endParaRPr>
          </a:p>
          <a:p>
            <a:pPr marL="0" indent="0">
              <a:buNone/>
            </a:pPr>
            <a:r>
              <a:rPr lang="en-US" sz="1100" dirty="0">
                <a:solidFill>
                  <a:schemeClr val="accent2"/>
                </a:solidFill>
                <a:latin typeface="Consolas" pitchFamily="34" charset="0"/>
                <a:ea typeface="Consolas" pitchFamily="34" charset="-122"/>
                <a:cs typeface="Consolas" pitchFamily="34" charset="-120"/>
              </a:rPr>
              <a:t>CHECKS</a:t>
            </a:r>
            <a:r>
              <a:rPr lang="en-US" sz="1100" dirty="0">
                <a:solidFill>
                  <a:schemeClr val="bg1"/>
                </a:solidFill>
                <a:latin typeface="Consolas" pitchFamily="34" charset="0"/>
                <a:ea typeface="Consolas" pitchFamily="34" charset="-122"/>
                <a:cs typeface="Consolas" pitchFamily="34" charset="-120"/>
              </a:rPr>
              <a:t>: Ask [3] questions first. If unanswered, list assumptions. Flag uncertainty.</a:t>
            </a:r>
            <a:endParaRPr lang="en-US" sz="11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ACBE-7FD4-55AA-D5F4-3509909409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0480841-2DD8-2CA1-18D0-487FFCE18138}"/>
              </a:ext>
            </a:extLst>
          </p:cNvPr>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a:extLst>
              <a:ext uri="{FF2B5EF4-FFF2-40B4-BE49-F238E27FC236}">
                <a16:creationId xmlns:a16="http://schemas.microsoft.com/office/drawing/2014/main" id="{29DC52A6-23F3-FD29-9927-D4F917CDF1BE}"/>
              </a:ext>
            </a:extLst>
          </p:cNvPr>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a:extLst>
              <a:ext uri="{FF2B5EF4-FFF2-40B4-BE49-F238E27FC236}">
                <a16:creationId xmlns:a16="http://schemas.microsoft.com/office/drawing/2014/main" id="{5DD3C3E3-9ACE-7C35-B5B8-5B362850B851}"/>
              </a:ext>
            </a:extLst>
          </p:cNvPr>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a:extLst>
              <a:ext uri="{FF2B5EF4-FFF2-40B4-BE49-F238E27FC236}">
                <a16:creationId xmlns:a16="http://schemas.microsoft.com/office/drawing/2014/main" id="{F3CF701E-33AA-A7A6-1BD2-615E7E69E9AF}"/>
              </a:ext>
            </a:extLst>
          </p:cNvPr>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a:extLst>
              <a:ext uri="{FF2B5EF4-FFF2-40B4-BE49-F238E27FC236}">
                <a16:creationId xmlns:a16="http://schemas.microsoft.com/office/drawing/2014/main" id="{1C506C33-AE56-BFAA-7969-164644EC35E7}"/>
              </a:ext>
            </a:extLst>
          </p:cNvPr>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a:extLst>
              <a:ext uri="{FF2B5EF4-FFF2-40B4-BE49-F238E27FC236}">
                <a16:creationId xmlns:a16="http://schemas.microsoft.com/office/drawing/2014/main" id="{F35B3CE0-33DD-0F4F-1D7E-9F10302F54A9}"/>
              </a:ext>
            </a:extLst>
          </p:cNvPr>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a:extLst>
              <a:ext uri="{FF2B5EF4-FFF2-40B4-BE49-F238E27FC236}">
                <a16:creationId xmlns:a16="http://schemas.microsoft.com/office/drawing/2014/main" id="{0C4E8ACC-5F24-DCE2-E03F-FE41DA758A4F}"/>
              </a:ext>
            </a:extLst>
          </p:cNvPr>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7/18</a:t>
            </a:r>
            <a:endParaRPr lang="en-US" sz="1000" dirty="0"/>
          </a:p>
        </p:txBody>
      </p:sp>
      <p:sp>
        <p:nvSpPr>
          <p:cNvPr id="9" name="Text 7">
            <a:extLst>
              <a:ext uri="{FF2B5EF4-FFF2-40B4-BE49-F238E27FC236}">
                <a16:creationId xmlns:a16="http://schemas.microsoft.com/office/drawing/2014/main" id="{7289D4D7-99B3-546D-AEC0-A1BEF43C8C94}"/>
              </a:ext>
            </a:extLst>
          </p:cNvPr>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7</a:t>
            </a:r>
            <a:endParaRPr lang="en-US" sz="1200" dirty="0"/>
          </a:p>
        </p:txBody>
      </p:sp>
      <p:sp>
        <p:nvSpPr>
          <p:cNvPr id="10" name="Text 8">
            <a:extLst>
              <a:ext uri="{FF2B5EF4-FFF2-40B4-BE49-F238E27FC236}">
                <a16:creationId xmlns:a16="http://schemas.microsoft.com/office/drawing/2014/main" id="{A3296D49-A56B-533A-0A2A-77F958D6B3F0}"/>
              </a:ext>
            </a:extLst>
          </p:cNvPr>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Default Example</a:t>
            </a:r>
            <a:endParaRPr lang="en-US" sz="3400" dirty="0"/>
          </a:p>
        </p:txBody>
      </p:sp>
      <p:sp>
        <p:nvSpPr>
          <p:cNvPr id="11" name="Shape 9">
            <a:extLst>
              <a:ext uri="{FF2B5EF4-FFF2-40B4-BE49-F238E27FC236}">
                <a16:creationId xmlns:a16="http://schemas.microsoft.com/office/drawing/2014/main" id="{51A29895-9ADC-5630-6DE7-BA0B9D1E2594}"/>
              </a:ext>
            </a:extLst>
          </p:cNvPr>
          <p:cNvSpPr/>
          <p:nvPr/>
        </p:nvSpPr>
        <p:spPr>
          <a:xfrm>
            <a:off x="868680" y="1508760"/>
            <a:ext cx="10652760" cy="3611880"/>
          </a:xfrm>
          <a:prstGeom prst="roundRect">
            <a:avLst/>
          </a:prstGeom>
          <a:solidFill>
            <a:schemeClr val="tx1"/>
          </a:solidFill>
          <a:ln w="12700">
            <a:solidFill>
              <a:srgbClr val="CBD5E1"/>
            </a:solidFill>
            <a:prstDash val="solid"/>
          </a:ln>
        </p:spPr>
        <p:txBody>
          <a:bodyPr/>
          <a:lstStyle/>
          <a:p>
            <a:endParaRPr lang="en-US"/>
          </a:p>
        </p:txBody>
      </p:sp>
      <p:sp>
        <p:nvSpPr>
          <p:cNvPr id="12" name="Text 10">
            <a:extLst>
              <a:ext uri="{FF2B5EF4-FFF2-40B4-BE49-F238E27FC236}">
                <a16:creationId xmlns:a16="http://schemas.microsoft.com/office/drawing/2014/main" id="{173B8719-9683-EBDA-5B0D-D7B04CE258EC}"/>
              </a:ext>
            </a:extLst>
          </p:cNvPr>
          <p:cNvSpPr/>
          <p:nvPr/>
        </p:nvSpPr>
        <p:spPr>
          <a:xfrm>
            <a:off x="1033272" y="1618488"/>
            <a:ext cx="10323576" cy="3392424"/>
          </a:xfrm>
          <a:prstGeom prst="rect">
            <a:avLst/>
          </a:prstGeom>
          <a:noFill/>
          <a:ln/>
        </p:spPr>
        <p:txBody>
          <a:bodyPr wrap="square" rtlCol="0" anchor="t"/>
          <a:lstStyle/>
          <a:p>
            <a:r>
              <a:rPr lang="en-AU" sz="1100" b="1" dirty="0">
                <a:solidFill>
                  <a:schemeClr val="accent2"/>
                </a:solidFill>
                <a:latin typeface="Consolas" panose="020B0609020204030204" pitchFamily="49" charset="0"/>
                <a:cs typeface="Consolas" panose="020B0609020204030204" pitchFamily="49" charset="0"/>
              </a:rPr>
              <a:t>ROLE</a:t>
            </a:r>
            <a:r>
              <a:rPr lang="en-AU" sz="1100" b="1" dirty="0">
                <a:solidFill>
                  <a:schemeClr val="bg1"/>
                </a:solidFill>
                <a:latin typeface="Consolas" panose="020B0609020204030204" pitchFamily="49" charset="0"/>
                <a:cs typeface="Consolas" panose="020B0609020204030204" pitchFamily="49" charset="0"/>
              </a:rPr>
              <a:t>: You are a university tutor.</a:t>
            </a:r>
            <a:endParaRPr lang="en-AU" sz="1100" dirty="0">
              <a:solidFill>
                <a:schemeClr val="bg1"/>
              </a:solidFill>
              <a:latin typeface="Consolas" panose="020B0609020204030204" pitchFamily="49" charset="0"/>
              <a:cs typeface="Consolas" panose="020B0609020204030204" pitchFamily="49" charset="0"/>
            </a:endParaRPr>
          </a:p>
          <a:p>
            <a:r>
              <a:rPr lang="en-AU" sz="1100" b="1" dirty="0">
                <a:solidFill>
                  <a:schemeClr val="accent2"/>
                </a:solidFill>
                <a:latin typeface="Consolas" panose="020B0609020204030204" pitchFamily="49" charset="0"/>
                <a:cs typeface="Consolas" panose="020B0609020204030204" pitchFamily="49" charset="0"/>
              </a:rPr>
              <a:t>TASK</a:t>
            </a:r>
            <a:r>
              <a:rPr lang="en-AU" sz="1100" b="1" dirty="0">
                <a:solidFill>
                  <a:schemeClr val="bg1"/>
                </a:solidFill>
                <a:latin typeface="Consolas" panose="020B0609020204030204" pitchFamily="49" charset="0"/>
                <a:cs typeface="Consolas" panose="020B0609020204030204" pitchFamily="49" charset="0"/>
              </a:rPr>
              <a:t>: Create a 2-week SQL study plan that gets me exam-ready.</a:t>
            </a:r>
            <a:endParaRPr lang="en-AU" sz="1100" dirty="0">
              <a:solidFill>
                <a:schemeClr val="bg1"/>
              </a:solidFill>
              <a:latin typeface="Consolas" panose="020B0609020204030204" pitchFamily="49" charset="0"/>
              <a:cs typeface="Consolas" panose="020B0609020204030204" pitchFamily="49" charset="0"/>
            </a:endParaRPr>
          </a:p>
          <a:p>
            <a:r>
              <a:rPr lang="en-AU" sz="1100" b="1" dirty="0">
                <a:solidFill>
                  <a:schemeClr val="accent2"/>
                </a:solidFill>
                <a:latin typeface="Consolas" panose="020B0609020204030204" pitchFamily="49" charset="0"/>
                <a:cs typeface="Consolas" panose="020B0609020204030204" pitchFamily="49" charset="0"/>
              </a:rPr>
              <a:t>CONTEXT</a:t>
            </a:r>
            <a:r>
              <a:rPr lang="en-AU" sz="1100" b="1" dirty="0">
                <a:solidFill>
                  <a:schemeClr val="bg1"/>
                </a:solidFill>
                <a:latin typeface="Consolas" panose="020B0609020204030204" pitchFamily="49" charset="0"/>
                <a:cs typeface="Consolas" panose="020B0609020204030204" pitchFamily="49" charset="0"/>
              </a:rPr>
              <a:t>: I’m a beginner business/engineering student. I have 45 minutes per day on weekdays and 2 hours on weekends. I learn best by doing short exercises.</a:t>
            </a:r>
            <a:endParaRPr lang="en-AU" sz="1100" dirty="0">
              <a:solidFill>
                <a:schemeClr val="bg1"/>
              </a:solidFill>
              <a:latin typeface="Consolas" panose="020B0609020204030204" pitchFamily="49" charset="0"/>
              <a:cs typeface="Consolas" panose="020B0609020204030204" pitchFamily="49" charset="0"/>
            </a:endParaRPr>
          </a:p>
          <a:p>
            <a:r>
              <a:rPr lang="en-AU" sz="1100" b="1" dirty="0">
                <a:solidFill>
                  <a:schemeClr val="accent2"/>
                </a:solidFill>
                <a:latin typeface="Consolas" panose="020B0609020204030204" pitchFamily="49" charset="0"/>
                <a:cs typeface="Consolas" panose="020B0609020204030204" pitchFamily="49" charset="0"/>
              </a:rPr>
              <a:t>CONSTRAINTS</a:t>
            </a:r>
            <a:r>
              <a:rPr lang="en-AU" sz="1100" b="1" dirty="0">
                <a:solidFill>
                  <a:schemeClr val="bg1"/>
                </a:solidFill>
                <a:latin typeface="Consolas" panose="020B0609020204030204" pitchFamily="49" charset="0"/>
                <a:cs typeface="Consolas" panose="020B0609020204030204" pitchFamily="49" charset="0"/>
              </a:rPr>
              <a:t>: Focus on SELECT basics, JOINs, GROUP BY/aggregations, and window functions. Include daily practice. Keep each day to one main concept. </a:t>
            </a:r>
          </a:p>
          <a:p>
            <a:r>
              <a:rPr lang="en-AU" sz="1100" b="1" dirty="0">
                <a:solidFill>
                  <a:schemeClr val="accent2"/>
                </a:solidFill>
                <a:latin typeface="Consolas" panose="020B0609020204030204" pitchFamily="49" charset="0"/>
                <a:cs typeface="Consolas" panose="020B0609020204030204" pitchFamily="49" charset="0"/>
              </a:rPr>
              <a:t>OUTPUT</a:t>
            </a:r>
            <a:r>
              <a:rPr lang="en-AU" sz="1100" b="1" dirty="0">
                <a:solidFill>
                  <a:schemeClr val="bg1"/>
                </a:solidFill>
                <a:latin typeface="Consolas" panose="020B0609020204030204" pitchFamily="49" charset="0"/>
                <a:cs typeface="Consolas" panose="020B0609020204030204" pitchFamily="49" charset="0"/>
              </a:rPr>
              <a:t>: A table with Day | Topic | Explanation (1–2 sentences) | Practice task | 5-minute recap checklist.</a:t>
            </a:r>
            <a:endParaRPr lang="en-AU" sz="1100" dirty="0">
              <a:solidFill>
                <a:schemeClr val="bg1"/>
              </a:solidFill>
              <a:latin typeface="Consolas" panose="020B0609020204030204" pitchFamily="49" charset="0"/>
              <a:cs typeface="Consolas" panose="020B0609020204030204" pitchFamily="49" charset="0"/>
            </a:endParaRPr>
          </a:p>
          <a:p>
            <a:r>
              <a:rPr lang="en-AU" sz="1100" b="1" dirty="0">
                <a:solidFill>
                  <a:schemeClr val="accent2"/>
                </a:solidFill>
                <a:latin typeface="Consolas" panose="020B0609020204030204" pitchFamily="49" charset="0"/>
                <a:cs typeface="Consolas" panose="020B0609020204030204" pitchFamily="49" charset="0"/>
              </a:rPr>
              <a:t>CHECKS</a:t>
            </a:r>
            <a:r>
              <a:rPr lang="en-AU" sz="1100" b="1" dirty="0">
                <a:solidFill>
                  <a:schemeClr val="bg1"/>
                </a:solidFill>
                <a:latin typeface="Consolas" panose="020B0609020204030204" pitchFamily="49" charset="0"/>
                <a:cs typeface="Consolas" panose="020B0609020204030204" pitchFamily="49" charset="0"/>
              </a:rPr>
              <a:t>: Ask 3 clarifying questions first. If I don’t answer, state assumptions and proceed. Flag any parts that depend on my course syllabus.</a:t>
            </a:r>
            <a:endParaRPr lang="en-AU" sz="1100"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888955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5/18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5</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Pick the right template for the job</a:t>
            </a:r>
            <a:endParaRPr lang="en-US" sz="3400" dirty="0"/>
          </a:p>
        </p:txBody>
      </p:sp>
      <p:sp>
        <p:nvSpPr>
          <p:cNvPr id="11" name="Text 9"/>
          <p:cNvSpPr/>
          <p:nvPr/>
        </p:nvSpPr>
        <p:spPr>
          <a:xfrm>
            <a:off x="868680" y="1417320"/>
            <a:ext cx="5486400"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Common task → best structure</a:t>
            </a:r>
            <a:endParaRPr lang="en-US" sz="1600" dirty="0"/>
          </a:p>
        </p:txBody>
      </p:sp>
      <p:sp>
        <p:nvSpPr>
          <p:cNvPr id="12" name="Text 10"/>
          <p:cNvSpPr/>
          <p:nvPr/>
        </p:nvSpPr>
        <p:spPr>
          <a:xfrm>
            <a:off x="868680" y="1783080"/>
            <a:ext cx="5669280" cy="2743200"/>
          </a:xfrm>
          <a:prstGeom prst="rect">
            <a:avLst/>
          </a:prstGeom>
          <a:noFill/>
          <a:ln/>
        </p:spPr>
        <p:txBody>
          <a:bodyPr wrap="square" rtlCol="0" anchor="t"/>
          <a:lstStyle/>
          <a:p>
            <a:pPr marL="228600" indent="-228600">
              <a:buSzPct val="100000"/>
              <a:buChar char="•"/>
            </a:pPr>
            <a:r>
              <a:rPr lang="en-US" sz="1600" dirty="0">
                <a:solidFill>
                  <a:srgbClr val="111827"/>
                </a:solidFill>
                <a:latin typeface="Aptos" pitchFamily="34" charset="0"/>
                <a:ea typeface="Aptos" pitchFamily="34" charset="-122"/>
                <a:cs typeface="Aptos" pitchFamily="34" charset="-120"/>
              </a:rPr>
              <a:t>Plan / organise → Planning template</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Summarise / synthesise → Summary template</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Write / rewrite → Writing template</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Code / troubleshoot → Debug template</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Decide / compare → Options template</a:t>
            </a:r>
            <a:endParaRPr lang="en-US" sz="1600" dirty="0"/>
          </a:p>
        </p:txBody>
      </p:sp>
      <p:sp>
        <p:nvSpPr>
          <p:cNvPr id="13" name="Text 11"/>
          <p:cNvSpPr/>
          <p:nvPr/>
        </p:nvSpPr>
        <p:spPr>
          <a:xfrm>
            <a:off x="6995160" y="1417320"/>
            <a:ext cx="4160520"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Quick chooser</a:t>
            </a:r>
            <a:endParaRPr lang="en-US" sz="1600" dirty="0"/>
          </a:p>
        </p:txBody>
      </p:sp>
      <p:sp>
        <p:nvSpPr>
          <p:cNvPr id="14" name="Shape 12"/>
          <p:cNvSpPr/>
          <p:nvPr/>
        </p:nvSpPr>
        <p:spPr>
          <a:xfrm>
            <a:off x="6995160" y="1691640"/>
            <a:ext cx="4160520" cy="548640"/>
          </a:xfrm>
          <a:prstGeom prst="roundRect">
            <a:avLst/>
          </a:prstGeom>
          <a:solidFill>
            <a:srgbClr val="DBEAFE"/>
          </a:solidFill>
          <a:ln w="12700">
            <a:solidFill>
              <a:srgbClr val="CBD5E1"/>
            </a:solidFill>
            <a:prstDash val="solid"/>
          </a:ln>
        </p:spPr>
        <p:txBody>
          <a:bodyPr/>
          <a:lstStyle/>
          <a:p>
            <a:endParaRPr lang="en-US"/>
          </a:p>
        </p:txBody>
      </p:sp>
      <p:sp>
        <p:nvSpPr>
          <p:cNvPr id="15" name="Text 13"/>
          <p:cNvSpPr/>
          <p:nvPr/>
        </p:nvSpPr>
        <p:spPr>
          <a:xfrm>
            <a:off x="7159752" y="1801368"/>
            <a:ext cx="3831336" cy="329184"/>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What are you doing?</a:t>
            </a:r>
            <a:endParaRPr lang="en-US" sz="1400" dirty="0"/>
          </a:p>
        </p:txBody>
      </p:sp>
      <p:sp>
        <p:nvSpPr>
          <p:cNvPr id="16" name="Shape 14"/>
          <p:cNvSpPr/>
          <p:nvPr/>
        </p:nvSpPr>
        <p:spPr>
          <a:xfrm>
            <a:off x="6995160" y="2377440"/>
            <a:ext cx="4160520" cy="548640"/>
          </a:xfrm>
          <a:prstGeom prst="roundRect">
            <a:avLst/>
          </a:prstGeom>
          <a:solidFill>
            <a:srgbClr val="E0F2FE"/>
          </a:solidFill>
          <a:ln w="12700">
            <a:solidFill>
              <a:srgbClr val="CBD5E1"/>
            </a:solidFill>
            <a:prstDash val="solid"/>
          </a:ln>
        </p:spPr>
        <p:txBody>
          <a:bodyPr/>
          <a:lstStyle/>
          <a:p>
            <a:endParaRPr lang="en-US"/>
          </a:p>
        </p:txBody>
      </p:sp>
      <p:sp>
        <p:nvSpPr>
          <p:cNvPr id="17" name="Text 15"/>
          <p:cNvSpPr/>
          <p:nvPr/>
        </p:nvSpPr>
        <p:spPr>
          <a:xfrm>
            <a:off x="7159752" y="2487168"/>
            <a:ext cx="3831336" cy="329184"/>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Planning / organising</a:t>
            </a:r>
            <a:endParaRPr lang="en-US" sz="1300" dirty="0"/>
          </a:p>
        </p:txBody>
      </p:sp>
      <p:sp>
        <p:nvSpPr>
          <p:cNvPr id="18" name="Shape 16"/>
          <p:cNvSpPr/>
          <p:nvPr/>
        </p:nvSpPr>
        <p:spPr>
          <a:xfrm>
            <a:off x="7104888" y="2377440"/>
            <a:ext cx="73152" cy="548640"/>
          </a:xfrm>
          <a:prstGeom prst="rect">
            <a:avLst/>
          </a:prstGeom>
          <a:solidFill>
            <a:srgbClr val="2563EB"/>
          </a:solidFill>
          <a:ln w="12700">
            <a:solidFill>
              <a:srgbClr val="2563EB"/>
            </a:solidFill>
            <a:prstDash val="solid"/>
          </a:ln>
        </p:spPr>
        <p:txBody>
          <a:bodyPr/>
          <a:lstStyle/>
          <a:p>
            <a:endParaRPr lang="en-US"/>
          </a:p>
        </p:txBody>
      </p:sp>
      <p:sp>
        <p:nvSpPr>
          <p:cNvPr id="19" name="Shape 17"/>
          <p:cNvSpPr/>
          <p:nvPr/>
        </p:nvSpPr>
        <p:spPr>
          <a:xfrm>
            <a:off x="6995160" y="3108960"/>
            <a:ext cx="4160520" cy="548640"/>
          </a:xfrm>
          <a:prstGeom prst="roundRect">
            <a:avLst/>
          </a:prstGeom>
          <a:solidFill>
            <a:srgbClr val="EDE9FE"/>
          </a:solidFill>
          <a:ln w="12700">
            <a:solidFill>
              <a:srgbClr val="CBD5E1"/>
            </a:solidFill>
            <a:prstDash val="solid"/>
          </a:ln>
        </p:spPr>
        <p:txBody>
          <a:bodyPr/>
          <a:lstStyle/>
          <a:p>
            <a:endParaRPr lang="en-US"/>
          </a:p>
        </p:txBody>
      </p:sp>
      <p:sp>
        <p:nvSpPr>
          <p:cNvPr id="20" name="Text 18"/>
          <p:cNvSpPr/>
          <p:nvPr/>
        </p:nvSpPr>
        <p:spPr>
          <a:xfrm>
            <a:off x="7159752" y="3218688"/>
            <a:ext cx="3831336" cy="329184"/>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Writing / rewriting</a:t>
            </a:r>
            <a:endParaRPr lang="en-US" sz="1300" dirty="0"/>
          </a:p>
        </p:txBody>
      </p:sp>
      <p:sp>
        <p:nvSpPr>
          <p:cNvPr id="21" name="Shape 19"/>
          <p:cNvSpPr/>
          <p:nvPr/>
        </p:nvSpPr>
        <p:spPr>
          <a:xfrm>
            <a:off x="7104888" y="3108960"/>
            <a:ext cx="73152" cy="548640"/>
          </a:xfrm>
          <a:prstGeom prst="rect">
            <a:avLst/>
          </a:prstGeom>
          <a:solidFill>
            <a:srgbClr val="2563EB"/>
          </a:solidFill>
          <a:ln w="12700">
            <a:solidFill>
              <a:srgbClr val="2563EB"/>
            </a:solidFill>
            <a:prstDash val="solid"/>
          </a:ln>
        </p:spPr>
        <p:txBody>
          <a:bodyPr/>
          <a:lstStyle/>
          <a:p>
            <a:endParaRPr lang="en-US"/>
          </a:p>
        </p:txBody>
      </p:sp>
      <p:sp>
        <p:nvSpPr>
          <p:cNvPr id="22" name="Shape 20"/>
          <p:cNvSpPr/>
          <p:nvPr/>
        </p:nvSpPr>
        <p:spPr>
          <a:xfrm>
            <a:off x="6995160" y="3840480"/>
            <a:ext cx="4160520" cy="548640"/>
          </a:xfrm>
          <a:prstGeom prst="roundRect">
            <a:avLst/>
          </a:prstGeom>
          <a:solidFill>
            <a:srgbClr val="D1FAE5"/>
          </a:solidFill>
          <a:ln w="12700">
            <a:solidFill>
              <a:srgbClr val="CBD5E1"/>
            </a:solidFill>
            <a:prstDash val="solid"/>
          </a:ln>
        </p:spPr>
        <p:txBody>
          <a:bodyPr/>
          <a:lstStyle/>
          <a:p>
            <a:endParaRPr lang="en-US"/>
          </a:p>
        </p:txBody>
      </p:sp>
      <p:sp>
        <p:nvSpPr>
          <p:cNvPr id="23" name="Text 21"/>
          <p:cNvSpPr/>
          <p:nvPr/>
        </p:nvSpPr>
        <p:spPr>
          <a:xfrm>
            <a:off x="7159752" y="3950208"/>
            <a:ext cx="3831336" cy="329184"/>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Summarising</a:t>
            </a:r>
            <a:endParaRPr lang="en-US" sz="1300" dirty="0"/>
          </a:p>
        </p:txBody>
      </p:sp>
      <p:sp>
        <p:nvSpPr>
          <p:cNvPr id="24" name="Shape 22"/>
          <p:cNvSpPr/>
          <p:nvPr/>
        </p:nvSpPr>
        <p:spPr>
          <a:xfrm>
            <a:off x="7104888" y="3840480"/>
            <a:ext cx="73152" cy="548640"/>
          </a:xfrm>
          <a:prstGeom prst="rect">
            <a:avLst/>
          </a:prstGeom>
          <a:solidFill>
            <a:srgbClr val="2563EB"/>
          </a:solidFill>
          <a:ln w="12700">
            <a:solidFill>
              <a:srgbClr val="2563EB"/>
            </a:solidFill>
            <a:prstDash val="solid"/>
          </a:ln>
        </p:spPr>
        <p:txBody>
          <a:bodyPr/>
          <a:lstStyle/>
          <a:p>
            <a:endParaRPr lang="en-US"/>
          </a:p>
        </p:txBody>
      </p:sp>
      <p:sp>
        <p:nvSpPr>
          <p:cNvPr id="25" name="Shape 23"/>
          <p:cNvSpPr/>
          <p:nvPr/>
        </p:nvSpPr>
        <p:spPr>
          <a:xfrm>
            <a:off x="6995160" y="4572000"/>
            <a:ext cx="4160520" cy="548640"/>
          </a:xfrm>
          <a:prstGeom prst="roundRect">
            <a:avLst/>
          </a:prstGeom>
          <a:solidFill>
            <a:srgbClr val="FEF3C7"/>
          </a:solidFill>
          <a:ln w="12700">
            <a:solidFill>
              <a:srgbClr val="CBD5E1"/>
            </a:solidFill>
            <a:prstDash val="solid"/>
          </a:ln>
        </p:spPr>
        <p:txBody>
          <a:bodyPr/>
          <a:lstStyle/>
          <a:p>
            <a:endParaRPr lang="en-US"/>
          </a:p>
        </p:txBody>
      </p:sp>
      <p:sp>
        <p:nvSpPr>
          <p:cNvPr id="26" name="Text 24"/>
          <p:cNvSpPr/>
          <p:nvPr/>
        </p:nvSpPr>
        <p:spPr>
          <a:xfrm>
            <a:off x="7159752" y="4681728"/>
            <a:ext cx="3831336" cy="329184"/>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Coding / debugging</a:t>
            </a:r>
            <a:endParaRPr lang="en-US" sz="1300" dirty="0"/>
          </a:p>
        </p:txBody>
      </p:sp>
      <p:sp>
        <p:nvSpPr>
          <p:cNvPr id="27" name="Shape 25"/>
          <p:cNvSpPr/>
          <p:nvPr/>
        </p:nvSpPr>
        <p:spPr>
          <a:xfrm>
            <a:off x="7104888" y="4572000"/>
            <a:ext cx="73152" cy="548640"/>
          </a:xfrm>
          <a:prstGeom prst="rect">
            <a:avLst/>
          </a:prstGeom>
          <a:solidFill>
            <a:srgbClr val="F59E0B"/>
          </a:solidFill>
          <a:ln w="12700">
            <a:solidFill>
              <a:srgbClr val="F59E0B"/>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6/18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6</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Template A — Planning / study plan</a:t>
            </a:r>
            <a:endParaRPr lang="en-US" sz="3400" dirty="0"/>
          </a:p>
        </p:txBody>
      </p:sp>
      <p:sp>
        <p:nvSpPr>
          <p:cNvPr id="11" name="Shape 9"/>
          <p:cNvSpPr/>
          <p:nvPr/>
        </p:nvSpPr>
        <p:spPr>
          <a:xfrm>
            <a:off x="868680" y="1508760"/>
            <a:ext cx="6446520" cy="3611880"/>
          </a:xfrm>
          <a:prstGeom prst="roundRect">
            <a:avLst/>
          </a:prstGeom>
          <a:solidFill>
            <a:schemeClr val="tx1"/>
          </a:solidFill>
          <a:ln w="12700">
            <a:solidFill>
              <a:srgbClr val="CBD5E1"/>
            </a:solidFill>
            <a:prstDash val="solid"/>
          </a:ln>
        </p:spPr>
        <p:txBody>
          <a:bodyPr/>
          <a:lstStyle/>
          <a:p>
            <a:endParaRPr lang="en-US"/>
          </a:p>
        </p:txBody>
      </p:sp>
      <p:sp>
        <p:nvSpPr>
          <p:cNvPr id="12" name="Text 10"/>
          <p:cNvSpPr/>
          <p:nvPr/>
        </p:nvSpPr>
        <p:spPr>
          <a:xfrm>
            <a:off x="1033272" y="1618488"/>
            <a:ext cx="6117336" cy="3392424"/>
          </a:xfrm>
          <a:prstGeom prst="rect">
            <a:avLst/>
          </a:prstGeom>
          <a:noFill/>
          <a:ln/>
        </p:spPr>
        <p:txBody>
          <a:bodyPr wrap="square" rtlCol="0" anchor="t"/>
          <a:lstStyle/>
          <a:p>
            <a:r>
              <a:rPr lang="en-AU" sz="1100" dirty="0">
                <a:solidFill>
                  <a:schemeClr val="accent2"/>
                </a:solidFill>
                <a:latin typeface="Consolas" panose="020B0609020204030204" pitchFamily="49" charset="0"/>
                <a:cs typeface="Consolas" panose="020B0609020204030204" pitchFamily="49" charset="0"/>
              </a:rPr>
              <a:t>ROLE</a:t>
            </a:r>
            <a:r>
              <a:rPr lang="en-AU" sz="1100" dirty="0">
                <a:solidFill>
                  <a:schemeClr val="bg1"/>
                </a:solidFill>
                <a:latin typeface="Consolas" panose="020B0609020204030204" pitchFamily="49" charset="0"/>
                <a:cs typeface="Consolas" panose="020B0609020204030204" pitchFamily="49" charset="0"/>
              </a:rPr>
              <a:t>: You are a [tutor/coach].</a:t>
            </a:r>
          </a:p>
          <a:p>
            <a:r>
              <a:rPr lang="en-AU" sz="1100" dirty="0">
                <a:solidFill>
                  <a:schemeClr val="accent2"/>
                </a:solidFill>
                <a:latin typeface="Consolas" panose="020B0609020204030204" pitchFamily="49" charset="0"/>
                <a:cs typeface="Consolas" panose="020B0609020204030204" pitchFamily="49" charset="0"/>
              </a:rPr>
              <a:t>TASK</a:t>
            </a:r>
            <a:r>
              <a:rPr lang="en-AU" sz="1100" dirty="0">
                <a:solidFill>
                  <a:schemeClr val="bg1"/>
                </a:solidFill>
                <a:latin typeface="Consolas" panose="020B0609020204030204" pitchFamily="49" charset="0"/>
                <a:cs typeface="Consolas" panose="020B0609020204030204" pitchFamily="49" charset="0"/>
              </a:rPr>
              <a:t>: Create a [2-week study plan / revision schedule / learning plan] for [topic].</a:t>
            </a:r>
          </a:p>
          <a:p>
            <a:r>
              <a:rPr lang="en-AU" sz="1100" dirty="0">
                <a:solidFill>
                  <a:schemeClr val="accent2"/>
                </a:solidFill>
                <a:latin typeface="Consolas" panose="020B0609020204030204" pitchFamily="49" charset="0"/>
                <a:cs typeface="Consolas" panose="020B0609020204030204" pitchFamily="49" charset="0"/>
              </a:rPr>
              <a:t>GOAL</a:t>
            </a:r>
            <a:r>
              <a:rPr lang="en-AU" sz="1100" dirty="0">
                <a:solidFill>
                  <a:schemeClr val="bg1"/>
                </a:solidFill>
                <a:latin typeface="Consolas" panose="020B0609020204030204" pitchFamily="49" charset="0"/>
                <a:cs typeface="Consolas" panose="020B0609020204030204" pitchFamily="49" charset="0"/>
              </a:rPr>
              <a:t>: [what success looks like].</a:t>
            </a:r>
          </a:p>
          <a:p>
            <a:r>
              <a:rPr lang="en-AU" sz="1100" dirty="0">
                <a:solidFill>
                  <a:schemeClr val="accent2"/>
                </a:solidFill>
                <a:latin typeface="Consolas" panose="020B0609020204030204" pitchFamily="49" charset="0"/>
                <a:cs typeface="Consolas" panose="020B0609020204030204" pitchFamily="49" charset="0"/>
              </a:rPr>
              <a:t>AUDIENCE/LEVEL</a:t>
            </a:r>
            <a:r>
              <a:rPr lang="en-AU" sz="1100" dirty="0">
                <a:solidFill>
                  <a:schemeClr val="bg1"/>
                </a:solidFill>
                <a:latin typeface="Consolas" panose="020B0609020204030204" pitchFamily="49" charset="0"/>
                <a:cs typeface="Consolas" panose="020B0609020204030204" pitchFamily="49" charset="0"/>
              </a:rPr>
              <a:t>: [beginner/intermediate + who they are].</a:t>
            </a:r>
          </a:p>
          <a:p>
            <a:r>
              <a:rPr lang="en-AU" sz="1100" dirty="0">
                <a:solidFill>
                  <a:schemeClr val="accent2"/>
                </a:solidFill>
                <a:latin typeface="Consolas" panose="020B0609020204030204" pitchFamily="49" charset="0"/>
                <a:cs typeface="Consolas" panose="020B0609020204030204" pitchFamily="49" charset="0"/>
              </a:rPr>
              <a:t>TIME</a:t>
            </a:r>
            <a:r>
              <a:rPr lang="en-AU" sz="1100" dirty="0">
                <a:solidFill>
                  <a:schemeClr val="bg1"/>
                </a:solidFill>
                <a:latin typeface="Consolas" panose="020B0609020204030204" pitchFamily="49" charset="0"/>
                <a:cs typeface="Consolas" panose="020B0609020204030204" pitchFamily="49" charset="0"/>
              </a:rPr>
              <a:t>: [x mins/day] for [y weeks].</a:t>
            </a:r>
          </a:p>
          <a:p>
            <a:r>
              <a:rPr lang="en-AU" sz="1100" dirty="0">
                <a:solidFill>
                  <a:schemeClr val="accent2"/>
                </a:solidFill>
                <a:latin typeface="Consolas" panose="020B0609020204030204" pitchFamily="49" charset="0"/>
                <a:cs typeface="Consolas" panose="020B0609020204030204" pitchFamily="49" charset="0"/>
              </a:rPr>
              <a:t>FOCUS TOPICS</a:t>
            </a:r>
            <a:r>
              <a:rPr lang="en-AU" sz="1100" dirty="0">
                <a:solidFill>
                  <a:schemeClr val="bg1"/>
                </a:solidFill>
                <a:latin typeface="Consolas" panose="020B0609020204030204" pitchFamily="49" charset="0"/>
                <a:cs typeface="Consolas" panose="020B0609020204030204" pitchFamily="49" charset="0"/>
              </a:rPr>
              <a:t>: [list].</a:t>
            </a:r>
          </a:p>
          <a:p>
            <a:r>
              <a:rPr lang="en-AU" sz="1100" dirty="0">
                <a:solidFill>
                  <a:schemeClr val="accent2"/>
                </a:solidFill>
                <a:latin typeface="Consolas" panose="020B0609020204030204" pitchFamily="49" charset="0"/>
                <a:cs typeface="Consolas" panose="020B0609020204030204" pitchFamily="49" charset="0"/>
              </a:rPr>
              <a:t>CONSTRAINTS</a:t>
            </a:r>
            <a:r>
              <a:rPr lang="en-AU" sz="1100" dirty="0">
                <a:solidFill>
                  <a:schemeClr val="bg1"/>
                </a:solidFill>
                <a:latin typeface="Consolas" panose="020B0609020204030204" pitchFamily="49" charset="0"/>
                <a:cs typeface="Consolas" panose="020B0609020204030204" pitchFamily="49" charset="0"/>
              </a:rPr>
              <a:t>: [must include / avoid].</a:t>
            </a:r>
          </a:p>
          <a:p>
            <a:r>
              <a:rPr lang="en-AU" sz="1100" dirty="0">
                <a:solidFill>
                  <a:schemeClr val="accent2"/>
                </a:solidFill>
                <a:latin typeface="Consolas" panose="020B0609020204030204" pitchFamily="49" charset="0"/>
                <a:cs typeface="Consolas" panose="020B0609020204030204" pitchFamily="49" charset="0"/>
              </a:rPr>
              <a:t>OUTPUT</a:t>
            </a:r>
            <a:r>
              <a:rPr lang="en-AU" sz="1100" dirty="0">
                <a:solidFill>
                  <a:schemeClr val="bg1"/>
                </a:solidFill>
                <a:latin typeface="Consolas" panose="020B0609020204030204" pitchFamily="49" charset="0"/>
                <a:cs typeface="Consolas" panose="020B0609020204030204" pitchFamily="49" charset="0"/>
              </a:rPr>
              <a:t>: Table with Day | Topic | Practice | 5-min recap.</a:t>
            </a:r>
          </a:p>
          <a:p>
            <a:r>
              <a:rPr lang="en-AU" sz="1100" dirty="0">
                <a:solidFill>
                  <a:schemeClr val="accent2"/>
                </a:solidFill>
                <a:latin typeface="Consolas" panose="020B0609020204030204" pitchFamily="49" charset="0"/>
                <a:cs typeface="Consolas" panose="020B0609020204030204" pitchFamily="49" charset="0"/>
              </a:rPr>
              <a:t>BEFORE STARTING</a:t>
            </a:r>
            <a:r>
              <a:rPr lang="en-AU" sz="1100" dirty="0">
                <a:solidFill>
                  <a:schemeClr val="bg1"/>
                </a:solidFill>
                <a:latin typeface="Consolas" panose="020B0609020204030204" pitchFamily="49" charset="0"/>
                <a:cs typeface="Consolas" panose="020B0609020204030204" pitchFamily="49" charset="0"/>
              </a:rPr>
              <a:t>: ask 3 clarifying questions. If unanswered, state assumptions.</a:t>
            </a:r>
          </a:p>
        </p:txBody>
      </p:sp>
      <p:sp>
        <p:nvSpPr>
          <p:cNvPr id="13" name="Shape 11"/>
          <p:cNvSpPr/>
          <p:nvPr/>
        </p:nvSpPr>
        <p:spPr>
          <a:xfrm>
            <a:off x="7543800" y="1508760"/>
            <a:ext cx="3977640" cy="3611880"/>
          </a:xfrm>
          <a:prstGeom prst="roundRect">
            <a:avLst/>
          </a:prstGeom>
          <a:solidFill>
            <a:srgbClr val="FFFFFF"/>
          </a:solidFill>
          <a:ln w="12700">
            <a:solidFill>
              <a:srgbClr val="CBD5E1"/>
            </a:solidFill>
            <a:prstDash val="solid"/>
          </a:ln>
        </p:spPr>
        <p:txBody>
          <a:bodyPr/>
          <a:lstStyle/>
          <a:p>
            <a:endParaRPr lang="en-US"/>
          </a:p>
        </p:txBody>
      </p:sp>
      <p:sp>
        <p:nvSpPr>
          <p:cNvPr id="14" name="Text 12"/>
          <p:cNvSpPr/>
          <p:nvPr/>
        </p:nvSpPr>
        <p:spPr>
          <a:xfrm>
            <a:off x="7726680" y="1645920"/>
            <a:ext cx="3611880" cy="320040"/>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Mini example (filled in)</a:t>
            </a:r>
            <a:endParaRPr lang="en-US" sz="1400" dirty="0"/>
          </a:p>
        </p:txBody>
      </p:sp>
      <p:sp>
        <p:nvSpPr>
          <p:cNvPr id="15" name="Text 13"/>
          <p:cNvSpPr/>
          <p:nvPr/>
        </p:nvSpPr>
        <p:spPr>
          <a:xfrm>
            <a:off x="7726680" y="2011680"/>
            <a:ext cx="3611880" cy="2560320"/>
          </a:xfrm>
          <a:prstGeom prst="rect">
            <a:avLst/>
          </a:prstGeom>
          <a:noFill/>
          <a:ln/>
        </p:spPr>
        <p:txBody>
          <a:bodyPr wrap="square" rtlCol="0" anchor="ctr"/>
          <a:lstStyle/>
          <a:p>
            <a:pPr marL="0" indent="0">
              <a:buNone/>
            </a:pPr>
            <a:r>
              <a:rPr lang="en-US" sz="1400" dirty="0">
                <a:solidFill>
                  <a:srgbClr val="111827"/>
                </a:solidFill>
                <a:latin typeface="Aptos" pitchFamily="34" charset="0"/>
                <a:ea typeface="Aptos" pitchFamily="34" charset="-122"/>
                <a:cs typeface="Aptos" pitchFamily="34" charset="-120"/>
              </a:rPr>
              <a:t>• 2-week SQL plan</a:t>
            </a: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 45 mins weekdays, 2 hrs weekends</a:t>
            </a: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 Goal: joins, aggregations, window functions</a:t>
            </a: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 Output: table + daily practice + recap</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7/18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7</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Template B — Summarise a reading (for study value)</a:t>
            </a:r>
            <a:endParaRPr lang="en-US" sz="3400" dirty="0"/>
          </a:p>
        </p:txBody>
      </p:sp>
      <p:sp>
        <p:nvSpPr>
          <p:cNvPr id="11" name="Shape 9"/>
          <p:cNvSpPr/>
          <p:nvPr/>
        </p:nvSpPr>
        <p:spPr>
          <a:xfrm>
            <a:off x="868680" y="1508760"/>
            <a:ext cx="10652760" cy="3611880"/>
          </a:xfrm>
          <a:prstGeom prst="roundRect">
            <a:avLst/>
          </a:prstGeom>
          <a:solidFill>
            <a:schemeClr val="tx1"/>
          </a:solidFill>
          <a:ln w="12700">
            <a:solidFill>
              <a:srgbClr val="CBD5E1"/>
            </a:solidFill>
            <a:prstDash val="solid"/>
          </a:ln>
        </p:spPr>
        <p:txBody>
          <a:bodyPr/>
          <a:lstStyle/>
          <a:p>
            <a:endParaRPr lang="en-US"/>
          </a:p>
        </p:txBody>
      </p:sp>
      <p:sp>
        <p:nvSpPr>
          <p:cNvPr id="12" name="Text 10"/>
          <p:cNvSpPr/>
          <p:nvPr/>
        </p:nvSpPr>
        <p:spPr>
          <a:xfrm>
            <a:off x="1033272" y="1618488"/>
            <a:ext cx="10323576" cy="3392424"/>
          </a:xfrm>
          <a:prstGeom prst="rect">
            <a:avLst/>
          </a:prstGeom>
          <a:noFill/>
          <a:ln/>
        </p:spPr>
        <p:txBody>
          <a:bodyPr wrap="square" rtlCol="0" anchor="t"/>
          <a:lstStyle/>
          <a:p>
            <a:r>
              <a:rPr lang="en-AU" sz="1100" b="1" dirty="0">
                <a:solidFill>
                  <a:schemeClr val="accent2"/>
                </a:solidFill>
                <a:latin typeface="Consolas" panose="020B0609020204030204" pitchFamily="49" charset="0"/>
                <a:cs typeface="Consolas" panose="020B0609020204030204" pitchFamily="49" charset="0"/>
              </a:rPr>
              <a:t>ROLE</a:t>
            </a:r>
            <a:r>
              <a:rPr lang="en-AU" sz="1100" dirty="0">
                <a:solidFill>
                  <a:schemeClr val="bg1"/>
                </a:solidFill>
                <a:latin typeface="Consolas" panose="020B0609020204030204" pitchFamily="49" charset="0"/>
                <a:cs typeface="Consolas" panose="020B0609020204030204" pitchFamily="49" charset="0"/>
              </a:rPr>
              <a:t>: You are a [</a:t>
            </a:r>
            <a:r>
              <a:rPr lang="en-AU" sz="1100" dirty="0" err="1">
                <a:solidFill>
                  <a:schemeClr val="bg1"/>
                </a:solidFill>
                <a:latin typeface="Consolas" panose="020B0609020204030204" pitchFamily="49" charset="0"/>
                <a:cs typeface="Consolas" panose="020B0609020204030204" pitchFamily="49" charset="0"/>
              </a:rPr>
              <a:t>uni</a:t>
            </a:r>
            <a:r>
              <a:rPr lang="en-AU" sz="1100" dirty="0">
                <a:solidFill>
                  <a:schemeClr val="bg1"/>
                </a:solidFill>
                <a:latin typeface="Consolas" panose="020B0609020204030204" pitchFamily="49" charset="0"/>
                <a:cs typeface="Consolas" panose="020B0609020204030204" pitchFamily="49" charset="0"/>
              </a:rPr>
              <a:t> tutor].</a:t>
            </a:r>
          </a:p>
          <a:p>
            <a:r>
              <a:rPr lang="en-AU" sz="1100" dirty="0">
                <a:solidFill>
                  <a:schemeClr val="accent2"/>
                </a:solidFill>
                <a:latin typeface="Consolas" panose="020B0609020204030204" pitchFamily="49" charset="0"/>
                <a:cs typeface="Consolas" panose="020B0609020204030204" pitchFamily="49" charset="0"/>
              </a:rPr>
              <a:t>TASK</a:t>
            </a:r>
            <a:r>
              <a:rPr lang="en-AU" sz="1100" dirty="0">
                <a:solidFill>
                  <a:schemeClr val="bg1"/>
                </a:solidFill>
                <a:latin typeface="Consolas" panose="020B0609020204030204" pitchFamily="49" charset="0"/>
                <a:cs typeface="Consolas" panose="020B0609020204030204" pitchFamily="49" charset="0"/>
              </a:rPr>
              <a:t>: Summarise the text I paste.</a:t>
            </a:r>
          </a:p>
          <a:p>
            <a:r>
              <a:rPr lang="en-AU" sz="1100" dirty="0">
                <a:solidFill>
                  <a:schemeClr val="accent2"/>
                </a:solidFill>
                <a:latin typeface="Consolas" panose="020B0609020204030204" pitchFamily="49" charset="0"/>
                <a:cs typeface="Consolas" panose="020B0609020204030204" pitchFamily="49" charset="0"/>
              </a:rPr>
              <a:t>TEXT</a:t>
            </a:r>
            <a:r>
              <a:rPr lang="en-AU" sz="1100" dirty="0">
                <a:solidFill>
                  <a:schemeClr val="bg1"/>
                </a:solidFill>
                <a:latin typeface="Consolas" panose="020B0609020204030204" pitchFamily="49" charset="0"/>
                <a:cs typeface="Consolas" panose="020B0609020204030204" pitchFamily="49" charset="0"/>
              </a:rPr>
              <a:t>: [PASTE THE READING HERE]</a:t>
            </a:r>
          </a:p>
          <a:p>
            <a:r>
              <a:rPr lang="en-AU" sz="1100" dirty="0">
                <a:solidFill>
                  <a:schemeClr val="accent2"/>
                </a:solidFill>
                <a:latin typeface="Consolas" panose="020B0609020204030204" pitchFamily="49" charset="0"/>
                <a:cs typeface="Consolas" panose="020B0609020204030204" pitchFamily="49" charset="0"/>
              </a:rPr>
              <a:t>CONTEXT</a:t>
            </a:r>
            <a:r>
              <a:rPr lang="en-AU" sz="1100" dirty="0">
                <a:solidFill>
                  <a:schemeClr val="bg1"/>
                </a:solidFill>
                <a:latin typeface="Consolas" panose="020B0609020204030204" pitchFamily="49" charset="0"/>
                <a:cs typeface="Consolas" panose="020B0609020204030204" pitchFamily="49" charset="0"/>
              </a:rPr>
              <a:t>: This is for [course/assessment]. Topic is [topic]. Assessment focus is [what matters].</a:t>
            </a:r>
          </a:p>
          <a:p>
            <a:r>
              <a:rPr lang="en-AU" sz="1100" dirty="0">
                <a:solidFill>
                  <a:schemeClr val="accent2"/>
                </a:solidFill>
                <a:latin typeface="Consolas" panose="020B0609020204030204" pitchFamily="49" charset="0"/>
                <a:cs typeface="Consolas" panose="020B0609020204030204" pitchFamily="49" charset="0"/>
              </a:rPr>
              <a:t>OUTPUT</a:t>
            </a:r>
            <a:r>
              <a:rPr lang="en-AU" sz="1100" dirty="0">
                <a:solidFill>
                  <a:schemeClr val="bg1"/>
                </a:solidFill>
                <a:latin typeface="Consolas" panose="020B0609020204030204" pitchFamily="49" charset="0"/>
                <a:cs typeface="Consolas" panose="020B0609020204030204" pitchFamily="49" charset="0"/>
              </a:rPr>
              <a:t>:</a:t>
            </a:r>
          </a:p>
          <a:p>
            <a:r>
              <a:rPr lang="en-AU" sz="1100" dirty="0">
                <a:solidFill>
                  <a:schemeClr val="bg1"/>
                </a:solidFill>
                <a:latin typeface="Consolas" panose="020B0609020204030204" pitchFamily="49" charset="0"/>
                <a:cs typeface="Consolas" panose="020B0609020204030204" pitchFamily="49" charset="0"/>
              </a:rPr>
              <a:t>1) 5 key claims</a:t>
            </a:r>
          </a:p>
          <a:p>
            <a:r>
              <a:rPr lang="en-AU" sz="1100" dirty="0">
                <a:solidFill>
                  <a:schemeClr val="bg1"/>
                </a:solidFill>
                <a:latin typeface="Consolas" panose="020B0609020204030204" pitchFamily="49" charset="0"/>
                <a:cs typeface="Consolas" panose="020B0609020204030204" pitchFamily="49" charset="0"/>
              </a:rPr>
              <a:t>2) 3 pieces of evidence (quote or point to the relevant line)</a:t>
            </a:r>
          </a:p>
          <a:p>
            <a:r>
              <a:rPr lang="en-AU" sz="1100" dirty="0">
                <a:solidFill>
                  <a:schemeClr val="bg1"/>
                </a:solidFill>
                <a:latin typeface="Consolas" panose="020B0609020204030204" pitchFamily="49" charset="0"/>
                <a:cs typeface="Consolas" panose="020B0609020204030204" pitchFamily="49" charset="0"/>
              </a:rPr>
              <a:t>3) 2 limitations/assumptions</a:t>
            </a:r>
          </a:p>
          <a:p>
            <a:r>
              <a:rPr lang="en-AU" sz="1100" dirty="0">
                <a:solidFill>
                  <a:schemeClr val="bg1"/>
                </a:solidFill>
                <a:latin typeface="Consolas" panose="020B0609020204030204" pitchFamily="49" charset="0"/>
                <a:cs typeface="Consolas" panose="020B0609020204030204" pitchFamily="49" charset="0"/>
              </a:rPr>
              <a:t>4) 5 exam-style questions + model answers</a:t>
            </a:r>
          </a:p>
          <a:p>
            <a:r>
              <a:rPr lang="en-AU" sz="1100" dirty="0">
                <a:solidFill>
                  <a:schemeClr val="accent2"/>
                </a:solidFill>
                <a:latin typeface="Consolas" panose="020B0609020204030204" pitchFamily="49" charset="0"/>
                <a:cs typeface="Consolas" panose="020B0609020204030204" pitchFamily="49" charset="0"/>
              </a:rPr>
              <a:t>CONSTRAINTS</a:t>
            </a:r>
            <a:r>
              <a:rPr lang="en-AU" sz="1100" dirty="0">
                <a:solidFill>
                  <a:schemeClr val="bg1"/>
                </a:solidFill>
                <a:latin typeface="Consolas" panose="020B0609020204030204" pitchFamily="49" charset="0"/>
                <a:cs typeface="Consolas" panose="020B0609020204030204" pitchFamily="49" charset="0"/>
              </a:rPr>
              <a:t>: Use simple language. Don’t invent facts or citations. If unsure, say so.</a:t>
            </a:r>
          </a:p>
          <a:p>
            <a:r>
              <a:rPr lang="en-AU" sz="1100" dirty="0">
                <a:solidFill>
                  <a:schemeClr val="accent2"/>
                </a:solidFill>
                <a:latin typeface="Consolas" panose="020B0609020204030204" pitchFamily="49" charset="0"/>
                <a:cs typeface="Consolas" panose="020B0609020204030204" pitchFamily="49" charset="0"/>
              </a:rPr>
              <a:t>CHECKS</a:t>
            </a:r>
            <a:r>
              <a:rPr lang="en-AU" sz="1100" dirty="0">
                <a:solidFill>
                  <a:schemeClr val="bg1"/>
                </a:solidFill>
                <a:latin typeface="Consolas" panose="020B0609020204030204" pitchFamily="49" charset="0"/>
                <a:cs typeface="Consolas" panose="020B0609020204030204" pitchFamily="49" charset="0"/>
              </a:rPr>
              <a:t>: If the text isn’t provided, ask me to paste it before answering.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8/18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8</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Template C — Writing / rewrite</a:t>
            </a:r>
            <a:endParaRPr lang="en-US" sz="3400" dirty="0"/>
          </a:p>
        </p:txBody>
      </p:sp>
      <p:sp>
        <p:nvSpPr>
          <p:cNvPr id="11" name="Shape 9"/>
          <p:cNvSpPr/>
          <p:nvPr/>
        </p:nvSpPr>
        <p:spPr>
          <a:xfrm>
            <a:off x="868680" y="1508760"/>
            <a:ext cx="10652760" cy="3611880"/>
          </a:xfrm>
          <a:prstGeom prst="roundRect">
            <a:avLst/>
          </a:prstGeom>
          <a:solidFill>
            <a:schemeClr val="tx1"/>
          </a:solidFill>
          <a:ln w="12700">
            <a:solidFill>
              <a:srgbClr val="CBD5E1"/>
            </a:solidFill>
            <a:prstDash val="solid"/>
          </a:ln>
        </p:spPr>
        <p:txBody>
          <a:bodyPr/>
          <a:lstStyle/>
          <a:p>
            <a:endParaRPr lang="en-US"/>
          </a:p>
        </p:txBody>
      </p:sp>
      <p:sp>
        <p:nvSpPr>
          <p:cNvPr id="12" name="Text 10"/>
          <p:cNvSpPr/>
          <p:nvPr/>
        </p:nvSpPr>
        <p:spPr>
          <a:xfrm>
            <a:off x="1033272" y="1618488"/>
            <a:ext cx="10323576" cy="3392424"/>
          </a:xfrm>
          <a:prstGeom prst="rect">
            <a:avLst/>
          </a:prstGeom>
          <a:noFill/>
          <a:ln/>
        </p:spPr>
        <p:txBody>
          <a:bodyPr wrap="square" rtlCol="0" anchor="t"/>
          <a:lstStyle/>
          <a:p>
            <a:r>
              <a:rPr lang="en-AU" sz="1100" dirty="0">
                <a:solidFill>
                  <a:schemeClr val="accent2"/>
                </a:solidFill>
                <a:latin typeface="Consolas" panose="020B0609020204030204" pitchFamily="49" charset="0"/>
                <a:cs typeface="Consolas" panose="020B0609020204030204" pitchFamily="49" charset="0"/>
              </a:rPr>
              <a:t>ROLE</a:t>
            </a:r>
            <a:r>
              <a:rPr lang="en-AU" sz="1100" dirty="0">
                <a:solidFill>
                  <a:schemeClr val="bg1"/>
                </a:solidFill>
                <a:latin typeface="Consolas" panose="020B0609020204030204" pitchFamily="49" charset="0"/>
                <a:cs typeface="Consolas" panose="020B0609020204030204" pitchFamily="49" charset="0"/>
              </a:rPr>
              <a:t>: You are a [writing tutor].</a:t>
            </a:r>
          </a:p>
          <a:p>
            <a:r>
              <a:rPr lang="en-AU" sz="1100" dirty="0">
                <a:solidFill>
                  <a:schemeClr val="accent2"/>
                </a:solidFill>
                <a:latin typeface="Consolas" panose="020B0609020204030204" pitchFamily="49" charset="0"/>
                <a:cs typeface="Consolas" panose="020B0609020204030204" pitchFamily="49" charset="0"/>
              </a:rPr>
              <a:t>TASK</a:t>
            </a:r>
            <a:r>
              <a:rPr lang="en-AU" sz="1100" dirty="0">
                <a:solidFill>
                  <a:schemeClr val="bg1"/>
                </a:solidFill>
                <a:latin typeface="Consolas" panose="020B0609020204030204" pitchFamily="49" charset="0"/>
                <a:cs typeface="Consolas" panose="020B0609020204030204" pitchFamily="49" charset="0"/>
              </a:rPr>
              <a:t>: [rewrite / improve structure / tighten argument].</a:t>
            </a:r>
          </a:p>
          <a:p>
            <a:r>
              <a:rPr lang="en-AU" sz="1100" dirty="0">
                <a:solidFill>
                  <a:schemeClr val="accent2"/>
                </a:solidFill>
                <a:latin typeface="Consolas" panose="020B0609020204030204" pitchFamily="49" charset="0"/>
                <a:cs typeface="Consolas" panose="020B0609020204030204" pitchFamily="49" charset="0"/>
              </a:rPr>
              <a:t>TEXT</a:t>
            </a:r>
            <a:r>
              <a:rPr lang="en-AU" sz="1100" dirty="0">
                <a:solidFill>
                  <a:schemeClr val="bg1"/>
                </a:solidFill>
                <a:latin typeface="Consolas" panose="020B0609020204030204" pitchFamily="49" charset="0"/>
                <a:cs typeface="Consolas" panose="020B0609020204030204" pitchFamily="49" charset="0"/>
              </a:rPr>
              <a:t>: [paste the text].</a:t>
            </a:r>
          </a:p>
          <a:p>
            <a:r>
              <a:rPr lang="en-AU" sz="1100" dirty="0">
                <a:solidFill>
                  <a:schemeClr val="accent2"/>
                </a:solidFill>
                <a:latin typeface="Consolas" panose="020B0609020204030204" pitchFamily="49" charset="0"/>
                <a:cs typeface="Consolas" panose="020B0609020204030204" pitchFamily="49" charset="0"/>
              </a:rPr>
              <a:t>AUDIENCE</a:t>
            </a:r>
            <a:r>
              <a:rPr lang="en-AU" sz="1100" dirty="0">
                <a:solidFill>
                  <a:schemeClr val="bg1"/>
                </a:solidFill>
                <a:latin typeface="Consolas" panose="020B0609020204030204" pitchFamily="49" charset="0"/>
                <a:cs typeface="Consolas" panose="020B0609020204030204" pitchFamily="49" charset="0"/>
              </a:rPr>
              <a:t>: [marker / general public / colleague].</a:t>
            </a:r>
          </a:p>
          <a:p>
            <a:r>
              <a:rPr lang="en-AU" sz="1100" dirty="0">
                <a:solidFill>
                  <a:schemeClr val="accent2"/>
                </a:solidFill>
                <a:latin typeface="Consolas" panose="020B0609020204030204" pitchFamily="49" charset="0"/>
                <a:cs typeface="Consolas" panose="020B0609020204030204" pitchFamily="49" charset="0"/>
              </a:rPr>
              <a:t>CONSTRAINTS</a:t>
            </a:r>
            <a:r>
              <a:rPr lang="en-AU" sz="1100" dirty="0">
                <a:solidFill>
                  <a:schemeClr val="bg1"/>
                </a:solidFill>
                <a:latin typeface="Consolas" panose="020B0609020204030204" pitchFamily="49" charset="0"/>
                <a:cs typeface="Consolas" panose="020B0609020204030204" pitchFamily="49" charset="0"/>
              </a:rPr>
              <a:t>: Keep meaning the same. Tone: [formal / neutral / friendly]. Length: [120–160 words]. Avoid: [fluff / jargon / passive voice].</a:t>
            </a:r>
          </a:p>
          <a:p>
            <a:r>
              <a:rPr lang="en-AU" sz="1100" dirty="0">
                <a:solidFill>
                  <a:schemeClr val="accent2"/>
                </a:solidFill>
                <a:latin typeface="Consolas" panose="020B0609020204030204" pitchFamily="49" charset="0"/>
                <a:cs typeface="Consolas" panose="020B0609020204030204" pitchFamily="49" charset="0"/>
              </a:rPr>
              <a:t>OUTPUT</a:t>
            </a:r>
            <a:r>
              <a:rPr lang="en-AU" sz="1100" dirty="0">
                <a:solidFill>
                  <a:schemeClr val="bg1"/>
                </a:solidFill>
                <a:latin typeface="Consolas" panose="020B0609020204030204" pitchFamily="49" charset="0"/>
                <a:cs typeface="Consolas" panose="020B0609020204030204" pitchFamily="49" charset="0"/>
              </a:rPr>
              <a:t>:</a:t>
            </a:r>
          </a:p>
          <a:p>
            <a:r>
              <a:rPr lang="en-AU" sz="1100" dirty="0">
                <a:solidFill>
                  <a:schemeClr val="bg1"/>
                </a:solidFill>
                <a:latin typeface="Consolas" panose="020B0609020204030204" pitchFamily="49" charset="0"/>
                <a:cs typeface="Consolas" panose="020B0609020204030204" pitchFamily="49" charset="0"/>
              </a:rPr>
              <a:t>1) Revised version</a:t>
            </a:r>
          </a:p>
          <a:p>
            <a:r>
              <a:rPr lang="en-AU" sz="1100" dirty="0">
                <a:solidFill>
                  <a:schemeClr val="bg1"/>
                </a:solidFill>
                <a:latin typeface="Consolas" panose="020B0609020204030204" pitchFamily="49" charset="0"/>
                <a:cs typeface="Consolas" panose="020B0609020204030204" pitchFamily="49" charset="0"/>
              </a:rPr>
              <a:t>2) 5 bullet notes explaining what changed and why</a:t>
            </a:r>
          </a:p>
          <a:p>
            <a:r>
              <a:rPr lang="en-AU" sz="1100" dirty="0">
                <a:solidFill>
                  <a:schemeClr val="accent2"/>
                </a:solidFill>
                <a:latin typeface="Consolas" panose="020B0609020204030204" pitchFamily="49" charset="0"/>
                <a:cs typeface="Consolas" panose="020B0609020204030204" pitchFamily="49" charset="0"/>
              </a:rPr>
              <a:t>CHECKS</a:t>
            </a:r>
            <a:r>
              <a:rPr lang="en-AU" sz="1100" dirty="0">
                <a:solidFill>
                  <a:schemeClr val="bg1"/>
                </a:solidFill>
                <a:latin typeface="Consolas" panose="020B0609020204030204" pitchFamily="49" charset="0"/>
                <a:cs typeface="Consolas" panose="020B0609020204030204" pitchFamily="49" charset="0"/>
              </a:rPr>
              <a:t>: Flag any ambiguous parts you had to interpret, and list the assumption you made (if any).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9/18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9</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Template D — Coding / debugging</a:t>
            </a:r>
            <a:endParaRPr lang="en-US" sz="3400" dirty="0"/>
          </a:p>
        </p:txBody>
      </p:sp>
      <p:sp>
        <p:nvSpPr>
          <p:cNvPr id="11" name="Shape 9"/>
          <p:cNvSpPr/>
          <p:nvPr/>
        </p:nvSpPr>
        <p:spPr>
          <a:xfrm>
            <a:off x="868680" y="1508760"/>
            <a:ext cx="10652760" cy="3611880"/>
          </a:xfrm>
          <a:prstGeom prst="roundRect">
            <a:avLst/>
          </a:prstGeom>
          <a:solidFill>
            <a:schemeClr val="tx1"/>
          </a:solidFill>
          <a:ln w="12700">
            <a:solidFill>
              <a:srgbClr val="CBD5E1"/>
            </a:solidFill>
            <a:prstDash val="solid"/>
          </a:ln>
        </p:spPr>
        <p:txBody>
          <a:bodyPr/>
          <a:lstStyle/>
          <a:p>
            <a:endParaRPr lang="en-US"/>
          </a:p>
        </p:txBody>
      </p:sp>
      <p:sp>
        <p:nvSpPr>
          <p:cNvPr id="12" name="Text 10"/>
          <p:cNvSpPr/>
          <p:nvPr/>
        </p:nvSpPr>
        <p:spPr>
          <a:xfrm>
            <a:off x="1033272" y="1618488"/>
            <a:ext cx="10323576" cy="3392424"/>
          </a:xfrm>
          <a:prstGeom prst="rect">
            <a:avLst/>
          </a:prstGeom>
          <a:noFill/>
          <a:ln/>
        </p:spPr>
        <p:txBody>
          <a:bodyPr wrap="square" rtlCol="0" anchor="t"/>
          <a:lstStyle/>
          <a:p>
            <a:r>
              <a:rPr lang="en-AU" sz="1100" dirty="0">
                <a:solidFill>
                  <a:schemeClr val="accent2"/>
                </a:solidFill>
                <a:latin typeface="Consolas" panose="020B0609020204030204" pitchFamily="49" charset="0"/>
                <a:cs typeface="Consolas" panose="020B0609020204030204" pitchFamily="49" charset="0"/>
              </a:rPr>
              <a:t>ROLE</a:t>
            </a:r>
            <a:r>
              <a:rPr lang="en-AU" sz="1100" dirty="0">
                <a:solidFill>
                  <a:schemeClr val="bg1"/>
                </a:solidFill>
                <a:latin typeface="Consolas" panose="020B0609020204030204" pitchFamily="49" charset="0"/>
                <a:cs typeface="Consolas" panose="020B0609020204030204" pitchFamily="49" charset="0"/>
              </a:rPr>
              <a:t>: You are a [Python/SQL] tutor.</a:t>
            </a:r>
          </a:p>
          <a:p>
            <a:r>
              <a:rPr lang="en-AU" sz="1100" dirty="0">
                <a:solidFill>
                  <a:schemeClr val="accent2"/>
                </a:solidFill>
                <a:latin typeface="Consolas" panose="020B0609020204030204" pitchFamily="49" charset="0"/>
                <a:cs typeface="Consolas" panose="020B0609020204030204" pitchFamily="49" charset="0"/>
              </a:rPr>
              <a:t>TASK</a:t>
            </a:r>
            <a:r>
              <a:rPr lang="en-AU" sz="1100" dirty="0">
                <a:solidFill>
                  <a:schemeClr val="bg1"/>
                </a:solidFill>
                <a:latin typeface="Consolas" panose="020B0609020204030204" pitchFamily="49" charset="0"/>
                <a:cs typeface="Consolas" panose="020B0609020204030204" pitchFamily="49" charset="0"/>
              </a:rPr>
              <a:t>: Fix the bug and explain it simply.</a:t>
            </a:r>
          </a:p>
          <a:p>
            <a:r>
              <a:rPr lang="en-AU" sz="1100" dirty="0">
                <a:solidFill>
                  <a:schemeClr val="accent2"/>
                </a:solidFill>
                <a:latin typeface="Consolas" panose="020B0609020204030204" pitchFamily="49" charset="0"/>
                <a:cs typeface="Consolas" panose="020B0609020204030204" pitchFamily="49" charset="0"/>
              </a:rPr>
              <a:t>INPUTS</a:t>
            </a:r>
            <a:r>
              <a:rPr lang="en-AU" sz="1100" dirty="0">
                <a:solidFill>
                  <a:schemeClr val="bg1"/>
                </a:solidFill>
                <a:latin typeface="Consolas" panose="020B0609020204030204" pitchFamily="49" charset="0"/>
                <a:cs typeface="Consolas" panose="020B0609020204030204" pitchFamily="49" charset="0"/>
              </a:rPr>
              <a:t>: </a:t>
            </a:r>
          </a:p>
          <a:p>
            <a:r>
              <a:rPr lang="en-AU" sz="1100" dirty="0">
                <a:solidFill>
                  <a:schemeClr val="bg1"/>
                </a:solidFill>
                <a:latin typeface="Consolas" panose="020B0609020204030204" pitchFamily="49" charset="0"/>
                <a:cs typeface="Consolas" panose="020B0609020204030204" pitchFamily="49" charset="0"/>
              </a:rPr>
              <a:t>- Code: [paste]</a:t>
            </a:r>
          </a:p>
          <a:p>
            <a:r>
              <a:rPr lang="en-AU" sz="1100" dirty="0">
                <a:solidFill>
                  <a:schemeClr val="bg1"/>
                </a:solidFill>
                <a:latin typeface="Consolas" panose="020B0609020204030204" pitchFamily="49" charset="0"/>
                <a:cs typeface="Consolas" panose="020B0609020204030204" pitchFamily="49" charset="0"/>
              </a:rPr>
              <a:t>- Error/output: [paste]</a:t>
            </a:r>
          </a:p>
          <a:p>
            <a:r>
              <a:rPr lang="en-AU" sz="1100" dirty="0">
                <a:solidFill>
                  <a:schemeClr val="bg1"/>
                </a:solidFill>
                <a:latin typeface="Consolas" panose="020B0609020204030204" pitchFamily="49" charset="0"/>
                <a:cs typeface="Consolas" panose="020B0609020204030204" pitchFamily="49" charset="0"/>
              </a:rPr>
              <a:t>- Environment: [Python version / SQL engine / DB / libraries]</a:t>
            </a:r>
          </a:p>
          <a:p>
            <a:r>
              <a:rPr lang="en-AU" sz="1100" dirty="0">
                <a:solidFill>
                  <a:schemeClr val="accent2"/>
                </a:solidFill>
                <a:latin typeface="Consolas" panose="020B0609020204030204" pitchFamily="49" charset="0"/>
                <a:cs typeface="Consolas" panose="020B0609020204030204" pitchFamily="49" charset="0"/>
              </a:rPr>
              <a:t>CONSTRAINTS</a:t>
            </a:r>
            <a:r>
              <a:rPr lang="en-AU" sz="1100" dirty="0">
                <a:solidFill>
                  <a:schemeClr val="bg1"/>
                </a:solidFill>
                <a:latin typeface="Consolas" panose="020B0609020204030204" pitchFamily="49" charset="0"/>
                <a:cs typeface="Consolas" panose="020B0609020204030204" pitchFamily="49" charset="0"/>
              </a:rPr>
              <a:t>: Don’t change [X]. Optimise for [readability / performance]. Keep behaviour the same except for the fix.</a:t>
            </a:r>
          </a:p>
          <a:p>
            <a:r>
              <a:rPr lang="en-AU" sz="1100" dirty="0">
                <a:solidFill>
                  <a:schemeClr val="accent2"/>
                </a:solidFill>
                <a:latin typeface="Consolas" panose="020B0609020204030204" pitchFamily="49" charset="0"/>
                <a:cs typeface="Consolas" panose="020B0609020204030204" pitchFamily="49" charset="0"/>
              </a:rPr>
              <a:t>OUTPUT</a:t>
            </a:r>
            <a:r>
              <a:rPr lang="en-AU" sz="1100" dirty="0">
                <a:solidFill>
                  <a:schemeClr val="bg1"/>
                </a:solidFill>
                <a:latin typeface="Consolas" panose="020B0609020204030204" pitchFamily="49" charset="0"/>
                <a:cs typeface="Consolas" panose="020B0609020204030204" pitchFamily="49" charset="0"/>
              </a:rPr>
              <a:t>:</a:t>
            </a:r>
          </a:p>
          <a:p>
            <a:r>
              <a:rPr lang="en-AU" sz="1100" dirty="0">
                <a:solidFill>
                  <a:schemeClr val="bg1"/>
                </a:solidFill>
                <a:latin typeface="Consolas" panose="020B0609020204030204" pitchFamily="49" charset="0"/>
                <a:cs typeface="Consolas" panose="020B0609020204030204" pitchFamily="49" charset="0"/>
              </a:rPr>
              <a:t>1) What’s wrong (simple English)</a:t>
            </a:r>
          </a:p>
          <a:p>
            <a:r>
              <a:rPr lang="en-AU" sz="1100" dirty="0">
                <a:solidFill>
                  <a:schemeClr val="bg1"/>
                </a:solidFill>
                <a:latin typeface="Consolas" panose="020B0609020204030204" pitchFamily="49" charset="0"/>
                <a:cs typeface="Consolas" panose="020B0609020204030204" pitchFamily="49" charset="0"/>
              </a:rPr>
              <a:t>2) Corrected code (full snippet)</a:t>
            </a:r>
          </a:p>
          <a:p>
            <a:r>
              <a:rPr lang="en-AU" sz="1100" dirty="0">
                <a:solidFill>
                  <a:schemeClr val="bg1"/>
                </a:solidFill>
                <a:latin typeface="Consolas" panose="020B0609020204030204" pitchFamily="49" charset="0"/>
                <a:cs typeface="Consolas" panose="020B0609020204030204" pitchFamily="49" charset="0"/>
              </a:rPr>
              <a:t>3) 2 quick tests + expected results</a:t>
            </a:r>
          </a:p>
          <a:p>
            <a:r>
              <a:rPr lang="en-AU" sz="1100" dirty="0">
                <a:solidFill>
                  <a:schemeClr val="bg1"/>
                </a:solidFill>
                <a:latin typeface="Consolas" panose="020B0609020204030204" pitchFamily="49" charset="0"/>
                <a:cs typeface="Consolas" panose="020B0609020204030204" pitchFamily="49" charset="0"/>
              </a:rPr>
              <a:t>4) One improvement suggestion (optional refactor)</a:t>
            </a:r>
          </a:p>
          <a:p>
            <a:r>
              <a:rPr lang="en-AU" sz="1100" dirty="0">
                <a:solidFill>
                  <a:schemeClr val="accent2"/>
                </a:solidFill>
                <a:latin typeface="Consolas" panose="020B0609020204030204" pitchFamily="49" charset="0"/>
                <a:cs typeface="Consolas" panose="020B0609020204030204" pitchFamily="49" charset="0"/>
              </a:rPr>
              <a:t>CHECKS</a:t>
            </a:r>
            <a:r>
              <a:rPr lang="en-AU" sz="1100" dirty="0">
                <a:solidFill>
                  <a:schemeClr val="bg1"/>
                </a:solidFill>
                <a:latin typeface="Consolas" panose="020B0609020204030204" pitchFamily="49" charset="0"/>
                <a:cs typeface="Consolas" panose="020B0609020204030204" pitchFamily="49" charset="0"/>
              </a:rPr>
              <a:t>: If anything is missing, ask up to 3 clarifying questions before fixing.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10/18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10</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Template E — Decisions / compare options</a:t>
            </a:r>
            <a:endParaRPr lang="en-US" sz="3400" dirty="0"/>
          </a:p>
        </p:txBody>
      </p:sp>
      <p:sp>
        <p:nvSpPr>
          <p:cNvPr id="11" name="Shape 9"/>
          <p:cNvSpPr/>
          <p:nvPr/>
        </p:nvSpPr>
        <p:spPr>
          <a:xfrm>
            <a:off x="868680" y="1508760"/>
            <a:ext cx="10652760" cy="3611880"/>
          </a:xfrm>
          <a:prstGeom prst="roundRect">
            <a:avLst/>
          </a:prstGeom>
          <a:solidFill>
            <a:schemeClr val="tx1"/>
          </a:solidFill>
          <a:ln w="12700">
            <a:solidFill>
              <a:srgbClr val="CBD5E1"/>
            </a:solidFill>
            <a:prstDash val="solid"/>
          </a:ln>
        </p:spPr>
        <p:txBody>
          <a:bodyPr/>
          <a:lstStyle/>
          <a:p>
            <a:endParaRPr lang="en-US"/>
          </a:p>
        </p:txBody>
      </p:sp>
      <p:sp>
        <p:nvSpPr>
          <p:cNvPr id="12" name="Text 10"/>
          <p:cNvSpPr/>
          <p:nvPr/>
        </p:nvSpPr>
        <p:spPr>
          <a:xfrm>
            <a:off x="1033272" y="1618488"/>
            <a:ext cx="10323576" cy="3392424"/>
          </a:xfrm>
          <a:prstGeom prst="rect">
            <a:avLst/>
          </a:prstGeom>
          <a:noFill/>
          <a:ln/>
        </p:spPr>
        <p:txBody>
          <a:bodyPr wrap="square" rtlCol="0" anchor="t"/>
          <a:lstStyle/>
          <a:p>
            <a:r>
              <a:rPr lang="en-AU" sz="1100" dirty="0">
                <a:solidFill>
                  <a:schemeClr val="accent2"/>
                </a:solidFill>
                <a:latin typeface="Consolas" panose="020B0609020204030204" pitchFamily="49" charset="0"/>
                <a:cs typeface="Consolas" panose="020B0609020204030204" pitchFamily="49" charset="0"/>
              </a:rPr>
              <a:t>ROLE</a:t>
            </a:r>
            <a:r>
              <a:rPr lang="en-AU" sz="1100" dirty="0">
                <a:solidFill>
                  <a:schemeClr val="bg1"/>
                </a:solidFill>
                <a:latin typeface="Consolas" panose="020B0609020204030204" pitchFamily="49" charset="0"/>
                <a:cs typeface="Consolas" panose="020B0609020204030204" pitchFamily="49" charset="0"/>
              </a:rPr>
              <a:t>: You are an [advisor/analyst].</a:t>
            </a:r>
          </a:p>
          <a:p>
            <a:r>
              <a:rPr lang="en-AU" sz="1100" dirty="0">
                <a:solidFill>
                  <a:schemeClr val="accent2"/>
                </a:solidFill>
                <a:latin typeface="Consolas" panose="020B0609020204030204" pitchFamily="49" charset="0"/>
                <a:cs typeface="Consolas" panose="020B0609020204030204" pitchFamily="49" charset="0"/>
              </a:rPr>
              <a:t>DECISION</a:t>
            </a:r>
            <a:r>
              <a:rPr lang="en-AU" sz="1100" dirty="0">
                <a:solidFill>
                  <a:schemeClr val="bg1"/>
                </a:solidFill>
                <a:latin typeface="Consolas" panose="020B0609020204030204" pitchFamily="49" charset="0"/>
                <a:cs typeface="Consolas" panose="020B0609020204030204" pitchFamily="49" charset="0"/>
              </a:rPr>
              <a:t>: Choose between [A] and [B] for [goal].</a:t>
            </a:r>
          </a:p>
          <a:p>
            <a:r>
              <a:rPr lang="en-AU" sz="1100" dirty="0">
                <a:solidFill>
                  <a:schemeClr val="accent2"/>
                </a:solidFill>
                <a:latin typeface="Consolas" panose="020B0609020204030204" pitchFamily="49" charset="0"/>
                <a:cs typeface="Consolas" panose="020B0609020204030204" pitchFamily="49" charset="0"/>
              </a:rPr>
              <a:t>CONTEXT</a:t>
            </a:r>
            <a:r>
              <a:rPr lang="en-AU" sz="1100" dirty="0">
                <a:solidFill>
                  <a:schemeClr val="bg1"/>
                </a:solidFill>
                <a:latin typeface="Consolas" panose="020B0609020204030204" pitchFamily="49" charset="0"/>
                <a:cs typeface="Consolas" panose="020B0609020204030204" pitchFamily="49" charset="0"/>
              </a:rPr>
              <a:t>:</a:t>
            </a:r>
          </a:p>
          <a:p>
            <a:pPr marL="171450" indent="-171450">
              <a:buFontTx/>
              <a:buChar char="-"/>
            </a:pPr>
            <a:r>
              <a:rPr lang="en-AU" sz="1100" dirty="0">
                <a:solidFill>
                  <a:schemeClr val="bg1"/>
                </a:solidFill>
                <a:latin typeface="Consolas" panose="020B0609020204030204" pitchFamily="49" charset="0"/>
                <a:cs typeface="Consolas" panose="020B0609020204030204" pitchFamily="49" charset="0"/>
              </a:rPr>
              <a:t>My situation: [paste]</a:t>
            </a:r>
          </a:p>
          <a:p>
            <a:r>
              <a:rPr lang="en-AU" sz="1100" dirty="0">
                <a:solidFill>
                  <a:schemeClr val="bg1"/>
                </a:solidFill>
                <a:latin typeface="Consolas" panose="020B0609020204030204" pitchFamily="49" charset="0"/>
                <a:cs typeface="Consolas" panose="020B0609020204030204" pitchFamily="49" charset="0"/>
              </a:rPr>
              <a:t>- What matters most: [top 3 criteria]</a:t>
            </a:r>
          </a:p>
          <a:p>
            <a:r>
              <a:rPr lang="en-AU" sz="1100" dirty="0">
                <a:solidFill>
                  <a:schemeClr val="accent2"/>
                </a:solidFill>
                <a:latin typeface="Consolas" panose="020B0609020204030204" pitchFamily="49" charset="0"/>
                <a:cs typeface="Consolas" panose="020B0609020204030204" pitchFamily="49" charset="0"/>
              </a:rPr>
              <a:t>CONSTRAINTS</a:t>
            </a:r>
            <a:r>
              <a:rPr lang="en-AU" sz="1100" dirty="0">
                <a:solidFill>
                  <a:schemeClr val="bg1"/>
                </a:solidFill>
                <a:latin typeface="Consolas" panose="020B0609020204030204" pitchFamily="49" charset="0"/>
                <a:cs typeface="Consolas" panose="020B0609020204030204" pitchFamily="49" charset="0"/>
              </a:rPr>
              <a:t>:[budget/time/risk tolerance/non-negotiables].</a:t>
            </a:r>
          </a:p>
          <a:p>
            <a:r>
              <a:rPr lang="en-AU" sz="1100" dirty="0">
                <a:solidFill>
                  <a:schemeClr val="accent2"/>
                </a:solidFill>
                <a:latin typeface="Consolas" panose="020B0609020204030204" pitchFamily="49" charset="0"/>
                <a:cs typeface="Consolas" panose="020B0609020204030204" pitchFamily="49" charset="0"/>
              </a:rPr>
              <a:t>OUTPUT</a:t>
            </a:r>
            <a:r>
              <a:rPr lang="en-AU" sz="1100" dirty="0">
                <a:solidFill>
                  <a:schemeClr val="bg1"/>
                </a:solidFill>
                <a:latin typeface="Consolas" panose="020B0609020204030204" pitchFamily="49" charset="0"/>
                <a:cs typeface="Consolas" panose="020B0609020204030204" pitchFamily="49" charset="0"/>
              </a:rPr>
              <a:t>:</a:t>
            </a:r>
          </a:p>
          <a:p>
            <a:r>
              <a:rPr lang="en-AU" sz="1100" dirty="0">
                <a:solidFill>
                  <a:schemeClr val="bg1"/>
                </a:solidFill>
                <a:latin typeface="Consolas" panose="020B0609020204030204" pitchFamily="49" charset="0"/>
                <a:cs typeface="Consolas" panose="020B0609020204030204" pitchFamily="49" charset="0"/>
              </a:rPr>
              <a:t>1) Option A — pros/cons (aligned to my criteria)</a:t>
            </a:r>
          </a:p>
          <a:p>
            <a:r>
              <a:rPr lang="en-AU" sz="1100" dirty="0">
                <a:solidFill>
                  <a:schemeClr val="bg1"/>
                </a:solidFill>
                <a:latin typeface="Consolas" panose="020B0609020204030204" pitchFamily="49" charset="0"/>
                <a:cs typeface="Consolas" panose="020B0609020204030204" pitchFamily="49" charset="0"/>
              </a:rPr>
              <a:t>2) Option B — pros/cons (aligned to my criteria)</a:t>
            </a:r>
          </a:p>
          <a:p>
            <a:r>
              <a:rPr lang="en-AU" sz="1100" dirty="0">
                <a:solidFill>
                  <a:schemeClr val="bg1"/>
                </a:solidFill>
                <a:latin typeface="Consolas" panose="020B0609020204030204" pitchFamily="49" charset="0"/>
                <a:cs typeface="Consolas" panose="020B0609020204030204" pitchFamily="49" charset="0"/>
              </a:rPr>
              <a:t>3) Hybrid option — pros/cons (if relevant)</a:t>
            </a:r>
          </a:p>
          <a:p>
            <a:r>
              <a:rPr lang="en-AU" sz="1100" dirty="0">
                <a:solidFill>
                  <a:schemeClr val="accent2"/>
                </a:solidFill>
                <a:latin typeface="Consolas" panose="020B0609020204030204" pitchFamily="49" charset="0"/>
                <a:cs typeface="Consolas" panose="020B0609020204030204" pitchFamily="49" charset="0"/>
              </a:rPr>
              <a:t>RECOMMENDATION</a:t>
            </a:r>
            <a:r>
              <a:rPr lang="en-AU" sz="1100" dirty="0">
                <a:solidFill>
                  <a:schemeClr val="bg1"/>
                </a:solidFill>
                <a:latin typeface="Consolas" panose="020B0609020204030204" pitchFamily="49" charset="0"/>
                <a:cs typeface="Consolas" panose="020B0609020204030204" pitchFamily="49" charset="0"/>
              </a:rPr>
              <a:t>: Pick [A/B/Hybrid] and explain why in 3–5 bullets.</a:t>
            </a:r>
          </a:p>
          <a:p>
            <a:r>
              <a:rPr lang="en-AU" sz="1100" dirty="0">
                <a:solidFill>
                  <a:schemeClr val="accent2"/>
                </a:solidFill>
                <a:latin typeface="Consolas" panose="020B0609020204030204" pitchFamily="49" charset="0"/>
                <a:cs typeface="Consolas" panose="020B0609020204030204" pitchFamily="49" charset="0"/>
              </a:rPr>
              <a:t>RISKS/ASSUMPTIONS</a:t>
            </a:r>
            <a:r>
              <a:rPr lang="en-AU" sz="1100" dirty="0">
                <a:solidFill>
                  <a:schemeClr val="bg1"/>
                </a:solidFill>
                <a:latin typeface="Consolas" panose="020B0609020204030204" pitchFamily="49" charset="0"/>
                <a:cs typeface="Consolas" panose="020B0609020204030204" pitchFamily="49" charset="0"/>
              </a:rPr>
              <a:t>: List key assumptions + the biggest risks/trade-offs.</a:t>
            </a:r>
          </a:p>
          <a:p>
            <a:r>
              <a:rPr lang="en-AU" sz="1100" dirty="0">
                <a:solidFill>
                  <a:schemeClr val="accent2"/>
                </a:solidFill>
                <a:latin typeface="Consolas" panose="020B0609020204030204" pitchFamily="49" charset="0"/>
                <a:cs typeface="Consolas" panose="020B0609020204030204" pitchFamily="49" charset="0"/>
              </a:rPr>
              <a:t>VERIFY NEXT</a:t>
            </a:r>
            <a:r>
              <a:rPr lang="en-AU" sz="1100" dirty="0">
                <a:solidFill>
                  <a:schemeClr val="bg1"/>
                </a:solidFill>
                <a:latin typeface="Consolas" panose="020B0609020204030204" pitchFamily="49" charset="0"/>
                <a:cs typeface="Consolas" panose="020B0609020204030204" pitchFamily="49" charset="0"/>
              </a:rPr>
              <a:t>: 3 things I should confirm before deciding.</a:t>
            </a:r>
          </a:p>
          <a:p>
            <a:r>
              <a:rPr lang="en-AU" sz="1100" dirty="0">
                <a:solidFill>
                  <a:schemeClr val="accent2"/>
                </a:solidFill>
                <a:latin typeface="Consolas" panose="020B0609020204030204" pitchFamily="49" charset="0"/>
                <a:cs typeface="Consolas" panose="020B0609020204030204" pitchFamily="49" charset="0"/>
              </a:rPr>
              <a:t>CHECKS</a:t>
            </a:r>
            <a:r>
              <a:rPr lang="en-AU" sz="1100" dirty="0">
                <a:solidFill>
                  <a:schemeClr val="bg1"/>
                </a:solidFill>
                <a:latin typeface="Consolas" panose="020B0609020204030204" pitchFamily="49" charset="0"/>
                <a:cs typeface="Consolas" panose="020B0609020204030204" pitchFamily="49" charset="0"/>
              </a:rPr>
              <a:t>: Ask 3 clarifying questions first. If unanswered, state assumptions and proceed.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11/18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11</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How to fill templates fast</a:t>
            </a:r>
            <a:endParaRPr lang="en-US" sz="3400" dirty="0"/>
          </a:p>
        </p:txBody>
      </p:sp>
      <p:sp>
        <p:nvSpPr>
          <p:cNvPr id="11" name="Text 9"/>
          <p:cNvSpPr/>
          <p:nvPr/>
        </p:nvSpPr>
        <p:spPr>
          <a:xfrm>
            <a:off x="868680" y="1508760"/>
            <a:ext cx="5943600" cy="3291840"/>
          </a:xfrm>
          <a:prstGeom prst="rect">
            <a:avLst/>
          </a:prstGeom>
          <a:noFill/>
          <a:ln/>
        </p:spPr>
        <p:txBody>
          <a:bodyPr wrap="square" rtlCol="0" anchor="t"/>
          <a:lstStyle/>
          <a:p>
            <a:pPr marL="228600" indent="-228600">
              <a:buSzPct val="100000"/>
              <a:buChar char="•"/>
            </a:pPr>
            <a:r>
              <a:rPr lang="en-US" sz="1600" dirty="0">
                <a:solidFill>
                  <a:srgbClr val="111827"/>
                </a:solidFill>
                <a:latin typeface="Aptos" pitchFamily="34" charset="0"/>
                <a:ea typeface="Aptos" pitchFamily="34" charset="-122"/>
                <a:cs typeface="Aptos" pitchFamily="34" charset="-120"/>
              </a:rPr>
              <a:t>If you only fill 3 things: Task + Constraints + Output format</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Role is optional (use it when voice, style, or domain framing matters)</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Add “Checks” when the work is high-stakes or needs accuracy</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Aim for one clean iteration, not endless re-rolls</a:t>
            </a:r>
            <a:endParaRPr lang="en-US" sz="1600" dirty="0"/>
          </a:p>
        </p:txBody>
      </p:sp>
      <p:sp>
        <p:nvSpPr>
          <p:cNvPr id="12" name="Shape 10"/>
          <p:cNvSpPr/>
          <p:nvPr/>
        </p:nvSpPr>
        <p:spPr>
          <a:xfrm>
            <a:off x="6995160" y="1600200"/>
            <a:ext cx="4526280" cy="3520440"/>
          </a:xfrm>
          <a:prstGeom prst="roundRect">
            <a:avLst/>
          </a:prstGeom>
          <a:solidFill>
            <a:srgbClr val="FFFFFF"/>
          </a:solidFill>
          <a:ln w="12700">
            <a:solidFill>
              <a:srgbClr val="CBD5E1"/>
            </a:solidFill>
            <a:prstDash val="solid"/>
          </a:ln>
        </p:spPr>
        <p:txBody>
          <a:bodyPr/>
          <a:lstStyle/>
          <a:p>
            <a:endParaRPr lang="en-US"/>
          </a:p>
        </p:txBody>
      </p:sp>
      <p:sp>
        <p:nvSpPr>
          <p:cNvPr id="13" name="Text 11"/>
          <p:cNvSpPr/>
          <p:nvPr/>
        </p:nvSpPr>
        <p:spPr>
          <a:xfrm>
            <a:off x="7178040" y="1737360"/>
            <a:ext cx="4160520" cy="320040"/>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Tiny upgrade example</a:t>
            </a:r>
            <a:endParaRPr lang="en-US" sz="1400" dirty="0"/>
          </a:p>
        </p:txBody>
      </p:sp>
      <p:sp>
        <p:nvSpPr>
          <p:cNvPr id="14" name="Text 12"/>
          <p:cNvSpPr/>
          <p:nvPr/>
        </p:nvSpPr>
        <p:spPr>
          <a:xfrm>
            <a:off x="7178040" y="2103120"/>
            <a:ext cx="4160520" cy="2651760"/>
          </a:xfrm>
          <a:prstGeom prst="rect">
            <a:avLst/>
          </a:prstGeom>
          <a:noFill/>
          <a:ln/>
        </p:spPr>
        <p:txBody>
          <a:bodyPr wrap="square" rtlCol="0" anchor="ctr"/>
          <a:lstStyle/>
          <a:p>
            <a:pPr marL="0" indent="0">
              <a:buNone/>
            </a:pPr>
            <a:r>
              <a:rPr lang="en-US" sz="1400" dirty="0">
                <a:solidFill>
                  <a:srgbClr val="111827"/>
                </a:solidFill>
                <a:latin typeface="Aptos" pitchFamily="34" charset="0"/>
                <a:ea typeface="Aptos" pitchFamily="34" charset="-122"/>
                <a:cs typeface="Aptos" pitchFamily="34" charset="-120"/>
              </a:rPr>
              <a:t>❌ “Summarise this.”</a:t>
            </a:r>
            <a:endParaRPr lang="en-US" sz="1400" dirty="0"/>
          </a:p>
          <a:p>
            <a:pPr marL="0" indent="0">
              <a:buNone/>
            </a:pP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 “Summarise this for a 1st-year exam.</a:t>
            </a: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Output: 5 claims + 3 evidence + 2 limitations.</a:t>
            </a:r>
            <a:endParaRPr lang="en-US" sz="1400" dirty="0"/>
          </a:p>
          <a:p>
            <a:pPr marL="0" indent="0">
              <a:buNone/>
            </a:pPr>
            <a:r>
              <a:rPr lang="en-US" sz="1400" dirty="0">
                <a:solidFill>
                  <a:srgbClr val="111827"/>
                </a:solidFill>
                <a:latin typeface="Aptos" pitchFamily="34" charset="0"/>
                <a:ea typeface="Aptos" pitchFamily="34" charset="-122"/>
                <a:cs typeface="Aptos" pitchFamily="34" charset="-120"/>
              </a:rPr>
              <a:t>No made-up citations.”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12/18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12</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Common prompt failure modes</a:t>
            </a:r>
            <a:endParaRPr lang="en-US" sz="3400" dirty="0"/>
          </a:p>
        </p:txBody>
      </p:sp>
      <p:sp>
        <p:nvSpPr>
          <p:cNvPr id="11" name="Shape 9"/>
          <p:cNvSpPr/>
          <p:nvPr/>
        </p:nvSpPr>
        <p:spPr>
          <a:xfrm>
            <a:off x="868680" y="1554480"/>
            <a:ext cx="4892040" cy="566928"/>
          </a:xfrm>
          <a:prstGeom prst="rect">
            <a:avLst/>
          </a:prstGeom>
          <a:solidFill>
            <a:srgbClr val="DBEAFE"/>
          </a:solidFill>
          <a:ln w="12700">
            <a:solidFill>
              <a:srgbClr val="CBD5E1"/>
            </a:solidFill>
            <a:prstDash val="solid"/>
          </a:ln>
        </p:spPr>
        <p:txBody>
          <a:bodyPr/>
          <a:lstStyle/>
          <a:p>
            <a:endParaRPr lang="en-US"/>
          </a:p>
        </p:txBody>
      </p:sp>
      <p:sp>
        <p:nvSpPr>
          <p:cNvPr id="12" name="Shape 10"/>
          <p:cNvSpPr/>
          <p:nvPr/>
        </p:nvSpPr>
        <p:spPr>
          <a:xfrm>
            <a:off x="5760720" y="1554480"/>
            <a:ext cx="5760720" cy="566928"/>
          </a:xfrm>
          <a:prstGeom prst="rect">
            <a:avLst/>
          </a:prstGeom>
          <a:solidFill>
            <a:srgbClr val="DBEAFE"/>
          </a:solidFill>
          <a:ln w="12700">
            <a:solidFill>
              <a:srgbClr val="CBD5E1"/>
            </a:solidFill>
            <a:prstDash val="solid"/>
          </a:ln>
        </p:spPr>
        <p:txBody>
          <a:bodyPr/>
          <a:lstStyle/>
          <a:p>
            <a:endParaRPr lang="en-US"/>
          </a:p>
        </p:txBody>
      </p:sp>
      <p:sp>
        <p:nvSpPr>
          <p:cNvPr id="13" name="Text 11"/>
          <p:cNvSpPr/>
          <p:nvPr/>
        </p:nvSpPr>
        <p:spPr>
          <a:xfrm>
            <a:off x="1005840" y="1682496"/>
            <a:ext cx="4617720" cy="475488"/>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Symptom</a:t>
            </a:r>
            <a:endParaRPr lang="en-US" sz="1400" dirty="0"/>
          </a:p>
        </p:txBody>
      </p:sp>
      <p:sp>
        <p:nvSpPr>
          <p:cNvPr id="14" name="Text 12"/>
          <p:cNvSpPr/>
          <p:nvPr/>
        </p:nvSpPr>
        <p:spPr>
          <a:xfrm>
            <a:off x="5897880" y="1682496"/>
            <a:ext cx="5486400" cy="475488"/>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Fix</a:t>
            </a:r>
            <a:endParaRPr lang="en-US" sz="1400" dirty="0"/>
          </a:p>
        </p:txBody>
      </p:sp>
      <p:sp>
        <p:nvSpPr>
          <p:cNvPr id="15" name="Shape 13"/>
          <p:cNvSpPr/>
          <p:nvPr/>
        </p:nvSpPr>
        <p:spPr>
          <a:xfrm>
            <a:off x="868680" y="2121408"/>
            <a:ext cx="4892040" cy="566928"/>
          </a:xfrm>
          <a:prstGeom prst="rect">
            <a:avLst/>
          </a:prstGeom>
          <a:solidFill>
            <a:srgbClr val="FFFFFF"/>
          </a:solidFill>
          <a:ln w="12700">
            <a:solidFill>
              <a:srgbClr val="CBD5E1"/>
            </a:solidFill>
            <a:prstDash val="solid"/>
          </a:ln>
        </p:spPr>
        <p:txBody>
          <a:bodyPr/>
          <a:lstStyle/>
          <a:p>
            <a:endParaRPr lang="en-US"/>
          </a:p>
        </p:txBody>
      </p:sp>
      <p:sp>
        <p:nvSpPr>
          <p:cNvPr id="16" name="Shape 14"/>
          <p:cNvSpPr/>
          <p:nvPr/>
        </p:nvSpPr>
        <p:spPr>
          <a:xfrm>
            <a:off x="5760720" y="2121408"/>
            <a:ext cx="5760720" cy="566928"/>
          </a:xfrm>
          <a:prstGeom prst="rect">
            <a:avLst/>
          </a:prstGeom>
          <a:solidFill>
            <a:srgbClr val="FFFFFF"/>
          </a:solidFill>
          <a:ln w="12700">
            <a:solidFill>
              <a:srgbClr val="CBD5E1"/>
            </a:solidFill>
            <a:prstDash val="solid"/>
          </a:ln>
        </p:spPr>
        <p:txBody>
          <a:bodyPr/>
          <a:lstStyle/>
          <a:p>
            <a:endParaRPr lang="en-US"/>
          </a:p>
        </p:txBody>
      </p:sp>
      <p:sp>
        <p:nvSpPr>
          <p:cNvPr id="17" name="Text 15"/>
          <p:cNvSpPr/>
          <p:nvPr/>
        </p:nvSpPr>
        <p:spPr>
          <a:xfrm>
            <a:off x="1005840" y="2267712"/>
            <a:ext cx="461772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Too vague / generic</a:t>
            </a:r>
            <a:endParaRPr lang="en-US" sz="1300" dirty="0"/>
          </a:p>
        </p:txBody>
      </p:sp>
      <p:sp>
        <p:nvSpPr>
          <p:cNvPr id="18" name="Text 16"/>
          <p:cNvSpPr/>
          <p:nvPr/>
        </p:nvSpPr>
        <p:spPr>
          <a:xfrm>
            <a:off x="5897880" y="2267712"/>
            <a:ext cx="548640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Add constraints + a required output format (table/headings)</a:t>
            </a:r>
            <a:endParaRPr lang="en-US" sz="1300" dirty="0"/>
          </a:p>
        </p:txBody>
      </p:sp>
      <p:sp>
        <p:nvSpPr>
          <p:cNvPr id="19" name="Shape 17"/>
          <p:cNvSpPr/>
          <p:nvPr/>
        </p:nvSpPr>
        <p:spPr>
          <a:xfrm>
            <a:off x="868680" y="2688336"/>
            <a:ext cx="4892040" cy="566928"/>
          </a:xfrm>
          <a:prstGeom prst="rect">
            <a:avLst/>
          </a:prstGeom>
          <a:solidFill>
            <a:srgbClr val="FFFFFF"/>
          </a:solidFill>
          <a:ln w="12700">
            <a:solidFill>
              <a:srgbClr val="CBD5E1"/>
            </a:solidFill>
            <a:prstDash val="solid"/>
          </a:ln>
        </p:spPr>
        <p:txBody>
          <a:bodyPr/>
          <a:lstStyle/>
          <a:p>
            <a:endParaRPr lang="en-US"/>
          </a:p>
        </p:txBody>
      </p:sp>
      <p:sp>
        <p:nvSpPr>
          <p:cNvPr id="20" name="Shape 18"/>
          <p:cNvSpPr/>
          <p:nvPr/>
        </p:nvSpPr>
        <p:spPr>
          <a:xfrm>
            <a:off x="5760720" y="2688336"/>
            <a:ext cx="5760720" cy="566928"/>
          </a:xfrm>
          <a:prstGeom prst="rect">
            <a:avLst/>
          </a:prstGeom>
          <a:solidFill>
            <a:srgbClr val="FFFFFF"/>
          </a:solidFill>
          <a:ln w="12700">
            <a:solidFill>
              <a:srgbClr val="CBD5E1"/>
            </a:solidFill>
            <a:prstDash val="solid"/>
          </a:ln>
        </p:spPr>
        <p:txBody>
          <a:bodyPr/>
          <a:lstStyle/>
          <a:p>
            <a:endParaRPr lang="en-US"/>
          </a:p>
        </p:txBody>
      </p:sp>
      <p:sp>
        <p:nvSpPr>
          <p:cNvPr id="21" name="Text 19"/>
          <p:cNvSpPr/>
          <p:nvPr/>
        </p:nvSpPr>
        <p:spPr>
          <a:xfrm>
            <a:off x="1005840" y="2834640"/>
            <a:ext cx="461772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Missing context</a:t>
            </a:r>
            <a:endParaRPr lang="en-US" sz="1300" dirty="0"/>
          </a:p>
        </p:txBody>
      </p:sp>
      <p:sp>
        <p:nvSpPr>
          <p:cNvPr id="22" name="Text 20"/>
          <p:cNvSpPr/>
          <p:nvPr/>
        </p:nvSpPr>
        <p:spPr>
          <a:xfrm>
            <a:off x="5897880" y="2834640"/>
            <a:ext cx="548640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Paste inputs or state the facts it must use</a:t>
            </a:r>
            <a:endParaRPr lang="en-US" sz="1300" dirty="0"/>
          </a:p>
        </p:txBody>
      </p:sp>
      <p:sp>
        <p:nvSpPr>
          <p:cNvPr id="23" name="Shape 21"/>
          <p:cNvSpPr/>
          <p:nvPr/>
        </p:nvSpPr>
        <p:spPr>
          <a:xfrm>
            <a:off x="868680" y="3255264"/>
            <a:ext cx="4892040" cy="566928"/>
          </a:xfrm>
          <a:prstGeom prst="rect">
            <a:avLst/>
          </a:prstGeom>
          <a:solidFill>
            <a:srgbClr val="FFFFFF"/>
          </a:solidFill>
          <a:ln w="12700">
            <a:solidFill>
              <a:srgbClr val="CBD5E1"/>
            </a:solidFill>
            <a:prstDash val="solid"/>
          </a:ln>
        </p:spPr>
        <p:txBody>
          <a:bodyPr/>
          <a:lstStyle/>
          <a:p>
            <a:endParaRPr lang="en-US"/>
          </a:p>
        </p:txBody>
      </p:sp>
      <p:sp>
        <p:nvSpPr>
          <p:cNvPr id="24" name="Shape 22"/>
          <p:cNvSpPr/>
          <p:nvPr/>
        </p:nvSpPr>
        <p:spPr>
          <a:xfrm>
            <a:off x="5760720" y="3255264"/>
            <a:ext cx="5760720" cy="566928"/>
          </a:xfrm>
          <a:prstGeom prst="rect">
            <a:avLst/>
          </a:prstGeom>
          <a:solidFill>
            <a:srgbClr val="FFFFFF"/>
          </a:solidFill>
          <a:ln w="12700">
            <a:solidFill>
              <a:srgbClr val="CBD5E1"/>
            </a:solidFill>
            <a:prstDash val="solid"/>
          </a:ln>
        </p:spPr>
        <p:txBody>
          <a:bodyPr/>
          <a:lstStyle/>
          <a:p>
            <a:endParaRPr lang="en-US"/>
          </a:p>
        </p:txBody>
      </p:sp>
      <p:sp>
        <p:nvSpPr>
          <p:cNvPr id="25" name="Text 23"/>
          <p:cNvSpPr/>
          <p:nvPr/>
        </p:nvSpPr>
        <p:spPr>
          <a:xfrm>
            <a:off x="1005840" y="3401568"/>
            <a:ext cx="461772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Output not usable</a:t>
            </a:r>
            <a:endParaRPr lang="en-US" sz="1300" dirty="0"/>
          </a:p>
        </p:txBody>
      </p:sp>
      <p:sp>
        <p:nvSpPr>
          <p:cNvPr id="26" name="Text 24"/>
          <p:cNvSpPr/>
          <p:nvPr/>
        </p:nvSpPr>
        <p:spPr>
          <a:xfrm>
            <a:off x="5897880" y="3401568"/>
            <a:ext cx="548640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Force structure (sections, columns, word count)</a:t>
            </a:r>
            <a:endParaRPr lang="en-US" sz="1300" dirty="0"/>
          </a:p>
        </p:txBody>
      </p:sp>
      <p:sp>
        <p:nvSpPr>
          <p:cNvPr id="27" name="Shape 25"/>
          <p:cNvSpPr/>
          <p:nvPr/>
        </p:nvSpPr>
        <p:spPr>
          <a:xfrm>
            <a:off x="868680" y="3822192"/>
            <a:ext cx="4892040" cy="566928"/>
          </a:xfrm>
          <a:prstGeom prst="rect">
            <a:avLst/>
          </a:prstGeom>
          <a:solidFill>
            <a:srgbClr val="FFFFFF"/>
          </a:solidFill>
          <a:ln w="12700">
            <a:solidFill>
              <a:srgbClr val="CBD5E1"/>
            </a:solidFill>
            <a:prstDash val="solid"/>
          </a:ln>
        </p:spPr>
        <p:txBody>
          <a:bodyPr/>
          <a:lstStyle/>
          <a:p>
            <a:endParaRPr lang="en-US"/>
          </a:p>
        </p:txBody>
      </p:sp>
      <p:sp>
        <p:nvSpPr>
          <p:cNvPr id="28" name="Shape 26"/>
          <p:cNvSpPr/>
          <p:nvPr/>
        </p:nvSpPr>
        <p:spPr>
          <a:xfrm>
            <a:off x="5760720" y="3822192"/>
            <a:ext cx="5760720" cy="566928"/>
          </a:xfrm>
          <a:prstGeom prst="rect">
            <a:avLst/>
          </a:prstGeom>
          <a:solidFill>
            <a:srgbClr val="FFFFFF"/>
          </a:solidFill>
          <a:ln w="12700">
            <a:solidFill>
              <a:srgbClr val="CBD5E1"/>
            </a:solidFill>
            <a:prstDash val="solid"/>
          </a:ln>
        </p:spPr>
        <p:txBody>
          <a:bodyPr/>
          <a:lstStyle/>
          <a:p>
            <a:endParaRPr lang="en-US"/>
          </a:p>
        </p:txBody>
      </p:sp>
      <p:sp>
        <p:nvSpPr>
          <p:cNvPr id="29" name="Text 27"/>
          <p:cNvSpPr/>
          <p:nvPr/>
        </p:nvSpPr>
        <p:spPr>
          <a:xfrm>
            <a:off x="1005840" y="3968496"/>
            <a:ext cx="461772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Hallucinated details</a:t>
            </a:r>
            <a:endParaRPr lang="en-US" sz="1300" dirty="0"/>
          </a:p>
        </p:txBody>
      </p:sp>
      <p:sp>
        <p:nvSpPr>
          <p:cNvPr id="30" name="Text 28"/>
          <p:cNvSpPr/>
          <p:nvPr/>
        </p:nvSpPr>
        <p:spPr>
          <a:xfrm>
            <a:off x="5897880" y="3968496"/>
            <a:ext cx="548640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Require assumptions + uncertainty; avoid “be definitive”</a:t>
            </a:r>
            <a:endParaRPr lang="en-US" sz="1300" dirty="0"/>
          </a:p>
        </p:txBody>
      </p:sp>
      <p:sp>
        <p:nvSpPr>
          <p:cNvPr id="31" name="Shape 29"/>
          <p:cNvSpPr/>
          <p:nvPr/>
        </p:nvSpPr>
        <p:spPr>
          <a:xfrm>
            <a:off x="868680" y="4389120"/>
            <a:ext cx="4892040" cy="566928"/>
          </a:xfrm>
          <a:prstGeom prst="rect">
            <a:avLst/>
          </a:prstGeom>
          <a:solidFill>
            <a:srgbClr val="FFFFFF"/>
          </a:solidFill>
          <a:ln w="12700">
            <a:solidFill>
              <a:srgbClr val="CBD5E1"/>
            </a:solidFill>
            <a:prstDash val="solid"/>
          </a:ln>
        </p:spPr>
        <p:txBody>
          <a:bodyPr/>
          <a:lstStyle/>
          <a:p>
            <a:endParaRPr lang="en-US"/>
          </a:p>
        </p:txBody>
      </p:sp>
      <p:sp>
        <p:nvSpPr>
          <p:cNvPr id="32" name="Shape 30"/>
          <p:cNvSpPr/>
          <p:nvPr/>
        </p:nvSpPr>
        <p:spPr>
          <a:xfrm>
            <a:off x="5760720" y="4389120"/>
            <a:ext cx="5760720" cy="566928"/>
          </a:xfrm>
          <a:prstGeom prst="rect">
            <a:avLst/>
          </a:prstGeom>
          <a:solidFill>
            <a:srgbClr val="FFFFFF"/>
          </a:solidFill>
          <a:ln w="12700">
            <a:solidFill>
              <a:srgbClr val="CBD5E1"/>
            </a:solidFill>
            <a:prstDash val="solid"/>
          </a:ln>
        </p:spPr>
        <p:txBody>
          <a:bodyPr/>
          <a:lstStyle/>
          <a:p>
            <a:endParaRPr lang="en-US"/>
          </a:p>
        </p:txBody>
      </p:sp>
      <p:sp>
        <p:nvSpPr>
          <p:cNvPr id="33" name="Text 31"/>
          <p:cNvSpPr/>
          <p:nvPr/>
        </p:nvSpPr>
        <p:spPr>
          <a:xfrm>
            <a:off x="1005840" y="4535424"/>
            <a:ext cx="461772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Drifts off-topic</a:t>
            </a:r>
            <a:endParaRPr lang="en-US" sz="1300" dirty="0"/>
          </a:p>
        </p:txBody>
      </p:sp>
      <p:sp>
        <p:nvSpPr>
          <p:cNvPr id="34" name="Text 32"/>
          <p:cNvSpPr/>
          <p:nvPr/>
        </p:nvSpPr>
        <p:spPr>
          <a:xfrm>
            <a:off x="5897880" y="4535424"/>
            <a:ext cx="5486400" cy="475488"/>
          </a:xfrm>
          <a:prstGeom prst="rect">
            <a:avLst/>
          </a:prstGeom>
          <a:noFill/>
          <a:ln/>
        </p:spPr>
        <p:txBody>
          <a:bodyPr wrap="square" rtlCol="0" anchor="ctr"/>
          <a:lstStyle/>
          <a:p>
            <a:pPr marL="0" indent="0">
              <a:buNone/>
            </a:pPr>
            <a:r>
              <a:rPr lang="en-US" sz="1300" dirty="0">
                <a:solidFill>
                  <a:srgbClr val="111827"/>
                </a:solidFill>
                <a:latin typeface="Aptos" pitchFamily="34" charset="0"/>
                <a:ea typeface="Aptos" pitchFamily="34" charset="-122"/>
                <a:cs typeface="Aptos" pitchFamily="34" charset="-120"/>
              </a:rPr>
              <a:t>Restate goal + success criteria at the top</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13/18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13</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The prompt debugging loop</a:t>
            </a:r>
            <a:endParaRPr lang="en-US" sz="3400" dirty="0"/>
          </a:p>
        </p:txBody>
      </p:sp>
      <p:sp>
        <p:nvSpPr>
          <p:cNvPr id="11" name="Text 9"/>
          <p:cNvSpPr/>
          <p:nvPr/>
        </p:nvSpPr>
        <p:spPr>
          <a:xfrm>
            <a:off x="868680" y="1417320"/>
            <a:ext cx="10607040" cy="320040"/>
          </a:xfrm>
          <a:prstGeom prst="rect">
            <a:avLst/>
          </a:prstGeom>
          <a:noFill/>
          <a:ln/>
        </p:spPr>
        <p:txBody>
          <a:bodyPr wrap="square" rtlCol="0" anchor="ctr"/>
          <a:lstStyle/>
          <a:p>
            <a:pPr marL="0" indent="0">
              <a:buNone/>
            </a:pPr>
            <a:r>
              <a:rPr lang="en-US" sz="1600" dirty="0">
                <a:solidFill>
                  <a:srgbClr val="111827"/>
                </a:solidFill>
                <a:latin typeface="Aptos" pitchFamily="34" charset="0"/>
                <a:ea typeface="Aptos" pitchFamily="34" charset="-122"/>
                <a:cs typeface="Aptos" pitchFamily="34" charset="-120"/>
              </a:rPr>
              <a:t>When the output is bad, don’t just re-roll. Debug it:</a:t>
            </a:r>
            <a:endParaRPr lang="en-US" sz="1600" dirty="0"/>
          </a:p>
        </p:txBody>
      </p:sp>
      <p:sp>
        <p:nvSpPr>
          <p:cNvPr id="12" name="Shape 10"/>
          <p:cNvSpPr/>
          <p:nvPr/>
        </p:nvSpPr>
        <p:spPr>
          <a:xfrm>
            <a:off x="868680" y="1874520"/>
            <a:ext cx="5760720" cy="2377440"/>
          </a:xfrm>
          <a:prstGeom prst="roundRect">
            <a:avLst/>
          </a:prstGeom>
          <a:solidFill>
            <a:srgbClr val="FFFFFF"/>
          </a:solidFill>
          <a:ln w="12700">
            <a:solidFill>
              <a:srgbClr val="CBD5E1"/>
            </a:solidFill>
            <a:prstDash val="solid"/>
          </a:ln>
        </p:spPr>
        <p:txBody>
          <a:bodyPr/>
          <a:lstStyle/>
          <a:p>
            <a:endParaRPr lang="en-US"/>
          </a:p>
        </p:txBody>
      </p:sp>
      <p:sp>
        <p:nvSpPr>
          <p:cNvPr id="13" name="Text 11"/>
          <p:cNvSpPr/>
          <p:nvPr/>
        </p:nvSpPr>
        <p:spPr>
          <a:xfrm>
            <a:off x="1097280" y="2057400"/>
            <a:ext cx="5349240" cy="2011680"/>
          </a:xfrm>
          <a:prstGeom prst="rect">
            <a:avLst/>
          </a:prstGeom>
          <a:noFill/>
          <a:ln/>
        </p:spPr>
        <p:txBody>
          <a:bodyPr wrap="square" rtlCol="0" anchor="ctr"/>
          <a:lstStyle/>
          <a:p>
            <a:pPr marL="0" indent="0">
              <a:buNone/>
            </a:pPr>
            <a:r>
              <a:rPr lang="en-US" sz="1800" dirty="0">
                <a:solidFill>
                  <a:srgbClr val="111827"/>
                </a:solidFill>
                <a:latin typeface="Aptos" pitchFamily="34" charset="0"/>
                <a:ea typeface="Aptos" pitchFamily="34" charset="-122"/>
                <a:cs typeface="Aptos" pitchFamily="34" charset="-120"/>
              </a:rPr>
              <a:t>1) What assumptions did it make?</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2) What constraint did it miss?</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3) What input was missing?</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4) What format would force compliance?</a:t>
            </a:r>
            <a:endParaRPr lang="en-US" sz="1800" dirty="0"/>
          </a:p>
        </p:txBody>
      </p:sp>
      <p:sp>
        <p:nvSpPr>
          <p:cNvPr id="14" name="Text 12"/>
          <p:cNvSpPr/>
          <p:nvPr/>
        </p:nvSpPr>
        <p:spPr>
          <a:xfrm>
            <a:off x="6903720" y="1783080"/>
            <a:ext cx="4526280" cy="320040"/>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Copy/paste fixer prompt</a:t>
            </a:r>
            <a:endParaRPr lang="en-US" sz="1400" dirty="0"/>
          </a:p>
        </p:txBody>
      </p:sp>
      <p:sp>
        <p:nvSpPr>
          <p:cNvPr id="15" name="Shape 13"/>
          <p:cNvSpPr/>
          <p:nvPr/>
        </p:nvSpPr>
        <p:spPr>
          <a:xfrm>
            <a:off x="6903720" y="2148840"/>
            <a:ext cx="4526280" cy="2103120"/>
          </a:xfrm>
          <a:prstGeom prst="roundRect">
            <a:avLst/>
          </a:prstGeom>
          <a:solidFill>
            <a:srgbClr val="FFFFFF"/>
          </a:solidFill>
          <a:ln w="12700">
            <a:solidFill>
              <a:srgbClr val="CBD5E1"/>
            </a:solidFill>
            <a:prstDash val="solid"/>
          </a:ln>
        </p:spPr>
        <p:txBody>
          <a:bodyPr/>
          <a:lstStyle/>
          <a:p>
            <a:endParaRPr lang="en-US"/>
          </a:p>
        </p:txBody>
      </p:sp>
      <p:sp>
        <p:nvSpPr>
          <p:cNvPr id="16" name="Text 14"/>
          <p:cNvSpPr/>
          <p:nvPr/>
        </p:nvSpPr>
        <p:spPr>
          <a:xfrm>
            <a:off x="7068312" y="2258568"/>
            <a:ext cx="4197096" cy="1883664"/>
          </a:xfrm>
          <a:prstGeom prst="rect">
            <a:avLst/>
          </a:prstGeom>
          <a:noFill/>
          <a:ln/>
        </p:spPr>
        <p:txBody>
          <a:bodyPr wrap="square" rtlCol="0" anchor="t"/>
          <a:lstStyle/>
          <a:p>
            <a:pPr marL="0" indent="0">
              <a:buNone/>
            </a:pPr>
            <a:r>
              <a:rPr lang="en-US" sz="1300" dirty="0">
                <a:solidFill>
                  <a:srgbClr val="111827"/>
                </a:solidFill>
                <a:latin typeface="Consolas" pitchFamily="34" charset="0"/>
                <a:ea typeface="Consolas" pitchFamily="34" charset="-122"/>
                <a:cs typeface="Consolas" pitchFamily="34" charset="-120"/>
              </a:rPr>
              <a:t>List your assumptions.</a:t>
            </a:r>
            <a:endParaRPr lang="en-US" sz="1300" dirty="0"/>
          </a:p>
          <a:p>
            <a:pPr marL="0" indent="0">
              <a:buNone/>
            </a:pPr>
            <a:r>
              <a:rPr lang="en-US" sz="1300" dirty="0">
                <a:solidFill>
                  <a:srgbClr val="111827"/>
                </a:solidFill>
                <a:latin typeface="Consolas" pitchFamily="34" charset="0"/>
                <a:ea typeface="Consolas" pitchFamily="34" charset="-122"/>
                <a:cs typeface="Consolas" pitchFamily="34" charset="-120"/>
              </a:rPr>
              <a:t>Ask 3 clarifying questions.</a:t>
            </a:r>
            <a:endParaRPr lang="en-US" sz="1300" dirty="0"/>
          </a:p>
          <a:p>
            <a:pPr marL="0" indent="0">
              <a:buNone/>
            </a:pPr>
            <a:r>
              <a:rPr lang="en-US" sz="1300" dirty="0">
                <a:solidFill>
                  <a:srgbClr val="111827"/>
                </a:solidFill>
                <a:latin typeface="Consolas" pitchFamily="34" charset="0"/>
                <a:ea typeface="Consolas" pitchFamily="34" charset="-122"/>
                <a:cs typeface="Consolas" pitchFamily="34" charset="-120"/>
              </a:rPr>
              <a:t>Then produce a revised answer in [format],</a:t>
            </a:r>
            <a:endParaRPr lang="en-US" sz="1300" dirty="0"/>
          </a:p>
          <a:p>
            <a:pPr marL="0" indent="0">
              <a:buNone/>
            </a:pPr>
            <a:r>
              <a:rPr lang="en-US" sz="1300" dirty="0">
                <a:solidFill>
                  <a:srgbClr val="111827"/>
                </a:solidFill>
                <a:latin typeface="Consolas" pitchFamily="34" charset="0"/>
                <a:ea typeface="Consolas" pitchFamily="34" charset="-122"/>
                <a:cs typeface="Consolas" pitchFamily="34" charset="-120"/>
              </a:rPr>
              <a:t>following my constraints exactly.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14/18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14</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Add reliability with one extra line</a:t>
            </a:r>
            <a:endParaRPr lang="en-US" sz="3400" dirty="0"/>
          </a:p>
        </p:txBody>
      </p:sp>
      <p:sp>
        <p:nvSpPr>
          <p:cNvPr id="11" name="Text 9"/>
          <p:cNvSpPr/>
          <p:nvPr/>
        </p:nvSpPr>
        <p:spPr>
          <a:xfrm>
            <a:off x="868680" y="1554480"/>
            <a:ext cx="5669280" cy="3291840"/>
          </a:xfrm>
          <a:prstGeom prst="rect">
            <a:avLst/>
          </a:prstGeom>
          <a:noFill/>
          <a:ln/>
        </p:spPr>
        <p:txBody>
          <a:bodyPr wrap="square" rtlCol="0" anchor="t"/>
          <a:lstStyle/>
          <a:p>
            <a:pPr marL="228600" indent="-228600">
              <a:buSzPct val="100000"/>
              <a:buChar char="•"/>
            </a:pPr>
            <a:r>
              <a:rPr lang="en-US" sz="1600" dirty="0">
                <a:solidFill>
                  <a:srgbClr val="111827"/>
                </a:solidFill>
                <a:latin typeface="Aptos" pitchFamily="34" charset="0"/>
                <a:ea typeface="Aptos" pitchFamily="34" charset="-122"/>
                <a:cs typeface="Aptos" pitchFamily="34" charset="-120"/>
              </a:rPr>
              <a:t>“Flag anything uncertain or time-sensitive.”</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“List the assumptions you made.”</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“What are you least confident about?”</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“Give me a 5-minute verification checklist.”</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“If you can’t know, say so.”</a:t>
            </a:r>
            <a:endParaRPr lang="en-US" sz="1600" dirty="0"/>
          </a:p>
        </p:txBody>
      </p:sp>
      <p:sp>
        <p:nvSpPr>
          <p:cNvPr id="12" name="Shape 10"/>
          <p:cNvSpPr/>
          <p:nvPr/>
        </p:nvSpPr>
        <p:spPr>
          <a:xfrm>
            <a:off x="6903720" y="1600200"/>
            <a:ext cx="4617720" cy="3520440"/>
          </a:xfrm>
          <a:prstGeom prst="roundRect">
            <a:avLst/>
          </a:prstGeom>
          <a:solidFill>
            <a:srgbClr val="FEF2F2"/>
          </a:solidFill>
          <a:ln w="12700">
            <a:solidFill>
              <a:srgbClr val="FCA5A5"/>
            </a:solidFill>
            <a:prstDash val="solid"/>
          </a:ln>
        </p:spPr>
        <p:txBody>
          <a:bodyPr/>
          <a:lstStyle/>
          <a:p>
            <a:endParaRPr lang="en-US"/>
          </a:p>
        </p:txBody>
      </p:sp>
      <p:sp>
        <p:nvSpPr>
          <p:cNvPr id="13" name="Text 11"/>
          <p:cNvSpPr/>
          <p:nvPr/>
        </p:nvSpPr>
        <p:spPr>
          <a:xfrm>
            <a:off x="7086600" y="1737360"/>
            <a:ext cx="4251960" cy="32004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High-risk triggers</a:t>
            </a:r>
            <a:endParaRPr lang="en-US" sz="1600" dirty="0"/>
          </a:p>
        </p:txBody>
      </p:sp>
      <p:sp>
        <p:nvSpPr>
          <p:cNvPr id="14" name="Text 12"/>
          <p:cNvSpPr/>
          <p:nvPr/>
        </p:nvSpPr>
        <p:spPr>
          <a:xfrm>
            <a:off x="7086600" y="2148840"/>
            <a:ext cx="4251960" cy="2286000"/>
          </a:xfrm>
          <a:prstGeom prst="rect">
            <a:avLst/>
          </a:prstGeom>
          <a:noFill/>
          <a:ln/>
        </p:spPr>
        <p:txBody>
          <a:bodyPr wrap="square" rtlCol="0" anchor="ctr"/>
          <a:lstStyle/>
          <a:p>
            <a:pPr marL="0" indent="0">
              <a:buNone/>
            </a:pPr>
            <a:r>
              <a:rPr lang="en-US" sz="1500" dirty="0">
                <a:solidFill>
                  <a:srgbClr val="111827"/>
                </a:solidFill>
                <a:latin typeface="Aptos" pitchFamily="34" charset="0"/>
                <a:ea typeface="Aptos" pitchFamily="34" charset="-122"/>
                <a:cs typeface="Aptos" pitchFamily="34" charset="-120"/>
              </a:rPr>
              <a:t>Numbers, dates, names</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Quotes or “latest” claims</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Policies, prices, niche facts</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Anything hard to undo</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17/18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17</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Key takeaways</a:t>
            </a:r>
            <a:endParaRPr lang="en-US" sz="3400" dirty="0"/>
          </a:p>
        </p:txBody>
      </p:sp>
      <p:sp>
        <p:nvSpPr>
          <p:cNvPr id="11" name="Text 9"/>
          <p:cNvSpPr/>
          <p:nvPr/>
        </p:nvSpPr>
        <p:spPr>
          <a:xfrm>
            <a:off x="868680" y="1554480"/>
            <a:ext cx="10607040" cy="27432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1) Use templates like forms</a:t>
            </a:r>
            <a:endParaRPr lang="en-US" sz="1800" dirty="0"/>
          </a:p>
        </p:txBody>
      </p:sp>
      <p:sp>
        <p:nvSpPr>
          <p:cNvPr id="12" name="Text 10"/>
          <p:cNvSpPr/>
          <p:nvPr/>
        </p:nvSpPr>
        <p:spPr>
          <a:xfrm>
            <a:off x="868680" y="1874520"/>
            <a:ext cx="6400800" cy="2560320"/>
          </a:xfrm>
          <a:prstGeom prst="rect">
            <a:avLst/>
          </a:prstGeom>
          <a:noFill/>
          <a:ln/>
        </p:spPr>
        <p:txBody>
          <a:bodyPr wrap="square" rtlCol="0" anchor="t"/>
          <a:lstStyle/>
          <a:p>
            <a:pPr marL="228600" indent="-228600">
              <a:buSzPct val="100000"/>
              <a:buChar char="•"/>
            </a:pPr>
            <a:r>
              <a:rPr lang="en-US" sz="1600" dirty="0">
                <a:solidFill>
                  <a:srgbClr val="111827"/>
                </a:solidFill>
                <a:latin typeface="Aptos" pitchFamily="34" charset="0"/>
                <a:ea typeface="Aptos" pitchFamily="34" charset="-122"/>
                <a:cs typeface="Aptos" pitchFamily="34" charset="-120"/>
              </a:rPr>
              <a:t>Pick the structure that matches the task</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Fill the blanks: task + constraints + output format</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Do one clean iteration using the debug loop</a:t>
            </a:r>
            <a:endParaRPr lang="en-US" sz="1600" dirty="0"/>
          </a:p>
          <a:p>
            <a:pPr marL="228600" indent="-228600">
              <a:buSzPct val="100000"/>
              <a:buChar char="•"/>
            </a:pPr>
            <a:r>
              <a:rPr lang="en-US" sz="1600" dirty="0">
                <a:solidFill>
                  <a:srgbClr val="111827"/>
                </a:solidFill>
                <a:latin typeface="Aptos" pitchFamily="34" charset="0"/>
                <a:ea typeface="Aptos" pitchFamily="34" charset="-122"/>
                <a:cs typeface="Aptos" pitchFamily="34" charset="-120"/>
              </a:rPr>
              <a:t>Add verification lines when accuracy matters</a:t>
            </a:r>
            <a:endParaRPr lang="en-US" sz="1600" dirty="0"/>
          </a:p>
        </p:txBody>
      </p:sp>
      <p:sp>
        <p:nvSpPr>
          <p:cNvPr id="13" name="Shape 11"/>
          <p:cNvSpPr/>
          <p:nvPr/>
        </p:nvSpPr>
        <p:spPr>
          <a:xfrm>
            <a:off x="7635240" y="1691640"/>
            <a:ext cx="3886200" cy="2560320"/>
          </a:xfrm>
          <a:prstGeom prst="roundRect">
            <a:avLst/>
          </a:prstGeom>
          <a:solidFill>
            <a:srgbClr val="FFFFFF"/>
          </a:solidFill>
          <a:ln w="25400">
            <a:solidFill>
              <a:srgbClr val="2563EB"/>
            </a:solidFill>
            <a:prstDash val="solid"/>
          </a:ln>
        </p:spPr>
        <p:txBody>
          <a:bodyPr/>
          <a:lstStyle/>
          <a:p>
            <a:endParaRPr lang="en-US"/>
          </a:p>
        </p:txBody>
      </p:sp>
      <p:sp>
        <p:nvSpPr>
          <p:cNvPr id="14" name="Text 12"/>
          <p:cNvSpPr/>
          <p:nvPr/>
        </p:nvSpPr>
        <p:spPr>
          <a:xfrm>
            <a:off x="7818120" y="1828800"/>
            <a:ext cx="3520440" cy="274320"/>
          </a:xfrm>
          <a:prstGeom prst="rect">
            <a:avLst/>
          </a:prstGeom>
          <a:noFill/>
          <a:ln/>
        </p:spPr>
        <p:txBody>
          <a:bodyPr wrap="square" rtlCol="0" anchor="ctr"/>
          <a:lstStyle/>
          <a:p>
            <a:pPr marL="0" indent="0">
              <a:buNone/>
            </a:pPr>
            <a:r>
              <a:rPr lang="en-US" sz="1400" b="1" dirty="0">
                <a:solidFill>
                  <a:srgbClr val="111827"/>
                </a:solidFill>
                <a:latin typeface="Aptos" pitchFamily="34" charset="0"/>
                <a:ea typeface="Aptos" pitchFamily="34" charset="-122"/>
                <a:cs typeface="Aptos" pitchFamily="34" charset="-120"/>
              </a:rPr>
              <a:t>Default formula</a:t>
            </a:r>
            <a:endParaRPr lang="en-US" sz="1400" dirty="0"/>
          </a:p>
        </p:txBody>
      </p:sp>
      <p:sp>
        <p:nvSpPr>
          <p:cNvPr id="15" name="Text 13"/>
          <p:cNvSpPr/>
          <p:nvPr/>
        </p:nvSpPr>
        <p:spPr>
          <a:xfrm>
            <a:off x="7818120" y="2148840"/>
            <a:ext cx="3520440" cy="1920240"/>
          </a:xfrm>
          <a:prstGeom prst="rect">
            <a:avLst/>
          </a:prstGeom>
          <a:noFill/>
          <a:ln/>
        </p:spPr>
        <p:txBody>
          <a:bodyPr wrap="square" rtlCol="0" anchor="ctr"/>
          <a:lstStyle/>
          <a:p>
            <a:pPr marL="0" indent="0">
              <a:buNone/>
            </a:pPr>
            <a:r>
              <a:rPr lang="en-US" sz="1800" dirty="0">
                <a:solidFill>
                  <a:srgbClr val="111827"/>
                </a:solidFill>
                <a:latin typeface="Aptos" pitchFamily="34" charset="0"/>
                <a:ea typeface="Aptos" pitchFamily="34" charset="-122"/>
                <a:cs typeface="Aptos" pitchFamily="34" charset="-120"/>
              </a:rPr>
              <a:t>ROLE + TASK</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 CONTEXT</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 CONSTRAINTS</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 OUTPUT</a:t>
            </a:r>
            <a:endParaRPr lang="en-US" sz="1800" dirty="0"/>
          </a:p>
          <a:p>
            <a:pPr marL="0" indent="0">
              <a:buNone/>
            </a:pPr>
            <a:r>
              <a:rPr lang="en-US" sz="1800" dirty="0">
                <a:solidFill>
                  <a:srgbClr val="111827"/>
                </a:solidFill>
                <a:latin typeface="Aptos" pitchFamily="34" charset="0"/>
                <a:ea typeface="Aptos" pitchFamily="34" charset="-122"/>
                <a:cs typeface="Aptos" pitchFamily="34" charset="-120"/>
              </a:rPr>
              <a:t>(+ CHECKS)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27AB4"/>
          </a:solidFill>
          <a:ln w="12700">
            <a:solidFill>
              <a:srgbClr val="227AB4"/>
            </a:solidFill>
            <a:prstDash val="solid"/>
          </a:ln>
        </p:spPr>
        <p:txBody>
          <a:bodyPr/>
          <a:lstStyle/>
          <a:p>
            <a:endParaRPr lang="en-US"/>
          </a:p>
        </p:txBody>
      </p:sp>
      <p:sp>
        <p:nvSpPr>
          <p:cNvPr id="3" name="Shape 1"/>
          <p:cNvSpPr/>
          <p:nvPr/>
        </p:nvSpPr>
        <p:spPr>
          <a:xfrm>
            <a:off x="685800" y="1417320"/>
            <a:ext cx="10881360" cy="4480560"/>
          </a:xfrm>
          <a:prstGeom prst="rect">
            <a:avLst/>
          </a:prstGeom>
          <a:solidFill>
            <a:srgbClr val="F5F8FC"/>
          </a:solidFill>
          <a:ln w="12700">
            <a:solidFill>
              <a:srgbClr val="F5F8FC"/>
            </a:solidFill>
            <a:prstDash val="solid"/>
          </a:ln>
        </p:spPr>
        <p:txBody>
          <a:bodyPr/>
          <a:lstStyle/>
          <a:p>
            <a:endParaRPr lang="en-US"/>
          </a:p>
        </p:txBody>
      </p:sp>
      <p:sp>
        <p:nvSpPr>
          <p:cNvPr id="4" name="Shape 2"/>
          <p:cNvSpPr/>
          <p:nvPr/>
        </p:nvSpPr>
        <p:spPr>
          <a:xfrm>
            <a:off x="10180015" y="0"/>
            <a:ext cx="2011680" cy="1463040"/>
          </a:xfrm>
          <a:prstGeom prst="rect">
            <a:avLst/>
          </a:prstGeom>
          <a:solidFill>
            <a:srgbClr val="EBF6FE"/>
          </a:solidFill>
          <a:ln w="12700">
            <a:solidFill>
              <a:srgbClr val="EBF6FE"/>
            </a:solidFill>
            <a:prstDash val="solid"/>
          </a:ln>
        </p:spPr>
        <p:txBody>
          <a:bodyPr/>
          <a:lstStyle/>
          <a:p>
            <a:endParaRPr lang="en-US"/>
          </a:p>
        </p:txBody>
      </p:sp>
      <p:sp>
        <p:nvSpPr>
          <p:cNvPr id="5" name="Shape 3"/>
          <p:cNvSpPr/>
          <p:nvPr/>
        </p:nvSpPr>
        <p:spPr>
          <a:xfrm>
            <a:off x="411480" y="777240"/>
            <a:ext cx="164592" cy="502920"/>
          </a:xfrm>
          <a:prstGeom prst="rect">
            <a:avLst/>
          </a:prstGeom>
          <a:solidFill>
            <a:srgbClr val="227AB4"/>
          </a:solidFill>
          <a:ln w="12700">
            <a:solidFill>
              <a:srgbClr val="227AB4"/>
            </a:solidFill>
            <a:prstDash val="solid"/>
          </a:ln>
        </p:spPr>
        <p:txBody>
          <a:bodyPr/>
          <a:lstStyle/>
          <a:p>
            <a:endParaRPr lang="en-US"/>
          </a:p>
        </p:txBody>
      </p:sp>
      <p:sp>
        <p:nvSpPr>
          <p:cNvPr id="6" name="Shape 4"/>
          <p:cNvSpPr/>
          <p:nvPr/>
        </p:nvSpPr>
        <p:spPr>
          <a:xfrm>
            <a:off x="777240" y="6291072"/>
            <a:ext cx="10637215" cy="27432"/>
          </a:xfrm>
          <a:prstGeom prst="rect">
            <a:avLst/>
          </a:prstGeom>
          <a:solidFill>
            <a:srgbClr val="EBF6FE"/>
          </a:solidFill>
          <a:ln w="12700">
            <a:solidFill>
              <a:srgbClr val="EBF6FE"/>
            </a:solidFill>
            <a:prstDash val="solid"/>
          </a:ln>
        </p:spPr>
        <p:txBody>
          <a:bodyPr/>
          <a:lstStyle/>
          <a:p>
            <a:endParaRPr lang="en-US"/>
          </a:p>
        </p:txBody>
      </p:sp>
      <p:sp>
        <p:nvSpPr>
          <p:cNvPr id="7" name="Text 5"/>
          <p:cNvSpPr/>
          <p:nvPr/>
        </p:nvSpPr>
        <p:spPr>
          <a:xfrm>
            <a:off x="777240" y="6355080"/>
            <a:ext cx="8869680" cy="274320"/>
          </a:xfrm>
          <a:prstGeom prst="rect">
            <a:avLst/>
          </a:prstGeom>
          <a:noFill/>
          <a:ln/>
        </p:spPr>
        <p:txBody>
          <a:bodyPr wrap="square" rtlCol="0" anchor="ctr"/>
          <a:lstStyle/>
          <a:p>
            <a:pPr marL="0" indent="0">
              <a:buNone/>
            </a:pPr>
            <a:r>
              <a:rPr lang="en-US" sz="1000" dirty="0">
                <a:solidFill>
                  <a:srgbClr val="5F5F5F"/>
                </a:solidFill>
                <a:latin typeface="Aptos" pitchFamily="34" charset="0"/>
                <a:ea typeface="Aptos" pitchFamily="34" charset="-122"/>
                <a:cs typeface="Aptos" pitchFamily="34" charset="-120"/>
              </a:rPr>
              <a:t>Prompting for LLMs • Templates → iteration → verification</a:t>
            </a:r>
            <a:endParaRPr lang="en-US" sz="1000" dirty="0"/>
          </a:p>
        </p:txBody>
      </p:sp>
      <p:sp>
        <p:nvSpPr>
          <p:cNvPr id="8" name="Text 6"/>
          <p:cNvSpPr/>
          <p:nvPr/>
        </p:nvSpPr>
        <p:spPr>
          <a:xfrm>
            <a:off x="10954512" y="6355080"/>
            <a:ext cx="914400" cy="274320"/>
          </a:xfrm>
          <a:prstGeom prst="rect">
            <a:avLst/>
          </a:prstGeom>
          <a:noFill/>
          <a:ln/>
        </p:spPr>
        <p:txBody>
          <a:bodyPr wrap="square" rtlCol="0" anchor="ctr"/>
          <a:lstStyle/>
          <a:p>
            <a:pPr marL="0" indent="0" algn="r">
              <a:buNone/>
            </a:pPr>
            <a:r>
              <a:rPr lang="en-US" sz="1000" dirty="0">
                <a:solidFill>
                  <a:srgbClr val="5F5F5F"/>
                </a:solidFill>
                <a:latin typeface="Aptos" pitchFamily="34" charset="0"/>
                <a:ea typeface="Aptos" pitchFamily="34" charset="-122"/>
                <a:cs typeface="Aptos" pitchFamily="34" charset="-120"/>
              </a:rPr>
              <a:t>18/18</a:t>
            </a:r>
            <a:endParaRPr lang="en-US" sz="1000" dirty="0"/>
          </a:p>
        </p:txBody>
      </p:sp>
      <p:sp>
        <p:nvSpPr>
          <p:cNvPr id="9" name="Text 7"/>
          <p:cNvSpPr/>
          <p:nvPr/>
        </p:nvSpPr>
        <p:spPr>
          <a:xfrm>
            <a:off x="11265408" y="6601968"/>
            <a:ext cx="365760" cy="228600"/>
          </a:xfrm>
          <a:prstGeom prst="rect">
            <a:avLst/>
          </a:prstGeom>
          <a:noFill/>
          <a:ln/>
        </p:spPr>
        <p:txBody>
          <a:bodyPr wrap="square" rtlCol="0" anchor="ctr"/>
          <a:lstStyle/>
          <a:p>
            <a:pPr marL="0" indent="0" algn="l">
              <a:buNone/>
            </a:pPr>
            <a:r>
              <a:rPr lang="en-US" sz="1200" dirty="0">
                <a:solidFill>
                  <a:srgbClr val="6B7280"/>
                </a:solidFill>
                <a:latin typeface="Aptos" pitchFamily="34" charset="0"/>
                <a:ea typeface="Aptos" pitchFamily="34" charset="-122"/>
                <a:cs typeface="Aptos" pitchFamily="34" charset="-120"/>
              </a:rPr>
              <a:t>18</a:t>
            </a:r>
            <a:endParaRPr lang="en-US" sz="1200" dirty="0"/>
          </a:p>
        </p:txBody>
      </p:sp>
      <p:sp>
        <p:nvSpPr>
          <p:cNvPr id="10" name="Text 8"/>
          <p:cNvSpPr/>
          <p:nvPr/>
        </p:nvSpPr>
        <p:spPr>
          <a:xfrm>
            <a:off x="658368" y="411480"/>
            <a:ext cx="10972800" cy="640080"/>
          </a:xfrm>
          <a:prstGeom prst="rect">
            <a:avLst/>
          </a:prstGeom>
          <a:noFill/>
          <a:ln/>
        </p:spPr>
        <p:txBody>
          <a:bodyPr wrap="square" rtlCol="0" anchor="ctr"/>
          <a:lstStyle/>
          <a:p>
            <a:pPr marL="0" indent="0">
              <a:buNone/>
            </a:pPr>
            <a:r>
              <a:rPr lang="en-US" sz="3400" dirty="0">
                <a:solidFill>
                  <a:srgbClr val="111827"/>
                </a:solidFill>
                <a:latin typeface="Aptos" pitchFamily="34" charset="0"/>
                <a:ea typeface="Aptos" pitchFamily="34" charset="-122"/>
                <a:cs typeface="Aptos" pitchFamily="34" charset="-120"/>
              </a:rPr>
              <a:t>Your prompt pack</a:t>
            </a:r>
            <a:endParaRPr lang="en-US" sz="3400" dirty="0"/>
          </a:p>
        </p:txBody>
      </p:sp>
      <p:sp>
        <p:nvSpPr>
          <p:cNvPr id="11" name="Shape 9"/>
          <p:cNvSpPr/>
          <p:nvPr/>
        </p:nvSpPr>
        <p:spPr>
          <a:xfrm>
            <a:off x="868680" y="1508760"/>
            <a:ext cx="5440680" cy="3611880"/>
          </a:xfrm>
          <a:prstGeom prst="roundRect">
            <a:avLst/>
          </a:prstGeom>
          <a:solidFill>
            <a:srgbClr val="FFFFFF"/>
          </a:solidFill>
          <a:ln w="12700">
            <a:solidFill>
              <a:srgbClr val="CBD5E1"/>
            </a:solidFill>
            <a:prstDash val="solid"/>
          </a:ln>
        </p:spPr>
        <p:txBody>
          <a:bodyPr/>
          <a:lstStyle/>
          <a:p>
            <a:endParaRPr lang="en-US"/>
          </a:p>
        </p:txBody>
      </p:sp>
      <p:sp>
        <p:nvSpPr>
          <p:cNvPr id="12" name="Text 10"/>
          <p:cNvSpPr/>
          <p:nvPr/>
        </p:nvSpPr>
        <p:spPr>
          <a:xfrm>
            <a:off x="1051560" y="1645920"/>
            <a:ext cx="5074920" cy="27432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Templates</a:t>
            </a:r>
            <a:endParaRPr lang="en-US" sz="1600" dirty="0"/>
          </a:p>
        </p:txBody>
      </p:sp>
      <p:sp>
        <p:nvSpPr>
          <p:cNvPr id="13" name="Text 11"/>
          <p:cNvSpPr/>
          <p:nvPr/>
        </p:nvSpPr>
        <p:spPr>
          <a:xfrm>
            <a:off x="1051560" y="2011680"/>
            <a:ext cx="5074920" cy="2926080"/>
          </a:xfrm>
          <a:prstGeom prst="rect">
            <a:avLst/>
          </a:prstGeom>
          <a:noFill/>
          <a:ln/>
        </p:spPr>
        <p:txBody>
          <a:bodyPr wrap="square" rtlCol="0" anchor="ctr"/>
          <a:lstStyle/>
          <a:p>
            <a:pPr marL="0" indent="0">
              <a:buNone/>
            </a:pPr>
            <a:r>
              <a:rPr lang="en-US" sz="1600" dirty="0">
                <a:solidFill>
                  <a:srgbClr val="111827"/>
                </a:solidFill>
                <a:latin typeface="Aptos" pitchFamily="34" charset="0"/>
                <a:ea typeface="Aptos" pitchFamily="34" charset="-122"/>
                <a:cs typeface="Aptos" pitchFamily="34" charset="-120"/>
              </a:rPr>
              <a:t>A) Planning / study plan</a:t>
            </a:r>
            <a:endParaRPr lang="en-US" sz="1600" dirty="0"/>
          </a:p>
          <a:p>
            <a:pPr marL="0" indent="0">
              <a:buNone/>
            </a:pPr>
            <a:r>
              <a:rPr lang="en-US" sz="1600" dirty="0">
                <a:solidFill>
                  <a:srgbClr val="111827"/>
                </a:solidFill>
                <a:latin typeface="Aptos" pitchFamily="34" charset="0"/>
                <a:ea typeface="Aptos" pitchFamily="34" charset="-122"/>
                <a:cs typeface="Aptos" pitchFamily="34" charset="-120"/>
              </a:rPr>
              <a:t>B) Summarise a reading</a:t>
            </a:r>
            <a:endParaRPr lang="en-US" sz="1600" dirty="0"/>
          </a:p>
          <a:p>
            <a:pPr marL="0" indent="0">
              <a:buNone/>
            </a:pPr>
            <a:r>
              <a:rPr lang="en-US" sz="1600" dirty="0">
                <a:solidFill>
                  <a:srgbClr val="111827"/>
                </a:solidFill>
                <a:latin typeface="Aptos" pitchFamily="34" charset="0"/>
                <a:ea typeface="Aptos" pitchFamily="34" charset="-122"/>
                <a:cs typeface="Aptos" pitchFamily="34" charset="-120"/>
              </a:rPr>
              <a:t>C) Writing / rewrite</a:t>
            </a:r>
            <a:endParaRPr lang="en-US" sz="1600" dirty="0"/>
          </a:p>
          <a:p>
            <a:pPr marL="0" indent="0">
              <a:buNone/>
            </a:pPr>
            <a:r>
              <a:rPr lang="en-US" sz="1600" dirty="0">
                <a:solidFill>
                  <a:srgbClr val="111827"/>
                </a:solidFill>
                <a:latin typeface="Aptos" pitchFamily="34" charset="0"/>
                <a:ea typeface="Aptos" pitchFamily="34" charset="-122"/>
                <a:cs typeface="Aptos" pitchFamily="34" charset="-120"/>
              </a:rPr>
              <a:t>D) Coding / debugging</a:t>
            </a:r>
            <a:endParaRPr lang="en-US" sz="1600" dirty="0"/>
          </a:p>
          <a:p>
            <a:pPr marL="0" indent="0">
              <a:buNone/>
            </a:pPr>
            <a:r>
              <a:rPr lang="en-US" sz="1600" dirty="0">
                <a:solidFill>
                  <a:srgbClr val="111827"/>
                </a:solidFill>
                <a:latin typeface="Aptos" pitchFamily="34" charset="0"/>
                <a:ea typeface="Aptos" pitchFamily="34" charset="-122"/>
                <a:cs typeface="Aptos" pitchFamily="34" charset="-120"/>
              </a:rPr>
              <a:t>E) Decisions / compare options</a:t>
            </a:r>
            <a:endParaRPr lang="en-US" sz="1600" dirty="0"/>
          </a:p>
        </p:txBody>
      </p:sp>
      <p:sp>
        <p:nvSpPr>
          <p:cNvPr id="14" name="Shape 12"/>
          <p:cNvSpPr/>
          <p:nvPr/>
        </p:nvSpPr>
        <p:spPr>
          <a:xfrm>
            <a:off x="6629400" y="1508760"/>
            <a:ext cx="4892040" cy="3611880"/>
          </a:xfrm>
          <a:prstGeom prst="roundRect">
            <a:avLst/>
          </a:prstGeom>
          <a:solidFill>
            <a:srgbClr val="FFFFFF"/>
          </a:solidFill>
          <a:ln w="12700">
            <a:solidFill>
              <a:srgbClr val="CBD5E1"/>
            </a:solidFill>
            <a:prstDash val="solid"/>
          </a:ln>
        </p:spPr>
        <p:txBody>
          <a:bodyPr/>
          <a:lstStyle/>
          <a:p>
            <a:endParaRPr lang="en-US"/>
          </a:p>
        </p:txBody>
      </p:sp>
      <p:sp>
        <p:nvSpPr>
          <p:cNvPr id="15" name="Text 13"/>
          <p:cNvSpPr/>
          <p:nvPr/>
        </p:nvSpPr>
        <p:spPr>
          <a:xfrm>
            <a:off x="6812280" y="1645920"/>
            <a:ext cx="4526280" cy="27432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Add-ons (copy/paste)</a:t>
            </a:r>
            <a:endParaRPr lang="en-US" sz="1600" dirty="0"/>
          </a:p>
        </p:txBody>
      </p:sp>
      <p:sp>
        <p:nvSpPr>
          <p:cNvPr id="16" name="Text 14"/>
          <p:cNvSpPr/>
          <p:nvPr/>
        </p:nvSpPr>
        <p:spPr>
          <a:xfrm>
            <a:off x="6812280" y="2011680"/>
            <a:ext cx="4526280" cy="2926080"/>
          </a:xfrm>
          <a:prstGeom prst="rect">
            <a:avLst/>
          </a:prstGeom>
          <a:noFill/>
          <a:ln/>
        </p:spPr>
        <p:txBody>
          <a:bodyPr wrap="square" rtlCol="0" anchor="ctr"/>
          <a:lstStyle/>
          <a:p>
            <a:pPr marL="0" indent="0">
              <a:buNone/>
            </a:pPr>
            <a:r>
              <a:rPr lang="en-US" sz="1500" dirty="0">
                <a:solidFill>
                  <a:srgbClr val="111827"/>
                </a:solidFill>
                <a:latin typeface="Aptos" pitchFamily="34" charset="0"/>
                <a:ea typeface="Aptos" pitchFamily="34" charset="-122"/>
                <a:cs typeface="Aptos" pitchFamily="34" charset="-120"/>
              </a:rPr>
              <a:t>• Ask 3 clarifying questions first</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 If unanswered, state assumptions</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 Flag uncertainty / time-sensitive claims</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 Give a 5-minute verification checklist</a:t>
            </a:r>
            <a:endParaRPr lang="en-US" sz="1500" dirty="0"/>
          </a:p>
          <a:p>
            <a:pPr marL="0" indent="0">
              <a:buNone/>
            </a:pPr>
            <a:r>
              <a:rPr lang="en-US" sz="1500" dirty="0">
                <a:solidFill>
                  <a:srgbClr val="111827"/>
                </a:solidFill>
                <a:latin typeface="Aptos" pitchFamily="34" charset="0"/>
                <a:ea typeface="Aptos" pitchFamily="34" charset="-122"/>
                <a:cs typeface="Aptos" pitchFamily="34" charset="-120"/>
              </a:rPr>
              <a:t>• Output in a table / headings / JSON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1290</TotalTime>
  <Words>2446</Words>
  <Application>Microsoft Macintosh PowerPoint</Application>
  <PresentationFormat>Widescreen</PresentationFormat>
  <Paragraphs>322</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Tom Hughes [C]</cp:lastModifiedBy>
  <cp:revision>4</cp:revision>
  <dcterms:created xsi:type="dcterms:W3CDTF">2026-02-11T15:30:08Z</dcterms:created>
  <dcterms:modified xsi:type="dcterms:W3CDTF">2026-02-18T08:29:08Z</dcterms:modified>
</cp:coreProperties>
</file>