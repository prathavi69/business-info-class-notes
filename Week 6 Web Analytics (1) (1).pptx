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55"/>
  </p:notesMasterIdLst>
  <p:handoutMasterIdLst>
    <p:handoutMasterId r:id="rId56"/>
  </p:handoutMasterIdLst>
  <p:sldIdLst>
    <p:sldId id="256" r:id="rId2"/>
    <p:sldId id="414" r:id="rId3"/>
    <p:sldId id="415" r:id="rId4"/>
    <p:sldId id="454" r:id="rId5"/>
    <p:sldId id="455" r:id="rId6"/>
    <p:sldId id="456" r:id="rId7"/>
    <p:sldId id="457" r:id="rId8"/>
    <p:sldId id="458" r:id="rId9"/>
    <p:sldId id="459" r:id="rId10"/>
    <p:sldId id="460" r:id="rId11"/>
    <p:sldId id="461" r:id="rId12"/>
    <p:sldId id="462" r:id="rId13"/>
    <p:sldId id="463" r:id="rId14"/>
    <p:sldId id="464" r:id="rId15"/>
    <p:sldId id="465" r:id="rId16"/>
    <p:sldId id="466" r:id="rId17"/>
    <p:sldId id="467" r:id="rId18"/>
    <p:sldId id="419" r:id="rId19"/>
    <p:sldId id="432" r:id="rId20"/>
    <p:sldId id="391" r:id="rId21"/>
    <p:sldId id="392" r:id="rId22"/>
    <p:sldId id="395" r:id="rId23"/>
    <p:sldId id="399" r:id="rId24"/>
    <p:sldId id="396" r:id="rId25"/>
    <p:sldId id="397" r:id="rId26"/>
    <p:sldId id="437" r:id="rId27"/>
    <p:sldId id="445" r:id="rId28"/>
    <p:sldId id="438" r:id="rId29"/>
    <p:sldId id="441" r:id="rId30"/>
    <p:sldId id="443" r:id="rId31"/>
    <p:sldId id="444" r:id="rId32"/>
    <p:sldId id="424" r:id="rId33"/>
    <p:sldId id="423" r:id="rId34"/>
    <p:sldId id="425" r:id="rId35"/>
    <p:sldId id="426" r:id="rId36"/>
    <p:sldId id="427" r:id="rId37"/>
    <p:sldId id="433" r:id="rId38"/>
    <p:sldId id="434" r:id="rId39"/>
    <p:sldId id="435" r:id="rId40"/>
    <p:sldId id="436" r:id="rId41"/>
    <p:sldId id="451" r:id="rId42"/>
    <p:sldId id="452" r:id="rId43"/>
    <p:sldId id="453" r:id="rId44"/>
    <p:sldId id="422" r:id="rId45"/>
    <p:sldId id="381" r:id="rId46"/>
    <p:sldId id="382" r:id="rId47"/>
    <p:sldId id="383" r:id="rId48"/>
    <p:sldId id="385" r:id="rId49"/>
    <p:sldId id="386" r:id="rId50"/>
    <p:sldId id="389" r:id="rId51"/>
    <p:sldId id="448" r:id="rId52"/>
    <p:sldId id="449" r:id="rId53"/>
    <p:sldId id="450" r:id="rId54"/>
  </p:sldIdLst>
  <p:sldSz cx="9144000" cy="6858000" type="screen4x3"/>
  <p:notesSz cx="6858000" cy="9144000"/>
  <p:defaultTextStyle>
    <a:defPPr>
      <a:defRPr lang="en-US"/>
    </a:defPPr>
    <a:lvl1pPr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5pPr>
    <a:lvl6pPr marL="2286000" algn="l" defTabSz="914400" rtl="0" eaLnBrk="1" latinLnBrk="0" hangingPunct="1">
      <a:defRPr sz="3600" kern="1200">
        <a:solidFill>
          <a:schemeClr val="tx1"/>
        </a:solidFill>
        <a:latin typeface="Arial" panose="020B0604020202020204" pitchFamily="34" charset="0"/>
        <a:ea typeface="+mn-ea"/>
        <a:cs typeface="+mn-cs"/>
      </a:defRPr>
    </a:lvl6pPr>
    <a:lvl7pPr marL="2743200" algn="l" defTabSz="914400" rtl="0" eaLnBrk="1" latinLnBrk="0" hangingPunct="1">
      <a:defRPr sz="3600" kern="1200">
        <a:solidFill>
          <a:schemeClr val="tx1"/>
        </a:solidFill>
        <a:latin typeface="Arial" panose="020B0604020202020204" pitchFamily="34" charset="0"/>
        <a:ea typeface="+mn-ea"/>
        <a:cs typeface="+mn-cs"/>
      </a:defRPr>
    </a:lvl7pPr>
    <a:lvl8pPr marL="3200400" algn="l" defTabSz="914400" rtl="0" eaLnBrk="1" latinLnBrk="0" hangingPunct="1">
      <a:defRPr sz="3600" kern="1200">
        <a:solidFill>
          <a:schemeClr val="tx1"/>
        </a:solidFill>
        <a:latin typeface="Arial" panose="020B0604020202020204" pitchFamily="34" charset="0"/>
        <a:ea typeface="+mn-ea"/>
        <a:cs typeface="+mn-cs"/>
      </a:defRPr>
    </a:lvl8pPr>
    <a:lvl9pPr marL="3657600" algn="l" defTabSz="914400" rtl="0" eaLnBrk="1" latinLnBrk="0" hangingPunct="1">
      <a:defRPr sz="3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7FCC"/>
    <a:srgbClr val="0066FF"/>
    <a:srgbClr val="99CCFF"/>
    <a:srgbClr val="520369"/>
    <a:srgbClr val="363636"/>
    <a:srgbClr val="008000"/>
    <a:srgbClr val="3C3C3C"/>
    <a:srgbClr val="289CD5"/>
    <a:srgbClr val="6920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2889" autoAdjust="0"/>
  </p:normalViewPr>
  <p:slideViewPr>
    <p:cSldViewPr snapToGrid="0">
      <p:cViewPr varScale="1">
        <p:scale>
          <a:sx n="108" d="100"/>
          <a:sy n="108" d="100"/>
        </p:scale>
        <p:origin x="2440" y="152"/>
      </p:cViewPr>
      <p:guideLst>
        <p:guide orient="horz" pos="2160"/>
        <p:guide pos="2880"/>
      </p:guideLst>
    </p:cSldViewPr>
  </p:slideViewPr>
  <p:outlineViewPr>
    <p:cViewPr>
      <p:scale>
        <a:sx n="33" d="100"/>
        <a:sy n="33" d="100"/>
      </p:scale>
      <p:origin x="0" y="0"/>
    </p:cViewPr>
  </p:outlineViewPr>
  <p:notesTextViewPr>
    <p:cViewPr>
      <p:scale>
        <a:sx n="90" d="100"/>
        <a:sy n="90" d="100"/>
      </p:scale>
      <p:origin x="0" y="0"/>
    </p:cViewPr>
  </p:notesTextViewPr>
  <p:sorterViewPr>
    <p:cViewPr varScale="1">
      <p:scale>
        <a:sx n="100" d="100"/>
        <a:sy n="100" d="100"/>
      </p:scale>
      <p:origin x="0" y="0"/>
    </p:cViewPr>
  </p:sorterViewPr>
  <p:notesViewPr>
    <p:cSldViewPr snapToGrid="0">
      <p:cViewPr varScale="1">
        <p:scale>
          <a:sx n="56" d="100"/>
          <a:sy n="56" d="100"/>
        </p:scale>
        <p:origin x="-181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charset="0"/>
              </a:defRPr>
            </a:lvl1pPr>
          </a:lstStyle>
          <a:p>
            <a:pPr>
              <a:defRPr/>
            </a:pPr>
            <a:endParaRPr lang="en-GB"/>
          </a:p>
        </p:txBody>
      </p:sp>
      <p:sp>
        <p:nvSpPr>
          <p:cNvPr id="1433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charset="0"/>
              </a:defRPr>
            </a:lvl1pPr>
          </a:lstStyle>
          <a:p>
            <a:pPr>
              <a:defRPr/>
            </a:pPr>
            <a:endParaRPr lang="en-GB"/>
          </a:p>
        </p:txBody>
      </p:sp>
      <p:sp>
        <p:nvSpPr>
          <p:cNvPr id="1434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charset="0"/>
              </a:defRPr>
            </a:lvl1pPr>
          </a:lstStyle>
          <a:p>
            <a:pPr>
              <a:defRPr/>
            </a:pPr>
            <a:endParaRPr lang="en-GB"/>
          </a:p>
        </p:txBody>
      </p:sp>
      <p:sp>
        <p:nvSpPr>
          <p:cNvPr id="1434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smtClean="0">
                <a:latin typeface="Times" panose="02020603050405020304" pitchFamily="18" charset="0"/>
              </a:defRPr>
            </a:lvl1pPr>
          </a:lstStyle>
          <a:p>
            <a:pPr>
              <a:defRPr/>
            </a:pPr>
            <a:fld id="{9F432052-2A6C-479A-A19A-ABEA5ACAE6CF}" type="slidenum">
              <a:rPr lang="en-GB" altLang="en-US"/>
              <a:pPr>
                <a:defRPr/>
              </a:pPr>
              <a:t>‹#›</a:t>
            </a:fld>
            <a:endParaRPr lang="en-GB" altLang="en-US"/>
          </a:p>
        </p:txBody>
      </p:sp>
    </p:spTree>
    <p:extLst>
      <p:ext uri="{BB962C8B-B14F-4D97-AF65-F5344CB8AC3E}">
        <p14:creationId xmlns:p14="http://schemas.microsoft.com/office/powerpoint/2010/main" val="38514622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charset="0"/>
              </a:defRPr>
            </a:lvl1pPr>
          </a:lstStyle>
          <a:p>
            <a:pPr>
              <a:defRPr/>
            </a:pPr>
            <a:endParaRPr lang="en-GB"/>
          </a:p>
        </p:txBody>
      </p:sp>
      <p:sp>
        <p:nvSpPr>
          <p:cNvPr id="1945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charset="0"/>
              </a:defRPr>
            </a:lvl1pPr>
          </a:lstStyle>
          <a:p>
            <a:pPr>
              <a:defRPr/>
            </a:pPr>
            <a:endParaRPr lang="en-GB"/>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946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charset="0"/>
              </a:defRPr>
            </a:lvl1pPr>
          </a:lstStyle>
          <a:p>
            <a:pPr>
              <a:defRPr/>
            </a:pPr>
            <a:endParaRPr lang="en-GB"/>
          </a:p>
        </p:txBody>
      </p:sp>
      <p:sp>
        <p:nvSpPr>
          <p:cNvPr id="1946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smtClean="0">
                <a:latin typeface="Times" panose="02020603050405020304" pitchFamily="18" charset="0"/>
              </a:defRPr>
            </a:lvl1pPr>
          </a:lstStyle>
          <a:p>
            <a:pPr>
              <a:defRPr/>
            </a:pPr>
            <a:fld id="{6616F148-05FE-4908-B818-5F5E68D7B330}" type="slidenum">
              <a:rPr lang="en-GB" altLang="en-US"/>
              <a:pPr>
                <a:defRPr/>
              </a:pPr>
              <a:t>‹#›</a:t>
            </a:fld>
            <a:endParaRPr lang="en-GB" altLang="en-US"/>
          </a:p>
        </p:txBody>
      </p:sp>
    </p:spTree>
    <p:extLst>
      <p:ext uri="{BB962C8B-B14F-4D97-AF65-F5344CB8AC3E}">
        <p14:creationId xmlns:p14="http://schemas.microsoft.com/office/powerpoint/2010/main" val="29360553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kaushik.net/avinash/2007/08/standard-metrics-revisited-3-bounce-rate.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kaushik.net/avinash/2007/08/standard-metrics-revisited-3-bounce-rate.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omniture.com/" TargetMode="External"/><Relationship Id="rId7" Type="http://schemas.openxmlformats.org/officeDocument/2006/relationships/hyperlink" Target="http://www.google.com/analytics"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www.visualsciences.com/" TargetMode="External"/><Relationship Id="rId5" Type="http://schemas.openxmlformats.org/officeDocument/2006/relationships/hyperlink" Target="http://www.coremetrics.com/" TargetMode="External"/><Relationship Id="rId4" Type="http://schemas.openxmlformats.org/officeDocument/2006/relationships/hyperlink" Target="http://www.webtrends.com/"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jimnovo.com/Customer-LifeCycles.htm"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www.jimnovo.com/ROI.htm"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7604A58B-735C-4134-97AA-7605CF6FBFDB}" type="slidenum">
              <a:rPr lang="en-GB" altLang="en-US"/>
              <a:pPr>
                <a:spcBef>
                  <a:spcPct val="0"/>
                </a:spcBef>
              </a:pPr>
              <a:t>1</a:t>
            </a:fld>
            <a:endParaRPr lang="en-GB"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panose="02020603050405020304" pitchFamily="18" charset="0"/>
            </a:endParaRPr>
          </a:p>
        </p:txBody>
      </p:sp>
    </p:spTree>
    <p:extLst>
      <p:ext uri="{BB962C8B-B14F-4D97-AF65-F5344CB8AC3E}">
        <p14:creationId xmlns:p14="http://schemas.microsoft.com/office/powerpoint/2010/main" val="947437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CC7DC4B4-F12C-4AEE-A5CB-101476325008}" type="slidenum">
              <a:rPr lang="en-GB" altLang="en-US"/>
              <a:pPr>
                <a:spcBef>
                  <a:spcPct val="0"/>
                </a:spcBef>
              </a:pPr>
              <a:t>2</a:t>
            </a:fld>
            <a:endParaRPr lang="en-GB" altLang="en-US"/>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247327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2CE9E51A-FBFD-44F1-B42B-A20D9E744E0C}" type="slidenum">
              <a:rPr lang="en-GB" altLang="en-US"/>
              <a:pPr>
                <a:spcBef>
                  <a:spcPct val="0"/>
                </a:spcBef>
              </a:pPr>
              <a:t>3</a:t>
            </a:fld>
            <a:endParaRPr lang="en-GB" alt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656549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E" altLang="en-US">
              <a:latin typeface="Times" panose="02020603050405020304" pitchFamily="18" charset="0"/>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9610327E-9351-415A-ACAA-E9343F93008C}" type="slidenum">
              <a:rPr lang="en-GB" altLang="en-US"/>
              <a:pPr>
                <a:spcBef>
                  <a:spcPct val="0"/>
                </a:spcBef>
              </a:pPr>
              <a:t>4</a:t>
            </a:fld>
            <a:endParaRPr lang="en-GB" altLang="en-US"/>
          </a:p>
        </p:txBody>
      </p:sp>
    </p:spTree>
    <p:extLst>
      <p:ext uri="{BB962C8B-B14F-4D97-AF65-F5344CB8AC3E}">
        <p14:creationId xmlns:p14="http://schemas.microsoft.com/office/powerpoint/2010/main" val="2445214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tLang="en-US" b="1">
                <a:latin typeface="Times" panose="02020603050405020304" pitchFamily="18" charset="0"/>
              </a:rPr>
              <a:t>What is it?</a:t>
            </a:r>
            <a:endParaRPr lang="en-IE" altLang="en-US">
              <a:latin typeface="Times" panose="02020603050405020304" pitchFamily="18" charset="0"/>
            </a:endParaRPr>
          </a:p>
          <a:p>
            <a:r>
              <a:rPr lang="en-IE" altLang="en-US">
                <a:latin typeface="Times" panose="02020603050405020304" pitchFamily="18" charset="0"/>
              </a:rPr>
              <a:t>Visits represents the number of sessions on your website, number of times someone interacted with your site. Bounce is the number of those who left instantly!</a:t>
            </a:r>
          </a:p>
          <a:p>
            <a:r>
              <a:rPr lang="en-IE" altLang="en-US">
                <a:latin typeface="Times" panose="02020603050405020304" pitchFamily="18" charset="0"/>
              </a:rPr>
              <a:t>The Page Views number is how many pages were requested in those visits. Oh and how many in each visit, Pages / Visit.</a:t>
            </a:r>
          </a:p>
          <a:p>
            <a:r>
              <a:rPr lang="en-IE" altLang="en-US">
                <a:latin typeface="Times" panose="02020603050405020304" pitchFamily="18" charset="0"/>
              </a:rPr>
              <a:t>Avg Time on Site, how long did people stay on your site.</a:t>
            </a:r>
          </a:p>
          <a:p>
            <a:r>
              <a:rPr lang="en-IE" altLang="en-US">
                <a:latin typeface="Times" panose="02020603050405020304" pitchFamily="18" charset="0"/>
              </a:rPr>
              <a:t>% New Visits shows how many sessions, interactions, were from people (yes people!) who visited your site for the first time.</a:t>
            </a:r>
          </a:p>
          <a:p>
            <a:endParaRPr lang="en-IE" altLang="en-US">
              <a:latin typeface="Times" panose="02020603050405020304" pitchFamily="18" charset="0"/>
            </a:endParaRP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B06FECAD-D95B-422B-AE35-95E65D7D5DA5}" type="slidenum">
              <a:rPr lang="en-GB" altLang="en-US"/>
              <a:pPr>
                <a:spcBef>
                  <a:spcPct val="0"/>
                </a:spcBef>
              </a:pPr>
              <a:t>5</a:t>
            </a:fld>
            <a:endParaRPr lang="en-GB" altLang="en-US"/>
          </a:p>
        </p:txBody>
      </p:sp>
    </p:spTree>
    <p:extLst>
      <p:ext uri="{BB962C8B-B14F-4D97-AF65-F5344CB8AC3E}">
        <p14:creationId xmlns:p14="http://schemas.microsoft.com/office/powerpoint/2010/main" val="667983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xfrm>
            <a:off x="1058863" y="685800"/>
            <a:ext cx="4572000" cy="3429000"/>
          </a:xfrm>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tLang="en-US" b="1">
                <a:latin typeface="Times" panose="02020603050405020304" pitchFamily="18" charset="0"/>
              </a:rPr>
              <a:t>What is it?</a:t>
            </a:r>
            <a:endParaRPr lang="en-IE" altLang="en-US">
              <a:latin typeface="Times" panose="02020603050405020304" pitchFamily="18" charset="0"/>
            </a:endParaRPr>
          </a:p>
          <a:p>
            <a:r>
              <a:rPr lang="en-IE" altLang="en-US" b="1">
                <a:latin typeface="Times" panose="02020603050405020304" pitchFamily="18" charset="0"/>
              </a:rPr>
              <a:t>Direct traffic</a:t>
            </a:r>
            <a:r>
              <a:rPr lang="en-IE" altLang="en-US">
                <a:latin typeface="Times" panose="02020603050405020304" pitchFamily="18" charset="0"/>
              </a:rPr>
              <a:t> are all those people showing up to your website by typing in the URL of your website or from a bookmark. Some people also call this “default traffic” or “ambient traffic”.</a:t>
            </a:r>
          </a:p>
          <a:p>
            <a:r>
              <a:rPr lang="en-IE" altLang="en-US">
                <a:latin typeface="Times" panose="02020603050405020304" pitchFamily="18" charset="0"/>
              </a:rPr>
              <a:t>Sometimes you’ll see “non direct” traffic in the direct bucket. From badly coded redirects (remember to make all redirects Permanent) or even improperly coded campaigns. Now you know why that is important.</a:t>
            </a:r>
          </a:p>
          <a:p>
            <a:r>
              <a:rPr lang="en-IE" altLang="en-US" b="1">
                <a:latin typeface="Times" panose="02020603050405020304" pitchFamily="18" charset="0"/>
              </a:rPr>
              <a:t>Referring URL’s</a:t>
            </a:r>
            <a:r>
              <a:rPr lang="en-IE" altLang="en-US">
                <a:latin typeface="Times" panose="02020603050405020304" pitchFamily="18" charset="0"/>
              </a:rPr>
              <a:t> are other websites sending traffic to you. These could be as a result of your banner ad’s or campaigns. These could be all those blogs or affiliates who link to you.</a:t>
            </a:r>
          </a:p>
          <a:p>
            <a:endParaRPr lang="en-IE" altLang="en-US">
              <a:latin typeface="Times" panose="02020603050405020304" pitchFamily="18" charset="0"/>
            </a:endParaRPr>
          </a:p>
          <a:p>
            <a:r>
              <a:rPr lang="en-IE" altLang="en-US" b="1">
                <a:latin typeface="Times" panose="02020603050405020304" pitchFamily="18" charset="0"/>
              </a:rPr>
              <a:t>Search engines</a:t>
            </a:r>
            <a:r>
              <a:rPr lang="en-IE" altLang="en-US">
                <a:latin typeface="Times" panose="02020603050405020304" pitchFamily="18" charset="0"/>
              </a:rPr>
              <a:t>, well that’s you know who. Google, Yahoo, MSN, Ask, others. This bucket will include both your Organic as well as you Paid (PPC ) traffic, so be aware of that.</a:t>
            </a:r>
          </a:p>
          <a:p>
            <a:r>
              <a:rPr lang="en-IE" altLang="en-US">
                <a:latin typeface="Times" panose="02020603050405020304" pitchFamily="18" charset="0"/>
              </a:rPr>
              <a:t>Finally there is </a:t>
            </a:r>
            <a:r>
              <a:rPr lang="en-IE" altLang="en-US" b="1">
                <a:latin typeface="Times" panose="02020603050405020304" pitchFamily="18" charset="0"/>
              </a:rPr>
              <a:t>Other</a:t>
            </a:r>
            <a:r>
              <a:rPr lang="en-IE" altLang="en-US">
                <a:latin typeface="Times" panose="02020603050405020304" pitchFamily="18" charset="0"/>
              </a:rPr>
              <a:t>. These include campaigns you have run (and then have configured your tool correctly). Email, direct marketing, etc.</a:t>
            </a:r>
          </a:p>
          <a:p>
            <a:endParaRPr lang="en-IE" altLang="en-US">
              <a:latin typeface="Times" panose="02020603050405020304" pitchFamily="18"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C37A0AF1-BEE5-4E8E-9F2A-4063702342F1}" type="slidenum">
              <a:rPr lang="en-GB" altLang="en-US"/>
              <a:pPr>
                <a:spcBef>
                  <a:spcPct val="0"/>
                </a:spcBef>
              </a:pPr>
              <a:t>6</a:t>
            </a:fld>
            <a:endParaRPr lang="en-GB" altLang="en-US"/>
          </a:p>
        </p:txBody>
      </p:sp>
    </p:spTree>
    <p:extLst>
      <p:ext uri="{BB962C8B-B14F-4D97-AF65-F5344CB8AC3E}">
        <p14:creationId xmlns:p14="http://schemas.microsoft.com/office/powerpoint/2010/main" val="2403145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a:bodyPr>
          <a:lstStyle/>
          <a:p>
            <a:pPr>
              <a:defRPr/>
            </a:pPr>
            <a:r>
              <a:rPr lang="en-IE" dirty="0"/>
              <a:t>We’ll do two things here, we’ll look at a report in your web analytics tool that shows the Bounce Rate for the Top Entry Pages.</a:t>
            </a:r>
          </a:p>
          <a:p>
            <a:pPr>
              <a:defRPr/>
            </a:pPr>
            <a:r>
              <a:rPr lang="en-IE" b="1" dirty="0"/>
              <a:t>What is it?</a:t>
            </a:r>
            <a:endParaRPr lang="en-IE" dirty="0"/>
          </a:p>
          <a:p>
            <a:pPr>
              <a:defRPr/>
            </a:pPr>
            <a:r>
              <a:rPr lang="en-IE" dirty="0"/>
              <a:t>As you perhaps already realize you have lost control of what the home page of your website is. Search engines decide what the home page of your website is. People search for you (or click through from a link on another site) and go directly deep into your site.</a:t>
            </a:r>
          </a:p>
          <a:p>
            <a:pPr>
              <a:defRPr/>
            </a:pPr>
            <a:r>
              <a:rPr lang="en-IE" dirty="0"/>
              <a:t>The top entry pages report, first one up there, shows you how many people are entering on each page of your website, and hence they show the top “home pages” of your website. Super!</a:t>
            </a:r>
          </a:p>
          <a:p>
            <a:pPr>
              <a:defRPr/>
            </a:pPr>
            <a:r>
              <a:rPr lang="en-IE" dirty="0"/>
              <a:t>By adding the bounce rate (in case you don’t know what it is please read: </a:t>
            </a:r>
            <a:r>
              <a:rPr lang="en-IE" dirty="0">
                <a:hlinkClick r:id="rId3"/>
              </a:rPr>
              <a:t>Standard Metrics Revisited: Bounce Rate</a:t>
            </a:r>
            <a:r>
              <a:rPr lang="en-IE" dirty="0"/>
              <a:t>) you have a indicator of how engaging :) each of your “home pages” are.</a:t>
            </a:r>
          </a:p>
          <a:p>
            <a:pPr>
              <a:defRPr/>
            </a:pPr>
            <a:r>
              <a:rPr lang="en-IE" dirty="0"/>
              <a:t>Ditto for the keyword report. Search is where all the traffic is, for now. </a:t>
            </a:r>
          </a:p>
          <a:p>
            <a:pPr>
              <a:defRPr/>
            </a:pPr>
            <a:r>
              <a:rPr lang="en-IE" b="1" dirty="0"/>
              <a:t>What is it telling you?</a:t>
            </a:r>
            <a:endParaRPr lang="en-IE" dirty="0"/>
          </a:p>
          <a:p>
            <a:pPr>
              <a:defRPr/>
            </a:pPr>
            <a:r>
              <a:rPr lang="en-IE" dirty="0"/>
              <a:t>Simple: </a:t>
            </a:r>
            <a:r>
              <a:rPr lang="en-IE" dirty="0" err="1"/>
              <a:t>Stinkiness</a:t>
            </a:r>
            <a:r>
              <a:rPr lang="en-IE" dirty="0"/>
              <a:t>. Your site’s.</a:t>
            </a:r>
          </a:p>
          <a:p>
            <a:pPr>
              <a:defRPr/>
            </a:pPr>
            <a:r>
              <a:rPr lang="en-IE" dirty="0"/>
              <a:t>You are looking, first, for pages with the highest bounce rate. Remember bounce rate measures this from a costumer’s perspective: </a:t>
            </a:r>
            <a:r>
              <a:rPr lang="en-IE" i="1" dirty="0"/>
              <a:t>I came, I did not like it! I left</a:t>
            </a:r>
            <a:r>
              <a:rPr lang="en-IE" dirty="0"/>
              <a:t> . Or technically speaking: single page view sessions.</a:t>
            </a:r>
          </a:p>
          <a:p>
            <a:pPr>
              <a:defRPr/>
            </a:pPr>
            <a:r>
              <a:rPr lang="en-IE" dirty="0"/>
              <a:t>Pages with a high bounce rate are not delivering on the promise that is driving customers to your site. The ones in the top ten Entry Pages report need your attention.</a:t>
            </a:r>
          </a:p>
          <a:p>
            <a:pPr>
              <a:defRPr/>
            </a:pPr>
            <a:endParaRPr lang="en-IE" dirty="0"/>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911CDA63-AFEF-43C4-B2E9-60C2119F27A3}" type="slidenum">
              <a:rPr lang="en-GB" altLang="en-US"/>
              <a:pPr>
                <a:spcBef>
                  <a:spcPct val="0"/>
                </a:spcBef>
              </a:pPr>
              <a:t>7</a:t>
            </a:fld>
            <a:endParaRPr lang="en-GB" altLang="en-US"/>
          </a:p>
        </p:txBody>
      </p:sp>
    </p:spTree>
    <p:extLst>
      <p:ext uri="{BB962C8B-B14F-4D97-AF65-F5344CB8AC3E}">
        <p14:creationId xmlns:p14="http://schemas.microsoft.com/office/powerpoint/2010/main" val="1556856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a:bodyPr>
          <a:lstStyle/>
          <a:p>
            <a:pPr>
              <a:defRPr/>
            </a:pPr>
            <a:r>
              <a:rPr lang="en-IE" dirty="0"/>
              <a:t>We’ll do two things here, we’ll look at a report in your web analytics tool that shows the Bounce Rate for the Top Entry Pages.</a:t>
            </a:r>
          </a:p>
          <a:p>
            <a:pPr>
              <a:defRPr/>
            </a:pPr>
            <a:r>
              <a:rPr lang="en-IE" b="1" dirty="0"/>
              <a:t>What is it?</a:t>
            </a:r>
            <a:endParaRPr lang="en-IE" dirty="0"/>
          </a:p>
          <a:p>
            <a:pPr>
              <a:defRPr/>
            </a:pPr>
            <a:r>
              <a:rPr lang="en-IE" dirty="0"/>
              <a:t>As you perhaps already realize you have lost control of what the home page of your website is. Search engines decide what the home page of your website is. People search for you (or click through from a link on another site) and go directly deep into your site.</a:t>
            </a:r>
          </a:p>
          <a:p>
            <a:pPr>
              <a:defRPr/>
            </a:pPr>
            <a:r>
              <a:rPr lang="en-IE" dirty="0"/>
              <a:t>The top entry pages report, first one up there, shows you how many people are entering on each page of your website, and hence they show the top “home pages” of your website. Super!</a:t>
            </a:r>
          </a:p>
          <a:p>
            <a:pPr>
              <a:defRPr/>
            </a:pPr>
            <a:r>
              <a:rPr lang="en-IE" dirty="0"/>
              <a:t>By adding the bounce rate (in case you don’t know what it is please read: </a:t>
            </a:r>
            <a:r>
              <a:rPr lang="en-IE" dirty="0">
                <a:hlinkClick r:id="rId3"/>
              </a:rPr>
              <a:t>Standard Metrics Revisited: Bounce Rate</a:t>
            </a:r>
            <a:r>
              <a:rPr lang="en-IE" dirty="0"/>
              <a:t>) you have a indicator of how engaging :) each of your “home pages” are.</a:t>
            </a:r>
          </a:p>
          <a:p>
            <a:pPr>
              <a:defRPr/>
            </a:pPr>
            <a:r>
              <a:rPr lang="en-IE" dirty="0"/>
              <a:t>Ditto for the keyword report. Search is where all the traffic is, for now. </a:t>
            </a:r>
          </a:p>
          <a:p>
            <a:pPr>
              <a:defRPr/>
            </a:pPr>
            <a:r>
              <a:rPr lang="en-IE" b="1" dirty="0"/>
              <a:t>What is it telling you?</a:t>
            </a:r>
            <a:endParaRPr lang="en-IE" dirty="0"/>
          </a:p>
          <a:p>
            <a:pPr>
              <a:defRPr/>
            </a:pPr>
            <a:r>
              <a:rPr lang="en-IE" dirty="0"/>
              <a:t>Simple: </a:t>
            </a:r>
            <a:r>
              <a:rPr lang="en-IE" dirty="0" err="1"/>
              <a:t>Stinkiness</a:t>
            </a:r>
            <a:r>
              <a:rPr lang="en-IE" dirty="0"/>
              <a:t>. Your site’s.</a:t>
            </a:r>
          </a:p>
          <a:p>
            <a:pPr>
              <a:defRPr/>
            </a:pPr>
            <a:r>
              <a:rPr lang="en-IE" dirty="0"/>
              <a:t>You are looking, first, for pages with the highest bounce rate. Remember bounce rate measures this from a costumer’s perspective: </a:t>
            </a:r>
            <a:r>
              <a:rPr lang="en-IE" i="1" dirty="0"/>
              <a:t>I came, I did not like it! I left</a:t>
            </a:r>
            <a:r>
              <a:rPr lang="en-IE" dirty="0"/>
              <a:t> . Or technically speaking: single page view sessions.</a:t>
            </a:r>
          </a:p>
          <a:p>
            <a:pPr>
              <a:defRPr/>
            </a:pPr>
            <a:r>
              <a:rPr lang="en-IE" dirty="0"/>
              <a:t>Pages with a high bounce rate are not delivering on the promise that is driving customers to your site. The ones in the top ten Entry Pages report need your attention.</a:t>
            </a:r>
          </a:p>
          <a:p>
            <a:pPr>
              <a:defRPr/>
            </a:pPr>
            <a:endParaRPr lang="en-IE" dirty="0"/>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1E11DDF0-F7DD-494C-8938-B4E3CC4BCE02}" type="slidenum">
              <a:rPr lang="en-GB" altLang="en-US"/>
              <a:pPr>
                <a:spcBef>
                  <a:spcPct val="0"/>
                </a:spcBef>
              </a:pPr>
              <a:t>8</a:t>
            </a:fld>
            <a:endParaRPr lang="en-GB" altLang="en-US"/>
          </a:p>
        </p:txBody>
      </p:sp>
    </p:spTree>
    <p:extLst>
      <p:ext uri="{BB962C8B-B14F-4D97-AF65-F5344CB8AC3E}">
        <p14:creationId xmlns:p14="http://schemas.microsoft.com/office/powerpoint/2010/main" val="2090240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tLang="en-US" b="1">
                <a:latin typeface="Times" panose="02020603050405020304" pitchFamily="18" charset="0"/>
              </a:rPr>
              <a:t>What is it?</a:t>
            </a:r>
            <a:endParaRPr lang="en-IE" altLang="en-US">
              <a:latin typeface="Times" panose="02020603050405020304" pitchFamily="18" charset="0"/>
            </a:endParaRPr>
          </a:p>
          <a:p>
            <a:r>
              <a:rPr lang="en-IE" altLang="en-US">
                <a:latin typeface="Times" panose="02020603050405020304" pitchFamily="18" charset="0"/>
              </a:rPr>
              <a:t>e.g., for a  blog it is the number of people who visit the speaking engagements page, and go attend one of the engagements.</a:t>
            </a:r>
          </a:p>
          <a:p>
            <a:r>
              <a:rPr lang="en-IE" altLang="en-US">
                <a:latin typeface="Times" panose="02020603050405020304" pitchFamily="18" charset="0"/>
              </a:rPr>
              <a:t>For a non-profit it is also looking at number of people using the core search functionality (to look for stuff like jobs).</a:t>
            </a:r>
          </a:p>
          <a:p>
            <a:endParaRPr lang="en-IE" altLang="en-US">
              <a:latin typeface="Times" panose="02020603050405020304" pitchFamily="18" charset="0"/>
            </a:endParaRPr>
          </a:p>
          <a:p>
            <a:r>
              <a:rPr lang="en-IE" altLang="en-US">
                <a:latin typeface="Times" panose="02020603050405020304" pitchFamily="18" charset="0"/>
              </a:rPr>
              <a:t>For a ecommerce website it is the bottomline numbers. Revenue, conversions, average order value, products sold etc etc.</a:t>
            </a:r>
          </a:p>
          <a:p>
            <a:r>
              <a:rPr lang="en-IE" altLang="en-US" b="1">
                <a:latin typeface="Times" panose="02020603050405020304" pitchFamily="18" charset="0"/>
              </a:rPr>
              <a:t>What is it telling you?</a:t>
            </a:r>
            <a:endParaRPr lang="en-IE" altLang="en-US">
              <a:latin typeface="Times" panose="02020603050405020304" pitchFamily="18" charset="0"/>
            </a:endParaRPr>
          </a:p>
          <a:p>
            <a:r>
              <a:rPr lang="en-IE" altLang="en-US">
                <a:latin typeface="Times" panose="02020603050405020304" pitchFamily="18" charset="0"/>
              </a:rPr>
              <a:t>Visitors are coming to the website, but is it having any impact on you.</a:t>
            </a:r>
          </a:p>
          <a:p>
            <a:r>
              <a:rPr lang="en-IE" altLang="en-US">
                <a:latin typeface="Times" panose="02020603050405020304" pitchFamily="18" charset="0"/>
              </a:rPr>
              <a:t>If there is a impact on your bottom line. Are you converting enough? Not as much?</a:t>
            </a:r>
          </a:p>
          <a:p>
            <a:r>
              <a:rPr lang="en-IE" altLang="en-US">
                <a:latin typeface="Times" panose="02020603050405020304" pitchFamily="18" charset="0"/>
              </a:rPr>
              <a:t>What’s selling and what is not? Why is it selling? How much of it?</a:t>
            </a:r>
          </a:p>
          <a:p>
            <a:r>
              <a:rPr lang="en-IE" altLang="en-US">
                <a:latin typeface="Times" panose="02020603050405020304" pitchFamily="18" charset="0"/>
              </a:rPr>
              <a:t>All web analytics tools have a capability to help you understand outcomes. </a:t>
            </a:r>
            <a:r>
              <a:rPr lang="en-IE" altLang="en-US">
                <a:latin typeface="Times" panose="02020603050405020304" pitchFamily="18" charset="0"/>
                <a:hlinkClick r:id="rId3"/>
              </a:rPr>
              <a:t>Omniture</a:t>
            </a:r>
            <a:r>
              <a:rPr lang="en-IE" altLang="en-US">
                <a:latin typeface="Times" panose="02020603050405020304" pitchFamily="18" charset="0"/>
              </a:rPr>
              <a:t>, </a:t>
            </a:r>
            <a:r>
              <a:rPr lang="en-IE" altLang="en-US">
                <a:latin typeface="Times" panose="02020603050405020304" pitchFamily="18" charset="0"/>
                <a:hlinkClick r:id="rId4"/>
              </a:rPr>
              <a:t>WebTrends</a:t>
            </a:r>
            <a:r>
              <a:rPr lang="en-IE" altLang="en-US">
                <a:latin typeface="Times" panose="02020603050405020304" pitchFamily="18" charset="0"/>
              </a:rPr>
              <a:t>, </a:t>
            </a:r>
            <a:r>
              <a:rPr lang="en-IE" altLang="en-US">
                <a:latin typeface="Times" panose="02020603050405020304" pitchFamily="18" charset="0"/>
                <a:hlinkClick r:id="rId5"/>
              </a:rPr>
              <a:t>CoreMetrics</a:t>
            </a:r>
            <a:r>
              <a:rPr lang="en-IE" altLang="en-US">
                <a:latin typeface="Times" panose="02020603050405020304" pitchFamily="18" charset="0"/>
              </a:rPr>
              <a:t>, </a:t>
            </a:r>
            <a:r>
              <a:rPr lang="en-IE" altLang="en-US">
                <a:latin typeface="Times" panose="02020603050405020304" pitchFamily="18" charset="0"/>
                <a:hlinkClick r:id="rId6"/>
              </a:rPr>
              <a:t>VisualSciences</a:t>
            </a:r>
            <a:r>
              <a:rPr lang="en-IE" altLang="en-US">
                <a:latin typeface="Times" panose="02020603050405020304" pitchFamily="18" charset="0"/>
              </a:rPr>
              <a:t>, </a:t>
            </a:r>
            <a:r>
              <a:rPr lang="en-IE" altLang="en-US">
                <a:latin typeface="Times" panose="02020603050405020304" pitchFamily="18" charset="0"/>
                <a:hlinkClick r:id="rId7"/>
              </a:rPr>
              <a:t>Google Analytics</a:t>
            </a:r>
            <a:r>
              <a:rPr lang="en-IE" altLang="en-US">
                <a:latin typeface="Times" panose="02020603050405020304" pitchFamily="18" charset="0"/>
              </a:rPr>
              <a:t> or whatever else you have. Get the above stuff.</a:t>
            </a:r>
          </a:p>
          <a:p>
            <a:endParaRPr lang="en-IE" altLang="en-US">
              <a:latin typeface="Times" panose="02020603050405020304" pitchFamily="18"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51A6E725-C67F-4BD1-88ED-6894B58C3EA7}" type="slidenum">
              <a:rPr lang="en-GB" altLang="en-US"/>
              <a:pPr>
                <a:spcBef>
                  <a:spcPct val="0"/>
                </a:spcBef>
              </a:pPr>
              <a:t>9</a:t>
            </a:fld>
            <a:endParaRPr lang="en-GB" altLang="en-US"/>
          </a:p>
        </p:txBody>
      </p:sp>
    </p:spTree>
    <p:extLst>
      <p:ext uri="{BB962C8B-B14F-4D97-AF65-F5344CB8AC3E}">
        <p14:creationId xmlns:p14="http://schemas.microsoft.com/office/powerpoint/2010/main" val="3808365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BB785823-9A2A-4F4E-8738-02D8E4769464}" type="slidenum">
              <a:rPr lang="en-GB" altLang="en-US"/>
              <a:pPr>
                <a:spcBef>
                  <a:spcPct val="0"/>
                </a:spcBef>
              </a:pPr>
              <a:t>10</a:t>
            </a:fld>
            <a:endParaRPr lang="en-GB" alt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952013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2309FAD4-F968-40B3-AC5B-1E6761AB6982}" type="slidenum">
              <a:rPr lang="en-GB" altLang="en-US"/>
              <a:pPr>
                <a:spcBef>
                  <a:spcPct val="0"/>
                </a:spcBef>
              </a:pPr>
              <a:t>11</a:t>
            </a:fld>
            <a:endParaRPr lang="en-GB" alt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393038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5CAE4FA1-8A79-486D-B097-B374AAD586EE}" type="slidenum">
              <a:rPr lang="en-GB" altLang="en-US"/>
              <a:pPr>
                <a:spcBef>
                  <a:spcPct val="0"/>
                </a:spcBef>
              </a:pPr>
              <a:t>12</a:t>
            </a:fld>
            <a:endParaRPr lang="en-GB" alt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071203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7E8ABB05-5899-482B-ADBD-0D907C489D9C}" type="slidenum">
              <a:rPr lang="en-GB" altLang="en-US"/>
              <a:pPr>
                <a:spcBef>
                  <a:spcPct val="0"/>
                </a:spcBef>
              </a:pPr>
              <a:t>13</a:t>
            </a:fld>
            <a:endParaRPr lang="en-GB" alt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650717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E7165C5B-6CFD-4F06-9563-13C19F56627C}" type="slidenum">
              <a:rPr lang="en-GB" altLang="en-US"/>
              <a:pPr>
                <a:spcBef>
                  <a:spcPct val="0"/>
                </a:spcBef>
              </a:pPr>
              <a:t>14</a:t>
            </a:fld>
            <a:endParaRPr lang="en-GB" alt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228171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338B6F9B-E788-49B6-A604-B944A038FE90}" type="slidenum">
              <a:rPr lang="en-GB" altLang="en-US"/>
              <a:pPr>
                <a:spcBef>
                  <a:spcPct val="0"/>
                </a:spcBef>
              </a:pPr>
              <a:t>15</a:t>
            </a:fld>
            <a:endParaRPr lang="en-GB" alt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066898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8139614D-B612-40FE-B022-682866A04037}" type="slidenum">
              <a:rPr lang="en-GB" altLang="en-US"/>
              <a:pPr>
                <a:spcBef>
                  <a:spcPct val="0"/>
                </a:spcBef>
              </a:pPr>
              <a:t>16</a:t>
            </a:fld>
            <a:endParaRPr lang="en-GB" alt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592773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9B4B1D17-A6FD-43B3-9CA2-B8B9BDFBDE06}" type="slidenum">
              <a:rPr lang="en-GB" altLang="en-US"/>
              <a:pPr>
                <a:spcBef>
                  <a:spcPct val="0"/>
                </a:spcBef>
              </a:pPr>
              <a:t>17</a:t>
            </a:fld>
            <a:endParaRPr lang="en-GB"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697597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414C6E42-D006-4372-BB99-57E73A192576}" type="slidenum">
              <a:rPr lang="en-GB" altLang="en-US"/>
              <a:pPr>
                <a:spcBef>
                  <a:spcPct val="0"/>
                </a:spcBef>
              </a:pPr>
              <a:t>19</a:t>
            </a:fld>
            <a:endParaRPr lang="en-GB"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830681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30A065B6-BFCB-41E2-904C-7D7658FA3425}" type="slidenum">
              <a:rPr lang="en-GB" altLang="en-US"/>
              <a:pPr>
                <a:spcBef>
                  <a:spcPct val="0"/>
                </a:spcBef>
              </a:pPr>
              <a:t>26</a:t>
            </a:fld>
            <a:endParaRPr lang="en-GB" alt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235122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u="none" strike="noStrike" kern="1200" dirty="0">
                <a:solidFill>
                  <a:schemeClr val="tx1"/>
                </a:solidFill>
                <a:effectLst/>
                <a:latin typeface="Times" charset="0"/>
                <a:ea typeface="+mn-ea"/>
                <a:cs typeface="+mn-cs"/>
              </a:rPr>
              <a:t> </a:t>
            </a:r>
            <a:r>
              <a:rPr lang="en-IE" sz="1200" b="0" i="0" u="none" strike="noStrike" kern="1200" dirty="0" err="1">
                <a:solidFill>
                  <a:schemeClr val="tx1"/>
                </a:solidFill>
                <a:effectLst/>
                <a:latin typeface="Times" charset="0"/>
                <a:ea typeface="+mn-ea"/>
                <a:cs typeface="+mn-cs"/>
              </a:rPr>
              <a:t>Avanish</a:t>
            </a:r>
            <a:r>
              <a:rPr lang="en-IE" sz="1200" b="0" i="0" u="none" strike="noStrike" kern="1200" baseline="0" dirty="0">
                <a:solidFill>
                  <a:schemeClr val="tx1"/>
                </a:solidFill>
                <a:effectLst/>
                <a:latin typeface="Times" charset="0"/>
                <a:ea typeface="+mn-ea"/>
                <a:cs typeface="+mn-cs"/>
              </a:rPr>
              <a:t> …”</a:t>
            </a:r>
            <a:r>
              <a:rPr lang="en-IE" sz="1200" b="0" i="0" u="none" strike="noStrike" kern="1200" dirty="0">
                <a:solidFill>
                  <a:schemeClr val="tx1"/>
                </a:solidFill>
                <a:effectLst/>
                <a:latin typeface="Times" charset="0"/>
                <a:ea typeface="+mn-ea"/>
                <a:cs typeface="+mn-cs"/>
              </a:rPr>
              <a:t>I was speaking with a massive national insurance company recently. To implement a couple of my ideas they shared that it would take them seven months to update the code on their website. Obviously this is a multi-billion dollar corporation, some rigidity and layers are to be expected. But., Seven months! I was not even asking for something crazy like moving from old lamer tags to a full featured Universal Analytics implementation. They already have bits of the latter, I'd recommended a couple simple upgrades.</a:t>
            </a:r>
          </a:p>
          <a:p>
            <a:r>
              <a:rPr lang="en-IE" sz="1200" b="0" i="0" u="none" strike="noStrike" kern="1200" dirty="0">
                <a:solidFill>
                  <a:schemeClr val="tx1"/>
                </a:solidFill>
                <a:effectLst/>
                <a:latin typeface="Times" charset="0"/>
                <a:ea typeface="+mn-ea"/>
                <a:cs typeface="+mn-cs"/>
              </a:rPr>
              <a:t>No matter how good your idea, if you can't get it implemented quickly, it is dead on arrival. Yes, you can blame the IT team and their long queue of things and prioritization process. DOA.”</a:t>
            </a:r>
          </a:p>
          <a:p>
            <a:endParaRPr lang="en-IE" dirty="0"/>
          </a:p>
        </p:txBody>
      </p:sp>
      <p:sp>
        <p:nvSpPr>
          <p:cNvPr id="4" name="Slide Number Placeholder 3"/>
          <p:cNvSpPr>
            <a:spLocks noGrp="1"/>
          </p:cNvSpPr>
          <p:nvPr>
            <p:ph type="sldNum" sz="quarter" idx="10"/>
          </p:nvPr>
        </p:nvSpPr>
        <p:spPr/>
        <p:txBody>
          <a:bodyPr/>
          <a:lstStyle/>
          <a:p>
            <a:pPr>
              <a:defRPr/>
            </a:pPr>
            <a:fld id="{6616F148-05FE-4908-B818-5F5E68D7B330}" type="slidenum">
              <a:rPr lang="en-GB" altLang="en-US" smtClean="0"/>
              <a:pPr>
                <a:defRPr/>
              </a:pPr>
              <a:t>28</a:t>
            </a:fld>
            <a:endParaRPr lang="en-GB" altLang="en-US"/>
          </a:p>
        </p:txBody>
      </p:sp>
    </p:spTree>
    <p:extLst>
      <p:ext uri="{BB962C8B-B14F-4D97-AF65-F5344CB8AC3E}">
        <p14:creationId xmlns:p14="http://schemas.microsoft.com/office/powerpoint/2010/main" val="832406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kern="1200" dirty="0">
                <a:solidFill>
                  <a:schemeClr val="tx1"/>
                </a:solidFill>
                <a:effectLst/>
                <a:latin typeface="Times" charset="0"/>
                <a:ea typeface="+mn-ea"/>
                <a:cs typeface="+mn-cs"/>
              </a:rPr>
              <a:t>know the strategic priorities of the business</a:t>
            </a:r>
          </a:p>
          <a:p>
            <a:r>
              <a:rPr lang="en-IE" sz="1200" b="0" i="0" u="none" strike="noStrike" kern="1200" dirty="0">
                <a:solidFill>
                  <a:schemeClr val="tx1"/>
                </a:solidFill>
                <a:effectLst/>
                <a:latin typeface="Times" charset="0"/>
                <a:ea typeface="+mn-ea"/>
                <a:cs typeface="+mn-cs"/>
              </a:rPr>
              <a:t>Q1</a:t>
            </a:r>
            <a:r>
              <a:rPr lang="en-IE" sz="1200" b="1" i="0" u="none" strike="noStrike" kern="1200" dirty="0">
                <a:solidFill>
                  <a:schemeClr val="tx1"/>
                </a:solidFill>
                <a:effectLst/>
                <a:latin typeface="Times" charset="0"/>
                <a:ea typeface="+mn-ea"/>
                <a:cs typeface="+mn-cs"/>
              </a:rPr>
              <a:t>.</a:t>
            </a:r>
            <a:r>
              <a:rPr lang="en-IE" sz="1200" b="0" i="0" u="none" strike="noStrike" kern="1200" dirty="0">
                <a:solidFill>
                  <a:schemeClr val="tx1"/>
                </a:solidFill>
                <a:effectLst/>
                <a:latin typeface="Times" charset="0"/>
                <a:ea typeface="+mn-ea"/>
                <a:cs typeface="+mn-cs"/>
              </a:rPr>
              <a:t> Why does your digital presence exist? [You plus the most senior </a:t>
            </a:r>
            <a:r>
              <a:rPr lang="en-IE" sz="1200" b="0" i="0" u="none" strike="noStrike" kern="1200" dirty="0" err="1">
                <a:solidFill>
                  <a:schemeClr val="tx1"/>
                </a:solidFill>
                <a:effectLst/>
                <a:latin typeface="Times" charset="0"/>
                <a:ea typeface="+mn-ea"/>
                <a:cs typeface="+mn-cs"/>
              </a:rPr>
              <a:t>CxO</a:t>
            </a:r>
            <a:r>
              <a:rPr lang="en-IE" sz="1200" b="0" i="0" u="none" strike="noStrike" kern="1200" dirty="0">
                <a:solidFill>
                  <a:schemeClr val="tx1"/>
                </a:solidFill>
                <a:effectLst/>
                <a:latin typeface="Times" charset="0"/>
                <a:ea typeface="+mn-ea"/>
                <a:cs typeface="+mn-cs"/>
              </a:rPr>
              <a:t> who will talk to you.]</a:t>
            </a:r>
          </a:p>
          <a:p>
            <a:r>
              <a:rPr lang="en-IE" sz="1200" b="0" i="0" u="none" strike="noStrike" kern="1200" dirty="0">
                <a:solidFill>
                  <a:schemeClr val="tx1"/>
                </a:solidFill>
                <a:effectLst/>
                <a:latin typeface="Times" charset="0"/>
                <a:ea typeface="+mn-ea"/>
                <a:cs typeface="+mn-cs"/>
              </a:rPr>
              <a:t>Q2</a:t>
            </a:r>
            <a:r>
              <a:rPr lang="en-IE" sz="1200" b="1" i="0" u="none" strike="noStrike" kern="1200" dirty="0">
                <a:solidFill>
                  <a:schemeClr val="tx1"/>
                </a:solidFill>
                <a:effectLst/>
                <a:latin typeface="Times" charset="0"/>
                <a:ea typeface="+mn-ea"/>
                <a:cs typeface="+mn-cs"/>
              </a:rPr>
              <a:t>.</a:t>
            </a:r>
            <a:r>
              <a:rPr lang="en-IE" sz="1200" b="0" i="0" u="none" strike="noStrike" kern="1200" dirty="0">
                <a:solidFill>
                  <a:schemeClr val="tx1"/>
                </a:solidFill>
                <a:effectLst/>
                <a:latin typeface="Times" charset="0"/>
                <a:ea typeface="+mn-ea"/>
                <a:cs typeface="+mn-cs"/>
              </a:rPr>
              <a:t> What specific strategies are you currently leveraging to accomplish aforementioned objectives? [For most of us, you plus the CMO/equivalent.]</a:t>
            </a:r>
          </a:p>
          <a:p>
            <a:r>
              <a:rPr lang="en-IE" sz="1200" b="0" i="0" u="none" strike="noStrike" kern="1200" dirty="0">
                <a:solidFill>
                  <a:schemeClr val="tx1"/>
                </a:solidFill>
                <a:effectLst/>
                <a:latin typeface="Times" charset="0"/>
                <a:ea typeface="+mn-ea"/>
                <a:cs typeface="+mn-cs"/>
              </a:rPr>
              <a:t>Q3</a:t>
            </a:r>
            <a:r>
              <a:rPr lang="en-IE" sz="1200" b="1" i="0" u="none" strike="noStrike" kern="1200" dirty="0">
                <a:solidFill>
                  <a:schemeClr val="tx1"/>
                </a:solidFill>
                <a:effectLst/>
                <a:latin typeface="Times" charset="0"/>
                <a:ea typeface="+mn-ea"/>
                <a:cs typeface="+mn-cs"/>
              </a:rPr>
              <a:t>.</a:t>
            </a:r>
            <a:r>
              <a:rPr lang="en-IE" sz="1200" b="0" i="0" u="none" strike="noStrike" kern="1200" dirty="0">
                <a:solidFill>
                  <a:schemeClr val="tx1"/>
                </a:solidFill>
                <a:effectLst/>
                <a:latin typeface="Times" charset="0"/>
                <a:ea typeface="+mn-ea"/>
                <a:cs typeface="+mn-cs"/>
              </a:rPr>
              <a:t> What one critical metric will help you clearly measure performance for each strategy above? [You.]</a:t>
            </a:r>
          </a:p>
          <a:p>
            <a:r>
              <a:rPr lang="en-IE" sz="1200" b="0" i="0" u="none" strike="noStrike" kern="1200" dirty="0">
                <a:solidFill>
                  <a:schemeClr val="tx1"/>
                </a:solidFill>
                <a:effectLst/>
                <a:latin typeface="Times" charset="0"/>
                <a:ea typeface="+mn-ea"/>
                <a:cs typeface="+mn-cs"/>
              </a:rPr>
              <a:t>Q4</a:t>
            </a:r>
            <a:r>
              <a:rPr lang="en-IE" sz="1200" b="1" i="0" u="none" strike="noStrike" kern="1200" dirty="0">
                <a:solidFill>
                  <a:schemeClr val="tx1"/>
                </a:solidFill>
                <a:effectLst/>
                <a:latin typeface="Times" charset="0"/>
                <a:ea typeface="+mn-ea"/>
                <a:cs typeface="+mn-cs"/>
              </a:rPr>
              <a:t>.</a:t>
            </a:r>
            <a:r>
              <a:rPr lang="en-IE" sz="1200" b="0" i="0" u="none" strike="noStrike" kern="1200" dirty="0">
                <a:solidFill>
                  <a:schemeClr val="tx1"/>
                </a:solidFill>
                <a:effectLst/>
                <a:latin typeface="Times" charset="0"/>
                <a:ea typeface="+mn-ea"/>
                <a:cs typeface="+mn-cs"/>
              </a:rPr>
              <a:t> How will you know if the performance was a success or failure, what's the target for each critical metric? [You plus Finance plus CMO.]</a:t>
            </a:r>
          </a:p>
          <a:p>
            <a:r>
              <a:rPr lang="en-IE" sz="1200" b="0" i="0" u="none" strike="noStrike" kern="1200" dirty="0">
                <a:solidFill>
                  <a:schemeClr val="tx1"/>
                </a:solidFill>
                <a:effectLst/>
                <a:latin typeface="Times" charset="0"/>
                <a:ea typeface="+mn-ea"/>
                <a:cs typeface="+mn-cs"/>
              </a:rPr>
              <a:t>Q5</a:t>
            </a:r>
            <a:r>
              <a:rPr lang="en-IE" sz="1200" b="1" i="0" u="none" strike="noStrike" kern="1200" dirty="0">
                <a:solidFill>
                  <a:schemeClr val="tx1"/>
                </a:solidFill>
                <a:effectLst/>
                <a:latin typeface="Times" charset="0"/>
                <a:ea typeface="+mn-ea"/>
                <a:cs typeface="+mn-cs"/>
              </a:rPr>
              <a:t>.</a:t>
            </a:r>
            <a:r>
              <a:rPr lang="en-IE" sz="1200" b="0" i="0" u="none" strike="noStrike" kern="1200" dirty="0">
                <a:solidFill>
                  <a:schemeClr val="tx1"/>
                </a:solidFill>
                <a:effectLst/>
                <a:latin typeface="Times" charset="0"/>
                <a:ea typeface="+mn-ea"/>
                <a:cs typeface="+mn-cs"/>
              </a:rPr>
              <a:t> What group of people, their sources, digital </a:t>
            </a:r>
            <a:r>
              <a:rPr lang="en-IE" sz="1200" b="0" i="0" u="none" strike="noStrike" kern="1200" dirty="0" err="1">
                <a:solidFill>
                  <a:schemeClr val="tx1"/>
                </a:solidFill>
                <a:effectLst/>
                <a:latin typeface="Times" charset="0"/>
                <a:ea typeface="+mn-ea"/>
                <a:cs typeface="+mn-cs"/>
              </a:rPr>
              <a:t>behavior</a:t>
            </a:r>
            <a:r>
              <a:rPr lang="en-IE" sz="1200" b="0" i="0" u="none" strike="noStrike" kern="1200" dirty="0">
                <a:solidFill>
                  <a:schemeClr val="tx1"/>
                </a:solidFill>
                <a:effectLst/>
                <a:latin typeface="Times" charset="0"/>
                <a:ea typeface="+mn-ea"/>
                <a:cs typeface="+mn-cs"/>
              </a:rPr>
              <a:t>, and outcomes are most important for business success? [You plus Marketing Team.]</a:t>
            </a:r>
          </a:p>
          <a:p>
            <a:endParaRPr lang="en-IE" dirty="0"/>
          </a:p>
        </p:txBody>
      </p:sp>
      <p:sp>
        <p:nvSpPr>
          <p:cNvPr id="4" name="Slide Number Placeholder 3"/>
          <p:cNvSpPr>
            <a:spLocks noGrp="1"/>
          </p:cNvSpPr>
          <p:nvPr>
            <p:ph type="sldNum" sz="quarter" idx="10"/>
          </p:nvPr>
        </p:nvSpPr>
        <p:spPr/>
        <p:txBody>
          <a:bodyPr/>
          <a:lstStyle/>
          <a:p>
            <a:pPr>
              <a:defRPr/>
            </a:pPr>
            <a:fld id="{6616F148-05FE-4908-B818-5F5E68D7B330}" type="slidenum">
              <a:rPr lang="en-GB" altLang="en-US" smtClean="0"/>
              <a:pPr>
                <a:defRPr/>
              </a:pPr>
              <a:t>29</a:t>
            </a:fld>
            <a:endParaRPr lang="en-GB" altLang="en-US"/>
          </a:p>
        </p:txBody>
      </p:sp>
    </p:spTree>
    <p:extLst>
      <p:ext uri="{BB962C8B-B14F-4D97-AF65-F5344CB8AC3E}">
        <p14:creationId xmlns:p14="http://schemas.microsoft.com/office/powerpoint/2010/main" val="3247086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kern="1200" dirty="0">
                <a:solidFill>
                  <a:schemeClr val="tx1"/>
                </a:solidFill>
                <a:effectLst/>
                <a:latin typeface="Times" charset="0"/>
                <a:ea typeface="+mn-ea"/>
                <a:cs typeface="+mn-cs"/>
              </a:rPr>
              <a:t> Thinking strategically and solving for all clusters of digital intent? Online, offline, mobile, acquisition, brand love, relationships, product pimping, community stewardship and so much more!</a:t>
            </a:r>
            <a:endParaRPr lang="en-IE" dirty="0"/>
          </a:p>
        </p:txBody>
      </p:sp>
      <p:sp>
        <p:nvSpPr>
          <p:cNvPr id="4" name="Slide Number Placeholder 3"/>
          <p:cNvSpPr>
            <a:spLocks noGrp="1"/>
          </p:cNvSpPr>
          <p:nvPr>
            <p:ph type="sldNum" sz="quarter" idx="10"/>
          </p:nvPr>
        </p:nvSpPr>
        <p:spPr/>
        <p:txBody>
          <a:bodyPr/>
          <a:lstStyle/>
          <a:p>
            <a:pPr>
              <a:defRPr/>
            </a:pPr>
            <a:fld id="{6616F148-05FE-4908-B818-5F5E68D7B330}" type="slidenum">
              <a:rPr lang="en-GB" altLang="en-US" smtClean="0"/>
              <a:pPr>
                <a:defRPr/>
              </a:pPr>
              <a:t>30</a:t>
            </a:fld>
            <a:endParaRPr lang="en-GB" altLang="en-US"/>
          </a:p>
        </p:txBody>
      </p:sp>
    </p:spTree>
    <p:extLst>
      <p:ext uri="{BB962C8B-B14F-4D97-AF65-F5344CB8AC3E}">
        <p14:creationId xmlns:p14="http://schemas.microsoft.com/office/powerpoint/2010/main" val="1548801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latin typeface="Times" panose="02020603050405020304" pitchFamily="18" charset="0"/>
              </a:rPr>
              <a:t>For your 116,503 Visitors you know some interesting things: Approximately half came from search engines, only a tiny fraction, 5,288, did what you wanted them to, look at product pages, and, perhaps more </a:t>
            </a:r>
            <a:r>
              <a:rPr lang="en-GB" altLang="en-US" dirty="0" err="1">
                <a:latin typeface="Times" panose="02020603050405020304" pitchFamily="18" charset="0"/>
              </a:rPr>
              <a:t>humblingly</a:t>
            </a:r>
            <a:r>
              <a:rPr lang="en-GB" altLang="en-US" dirty="0">
                <a:latin typeface="Times" panose="02020603050405020304" pitchFamily="18" charset="0"/>
              </a:rPr>
              <a:t>, a tiny </a:t>
            </a:r>
            <a:r>
              <a:rPr lang="en-GB" altLang="en-US" dirty="0" err="1">
                <a:latin typeface="Times" panose="02020603050405020304" pitchFamily="18" charset="0"/>
              </a:rPr>
              <a:t>tiny</a:t>
            </a:r>
            <a:r>
              <a:rPr lang="en-GB" altLang="en-US" dirty="0">
                <a:latin typeface="Times" panose="02020603050405020304" pitchFamily="18" charset="0"/>
              </a:rPr>
              <a:t> fraction converted.</a:t>
            </a:r>
          </a:p>
          <a:p>
            <a:r>
              <a:rPr lang="en-GB" altLang="en-US" dirty="0">
                <a:latin typeface="Times" panose="02020603050405020304" pitchFamily="18" charset="0"/>
              </a:rPr>
              <a:t>From the second set of data for Average Time On Site you get a sense for the varied distributions in time each segment spends on your site. 64 seconds might have felt like a hurtfully low number for your beautiful engaging site. Now you know that at least some people spend more time on the site (those that make it to product pages). You also know how long it takes for someone to convert, 239 seconds.</a:t>
            </a:r>
          </a:p>
          <a:p>
            <a:r>
              <a:rPr lang="en-GB" altLang="en-US" dirty="0">
                <a:latin typeface="Times" panose="02020603050405020304" pitchFamily="18" charset="0"/>
              </a:rPr>
              <a:t>Picture t raises the right questions that need being asked.</a:t>
            </a:r>
          </a:p>
          <a:p>
            <a:r>
              <a:rPr lang="en-GB" altLang="en-US" dirty="0">
                <a:latin typeface="Times" panose="02020603050405020304" pitchFamily="18" charset="0"/>
              </a:rPr>
              <a:t>It will also help focus the initial analysis effort that you'll undertake. You'll ask why 51,398 Visitors to your site spent 43 seconds on average on your site. Where do they enter, what keywords, paid per click  or organic? What can we fix? is 239 seconds the right amount of time to conversion?</a:t>
            </a:r>
          </a:p>
          <a:p>
            <a:endParaRPr lang="en-GB" altLang="en-US" dirty="0">
              <a:latin typeface="Times" panose="02020603050405020304" pitchFamily="18" charset="0"/>
            </a:endParaRPr>
          </a:p>
          <a:p>
            <a:r>
              <a:rPr lang="en-GB" altLang="en-US" dirty="0" err="1">
                <a:latin typeface="Times" panose="02020603050405020304" pitchFamily="18" charset="0"/>
              </a:rPr>
              <a:t>Avinash</a:t>
            </a:r>
            <a:endParaRPr lang="en-GB" altLang="en-US" dirty="0">
              <a:latin typeface="Times" panose="02020603050405020304" pitchFamily="18" charset="0"/>
            </a:endParaRPr>
          </a:p>
          <a:p>
            <a:endParaRPr lang="en-GB" altLang="en-US" dirty="0">
              <a:latin typeface="Times" panose="02020603050405020304" pitchFamily="18"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65F0B4F3-35FB-43F2-A5F5-76BA9409C57A}" type="slidenum">
              <a:rPr lang="en-GB" altLang="en-US"/>
              <a:pPr>
                <a:spcBef>
                  <a:spcPct val="0"/>
                </a:spcBef>
              </a:pPr>
              <a:t>34</a:t>
            </a:fld>
            <a:endParaRPr lang="en-GB" altLang="en-US"/>
          </a:p>
        </p:txBody>
      </p:sp>
    </p:spTree>
    <p:extLst>
      <p:ext uri="{BB962C8B-B14F-4D97-AF65-F5344CB8AC3E}">
        <p14:creationId xmlns:p14="http://schemas.microsoft.com/office/powerpoint/2010/main" val="1347411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kern="1200" dirty="0">
                <a:solidFill>
                  <a:schemeClr val="tx1"/>
                </a:solidFill>
                <a:effectLst/>
                <a:latin typeface="Times" charset="0"/>
                <a:ea typeface="+mn-ea"/>
                <a:cs typeface="+mn-cs"/>
              </a:rPr>
              <a:t>one click deploy valuable things like exit-link, downloads, scroll tracking </a:t>
            </a:r>
            <a:r>
              <a:rPr lang="en-IE" sz="1200" b="0" i="0" kern="1200" dirty="0" err="1">
                <a:solidFill>
                  <a:schemeClr val="tx1"/>
                </a:solidFill>
                <a:effectLst/>
                <a:latin typeface="Times" charset="0"/>
                <a:ea typeface="+mn-ea"/>
                <a:cs typeface="+mn-cs"/>
              </a:rPr>
              <a:t>etc</a:t>
            </a:r>
            <a:endParaRPr lang="en-IE" sz="1200" b="0" i="0" kern="1200" dirty="0">
              <a:solidFill>
                <a:schemeClr val="tx1"/>
              </a:solidFill>
              <a:effectLst/>
              <a:latin typeface="Times" charset="0"/>
              <a:ea typeface="+mn-ea"/>
              <a:cs typeface="+mn-cs"/>
            </a:endParaRPr>
          </a:p>
          <a:p>
            <a:endParaRPr lang="en-IE" sz="1200" b="0" i="0" kern="1200" dirty="0">
              <a:solidFill>
                <a:schemeClr val="tx1"/>
              </a:solidFill>
              <a:effectLst/>
              <a:latin typeface="Times" charset="0"/>
              <a:ea typeface="+mn-ea"/>
              <a:cs typeface="+mn-cs"/>
            </a:endParaRPr>
          </a:p>
          <a:p>
            <a:r>
              <a:rPr lang="en-IE" sz="1200" b="0" i="0" kern="1200" dirty="0">
                <a:solidFill>
                  <a:schemeClr val="tx1"/>
                </a:solidFill>
                <a:effectLst/>
                <a:latin typeface="Times" charset="0"/>
                <a:ea typeface="+mn-ea"/>
                <a:cs typeface="+mn-cs"/>
              </a:rPr>
              <a:t>If your company does not have a Tag Manager and its supporting processes deployed, you are simply not serious about wanting to make speedy smart business decisions. The size of your business is irrelevant. End of story.</a:t>
            </a:r>
            <a:endParaRPr lang="en-IE" dirty="0"/>
          </a:p>
        </p:txBody>
      </p:sp>
      <p:sp>
        <p:nvSpPr>
          <p:cNvPr id="4" name="Slide Number Placeholder 3"/>
          <p:cNvSpPr>
            <a:spLocks noGrp="1"/>
          </p:cNvSpPr>
          <p:nvPr>
            <p:ph type="sldNum" sz="quarter" idx="10"/>
          </p:nvPr>
        </p:nvSpPr>
        <p:spPr/>
        <p:txBody>
          <a:bodyPr/>
          <a:lstStyle/>
          <a:p>
            <a:pPr>
              <a:defRPr/>
            </a:pPr>
            <a:fld id="{6616F148-05FE-4908-B818-5F5E68D7B330}" type="slidenum">
              <a:rPr lang="en-GB" altLang="en-US" smtClean="0"/>
              <a:pPr>
                <a:defRPr/>
              </a:pPr>
              <a:t>41</a:t>
            </a:fld>
            <a:endParaRPr lang="en-GB" altLang="en-US"/>
          </a:p>
        </p:txBody>
      </p:sp>
    </p:spTree>
    <p:extLst>
      <p:ext uri="{BB962C8B-B14F-4D97-AF65-F5344CB8AC3E}">
        <p14:creationId xmlns:p14="http://schemas.microsoft.com/office/powerpoint/2010/main" val="40587768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E" altLang="en-US">
              <a:latin typeface="Times" panose="02020603050405020304" pitchFamily="18"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D9D6A376-B6A8-44BE-9B1C-F35AFFAB84B0}" type="slidenum">
              <a:rPr lang="en-GB" altLang="en-US"/>
              <a:pPr>
                <a:spcBef>
                  <a:spcPct val="0"/>
                </a:spcBef>
              </a:pPr>
              <a:t>45</a:t>
            </a:fld>
            <a:endParaRPr lang="en-GB" altLang="en-US"/>
          </a:p>
        </p:txBody>
      </p:sp>
    </p:spTree>
    <p:extLst>
      <p:ext uri="{BB962C8B-B14F-4D97-AF65-F5344CB8AC3E}">
        <p14:creationId xmlns:p14="http://schemas.microsoft.com/office/powerpoint/2010/main" val="16330954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FA4C1F86-1AC2-4B5D-95AE-D24FDBDD13B2}" type="slidenum">
              <a:rPr lang="en-GB" altLang="en-US"/>
              <a:pPr>
                <a:spcBef>
                  <a:spcPct val="0"/>
                </a:spcBef>
              </a:pPr>
              <a:t>46</a:t>
            </a:fld>
            <a:endParaRPr lang="en-GB" alt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a:latin typeface="Times" panose="02020603050405020304" pitchFamily="18" charset="0"/>
              </a:rPr>
              <a:t>1. If you want buyers, advertise where people buy.</a:t>
            </a:r>
          </a:p>
          <a:p>
            <a:pPr eaLnBrk="1" hangingPunct="1">
              <a:lnSpc>
                <a:spcPct val="80000"/>
              </a:lnSpc>
            </a:pPr>
            <a:r>
              <a:rPr lang="en-US" altLang="en-US">
                <a:latin typeface="Times" panose="02020603050405020304" pitchFamily="18" charset="0"/>
              </a:rPr>
              <a:t>2. Customers from search engines will have different buying patterns than customers from banner ads.  Measure differences.</a:t>
            </a:r>
          </a:p>
          <a:p>
            <a:pPr eaLnBrk="1" hangingPunct="1">
              <a:lnSpc>
                <a:spcPct val="80000"/>
              </a:lnSpc>
            </a:pPr>
            <a:r>
              <a:rPr lang="en-US" altLang="en-US">
                <a:latin typeface="Times" panose="02020603050405020304" pitchFamily="18" charset="0"/>
              </a:rPr>
              <a:t>3. 50-60 percent will be one-time buyers/visitors.  Accept it.   You'll waste a ton of money trying to change it, and it's not going to change.   One-time buyers who bought multiple items on the first purchase are a possible exception.  Try them first.  Then try one-time buyers with the highest order value.  If these don't bite, none of the one-time buyers will.</a:t>
            </a:r>
          </a:p>
          <a:p>
            <a:pPr eaLnBrk="1" hangingPunct="1">
              <a:lnSpc>
                <a:spcPct val="80000"/>
              </a:lnSpc>
            </a:pPr>
            <a:r>
              <a:rPr lang="en-US" altLang="en-US">
                <a:latin typeface="Times" panose="02020603050405020304" pitchFamily="18" charset="0"/>
              </a:rPr>
              <a:t>4. The only chance you have at getting a first-time buyer to purchase again is to contact them quickly after the first purchase.</a:t>
            </a: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01879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a:latin typeface="Times" panose="02020603050405020304" pitchFamily="18" charset="0"/>
              </a:rPr>
              <a:t>5. One-time buyers who return their only purchase CAN be better marketing targets than those who don't return their purchase - IF the customer service experience they have in dealing with the return is outstanding.</a:t>
            </a:r>
          </a:p>
          <a:p>
            <a:pPr eaLnBrk="1" hangingPunct="1">
              <a:lnSpc>
                <a:spcPct val="80000"/>
              </a:lnSpc>
            </a:pPr>
            <a:r>
              <a:rPr lang="en-US" altLang="en-US">
                <a:latin typeface="Times" panose="02020603050405020304" pitchFamily="18" charset="0"/>
              </a:rPr>
              <a:t>6. Customers on average will buy down in price over their </a:t>
            </a:r>
            <a:r>
              <a:rPr lang="en-US" altLang="en-US">
                <a:latin typeface="Times" panose="02020603050405020304" pitchFamily="18" charset="0"/>
                <a:hlinkClick r:id="rId3"/>
              </a:rPr>
              <a:t>LifeCycle</a:t>
            </a:r>
            <a:r>
              <a:rPr lang="en-US" altLang="en-US">
                <a:latin typeface="Times" panose="02020603050405020304" pitchFamily="18" charset="0"/>
              </a:rPr>
              <a:t>; - buyers who "go cheap" on the first purchase usually have lousy future value.</a:t>
            </a:r>
          </a:p>
          <a:p>
            <a:pPr eaLnBrk="1" hangingPunct="1">
              <a:lnSpc>
                <a:spcPct val="80000"/>
              </a:lnSpc>
            </a:pPr>
            <a:r>
              <a:rPr lang="en-US" altLang="en-US">
                <a:latin typeface="Times" panose="02020603050405020304" pitchFamily="18" charset="0"/>
              </a:rPr>
              <a:t>7. One $50 1st purchase customer is worth more than two $25 1st purchase customers.  </a:t>
            </a:r>
          </a:p>
          <a:p>
            <a:pPr eaLnBrk="1" hangingPunct="1">
              <a:lnSpc>
                <a:spcPct val="80000"/>
              </a:lnSpc>
            </a:pPr>
            <a:r>
              <a:rPr lang="en-US" altLang="en-US">
                <a:latin typeface="Times" panose="02020603050405020304" pitchFamily="18" charset="0"/>
              </a:rPr>
              <a:t>8. Resend a promotion to the same people.  You can often get 50% of the first response rate if the original promotion was a targeted one.  It's OK to send exactly the same promotion, can be better to send slightly different copy, like "2nd chance!“</a:t>
            </a:r>
          </a:p>
          <a:p>
            <a:endParaRPr lang="en-IE" altLang="en-US">
              <a:latin typeface="Times" panose="02020603050405020304" pitchFamily="18" charset="0"/>
            </a:endParaRP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722954C9-8E0C-490B-A555-8D7FBF8ADAF4}" type="slidenum">
              <a:rPr lang="en-GB" altLang="en-US"/>
              <a:pPr>
                <a:spcBef>
                  <a:spcPct val="0"/>
                </a:spcBef>
              </a:pPr>
              <a:t>47</a:t>
            </a:fld>
            <a:endParaRPr lang="en-GB" altLang="en-US"/>
          </a:p>
        </p:txBody>
      </p:sp>
    </p:spTree>
    <p:extLst>
      <p:ext uri="{BB962C8B-B14F-4D97-AF65-F5344CB8AC3E}">
        <p14:creationId xmlns:p14="http://schemas.microsoft.com/office/powerpoint/2010/main" val="368664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9CAE3360-6BD5-4C04-B07C-B44D74948ABA}" type="slidenum">
              <a:rPr lang="en-GB" altLang="en-US"/>
              <a:pPr>
                <a:spcBef>
                  <a:spcPct val="0"/>
                </a:spcBef>
              </a:pPr>
              <a:t>48</a:t>
            </a:fld>
            <a:endParaRPr lang="en-GB" alt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b="1">
                <a:latin typeface="Times" panose="02020603050405020304" pitchFamily="18" charset="0"/>
              </a:rPr>
              <a:t>4.  Retention Marketing requires allocating marketing resources.</a:t>
            </a:r>
            <a:r>
              <a:rPr lang="en-US" altLang="en-US">
                <a:latin typeface="Times" panose="02020603050405020304" pitchFamily="18" charset="0"/>
              </a:rPr>
              <a:t>  You have to realize some marketing activities and customers will generate higher profits than others.  You can keep your budget flat or shrink it while increasing sales and profits if you continuously allocate more of the budget to highly profitable activities and away from lower profit activities.  This doesn't mean you should  "get rid" of some customers or treat them poorly.   </a:t>
            </a:r>
          </a:p>
          <a:p>
            <a:pPr eaLnBrk="1" hangingPunct="1">
              <a:lnSpc>
                <a:spcPct val="80000"/>
              </a:lnSpc>
            </a:pPr>
            <a:r>
              <a:rPr lang="en-US" altLang="en-US">
                <a:latin typeface="Times" panose="02020603050405020304" pitchFamily="18" charset="0"/>
              </a:rPr>
              <a:t>It means </a:t>
            </a:r>
            <a:r>
              <a:rPr lang="en-US" altLang="en-US" b="1">
                <a:latin typeface="Times" panose="02020603050405020304" pitchFamily="18" charset="0"/>
              </a:rPr>
              <a:t>when you have a choice</a:t>
            </a:r>
            <a:r>
              <a:rPr lang="en-US" altLang="en-US">
                <a:latin typeface="Times" panose="02020603050405020304" pitchFamily="18" charset="0"/>
              </a:rPr>
              <a:t>, as you frequently do in marketing, instead of spending the same amount of money on every customer, you spend more on some and less on others.  It takes money to make money.  Unless you get a huge increase in your budget, where will the money come from? </a:t>
            </a:r>
          </a:p>
          <a:p>
            <a:pPr eaLnBrk="1" hangingPunct="1">
              <a:lnSpc>
                <a:spcPct val="80000"/>
              </a:lnSpc>
            </a:pPr>
            <a:r>
              <a:rPr lang="en-US" altLang="en-US">
                <a:latin typeface="Times" panose="02020603050405020304" pitchFamily="18" charset="0"/>
              </a:rPr>
              <a:t>For example, let's say you have 1,000 customers, and you have an annual budget of $1,000.  You spend $1 on each customer each year, and for that $1, you get back $1.10 in profits.  That's an </a:t>
            </a:r>
            <a:r>
              <a:rPr lang="en-US" altLang="en-US">
                <a:latin typeface="Times" panose="02020603050405020304" pitchFamily="18" charset="0"/>
                <a:hlinkClick r:id="rId3"/>
              </a:rPr>
              <a:t>ROI</a:t>
            </a:r>
            <a:r>
              <a:rPr lang="en-US" altLang="en-US">
                <a:latin typeface="Times" panose="02020603050405020304" pitchFamily="18" charset="0"/>
              </a:rPr>
              <a:t> of 10%; you got back $1,100 for spending $1,000. </a:t>
            </a:r>
          </a:p>
          <a:p>
            <a:pPr eaLnBrk="1" hangingPunct="1">
              <a:lnSpc>
                <a:spcPct val="80000"/>
              </a:lnSpc>
            </a:pPr>
            <a:r>
              <a:rPr lang="en-US" altLang="en-US">
                <a:latin typeface="Times" panose="02020603050405020304" pitchFamily="18" charset="0"/>
              </a:rPr>
              <a:t>Now, what if you knew spending $2 each year on a certain 50% of customers would bring back $8 in profits.  That's a 400% ROI.  Where do you get the extra $1?  You take it away from the other 50% of customers.  You spend the same $1,000 total and you make back 500 (half the customers) x $8 = $4,000. </a:t>
            </a:r>
          </a:p>
          <a:p>
            <a:pPr eaLnBrk="1" hangingPunct="1">
              <a:lnSpc>
                <a:spcPct val="80000"/>
              </a:lnSpc>
            </a:pPr>
            <a:r>
              <a:rPr lang="en-US" altLang="en-US">
                <a:latin typeface="Times" panose="02020603050405020304" pitchFamily="18" charset="0"/>
              </a:rPr>
              <a:t>If you always migrate and reallocate marketing dollars towards higher ROI efforts, profits will grow even as the marketing budget stays flat. </a:t>
            </a:r>
          </a:p>
          <a:p>
            <a:pPr eaLnBrk="1" hangingPunct="1">
              <a:lnSpc>
                <a:spcPct val="80000"/>
              </a:lnSpc>
            </a:pPr>
            <a:r>
              <a:rPr lang="en-US" altLang="en-US">
                <a:latin typeface="Times" panose="02020603050405020304" pitchFamily="18" charset="0"/>
              </a:rPr>
              <a:t>You have to develop a way to allocate resources to the most profitable promotions, deliver them to the right customer at the right time, and not waste time and money on unprofitable customers.  This is accomplished by using the data customers create through their interactions with you to build simple models or rules to follow.  These models are your </a:t>
            </a:r>
            <a:r>
              <a:rPr lang="en-US" altLang="en-US" b="1">
                <a:latin typeface="Times" panose="02020603050405020304" pitchFamily="18" charset="0"/>
              </a:rPr>
              <a:t>listening system</a:t>
            </a:r>
            <a:r>
              <a:rPr lang="en-US" altLang="en-US">
                <a:latin typeface="Times" panose="02020603050405020304" pitchFamily="18" charset="0"/>
              </a:rPr>
              <a:t>, like the "30 day latency" model .  They allow the data to speak to you about the customer</a:t>
            </a: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9447243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3D4E2744-9D2C-4AD8-9C00-6A46C0BB41D1}" type="slidenum">
              <a:rPr lang="en-GB" altLang="en-US"/>
              <a:pPr>
                <a:spcBef>
                  <a:spcPct val="0"/>
                </a:spcBef>
              </a:pPr>
              <a:t>49</a:t>
            </a:fld>
            <a:endParaRPr lang="en-GB" alt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258808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panose="02020603050405020304" pitchFamily="18" charset="0"/>
              </a:defRPr>
            </a:lvl1pPr>
            <a:lvl2pPr marL="742950" indent="-285750">
              <a:spcBef>
                <a:spcPct val="30000"/>
              </a:spcBef>
              <a:defRPr sz="1200">
                <a:solidFill>
                  <a:schemeClr val="tx1"/>
                </a:solidFill>
                <a:latin typeface="Times" panose="02020603050405020304" pitchFamily="18" charset="0"/>
              </a:defRPr>
            </a:lvl2pPr>
            <a:lvl3pPr marL="1143000" indent="-228600">
              <a:spcBef>
                <a:spcPct val="30000"/>
              </a:spcBef>
              <a:defRPr sz="1200">
                <a:solidFill>
                  <a:schemeClr val="tx1"/>
                </a:solidFill>
                <a:latin typeface="Times" panose="02020603050405020304" pitchFamily="18" charset="0"/>
              </a:defRPr>
            </a:lvl3pPr>
            <a:lvl4pPr marL="1600200" indent="-228600">
              <a:spcBef>
                <a:spcPct val="30000"/>
              </a:spcBef>
              <a:defRPr sz="1200">
                <a:solidFill>
                  <a:schemeClr val="tx1"/>
                </a:solidFill>
                <a:latin typeface="Times" panose="02020603050405020304" pitchFamily="18" charset="0"/>
              </a:defRPr>
            </a:lvl4pPr>
            <a:lvl5pPr marL="2057400" indent="-228600">
              <a:spcBef>
                <a:spcPct val="30000"/>
              </a:spcBef>
              <a:defRPr sz="1200">
                <a:solidFill>
                  <a:schemeClr val="tx1"/>
                </a:solidFill>
                <a:latin typeface="Times" panose="02020603050405020304" pitchFamily="18" charset="0"/>
              </a:defRPr>
            </a:lvl5pPr>
            <a:lvl6pPr marL="2514600" indent="-228600" eaLnBrk="0" fontAlgn="base" hangingPunct="0">
              <a:spcBef>
                <a:spcPct val="30000"/>
              </a:spcBef>
              <a:spcAft>
                <a:spcPct val="0"/>
              </a:spcAft>
              <a:defRPr sz="1200">
                <a:solidFill>
                  <a:schemeClr val="tx1"/>
                </a:solidFill>
                <a:latin typeface="Times" panose="02020603050405020304" pitchFamily="18" charset="0"/>
              </a:defRPr>
            </a:lvl6pPr>
            <a:lvl7pPr marL="2971800" indent="-228600" eaLnBrk="0" fontAlgn="base" hangingPunct="0">
              <a:spcBef>
                <a:spcPct val="30000"/>
              </a:spcBef>
              <a:spcAft>
                <a:spcPct val="0"/>
              </a:spcAft>
              <a:defRPr sz="1200">
                <a:solidFill>
                  <a:schemeClr val="tx1"/>
                </a:solidFill>
                <a:latin typeface="Times" panose="02020603050405020304" pitchFamily="18" charset="0"/>
              </a:defRPr>
            </a:lvl7pPr>
            <a:lvl8pPr marL="3429000" indent="-228600" eaLnBrk="0" fontAlgn="base" hangingPunct="0">
              <a:spcBef>
                <a:spcPct val="30000"/>
              </a:spcBef>
              <a:spcAft>
                <a:spcPct val="0"/>
              </a:spcAft>
              <a:defRPr sz="1200">
                <a:solidFill>
                  <a:schemeClr val="tx1"/>
                </a:solidFill>
                <a:latin typeface="Times" panose="02020603050405020304" pitchFamily="18" charset="0"/>
              </a:defRPr>
            </a:lvl8pPr>
            <a:lvl9pPr marL="3886200" indent="-228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51F1D39F-920D-45E3-A15A-96545F9B2697}" type="slidenum">
              <a:rPr lang="en-GB" altLang="en-US"/>
              <a:pPr>
                <a:spcBef>
                  <a:spcPct val="0"/>
                </a:spcBef>
              </a:pPr>
              <a:t>50</a:t>
            </a:fld>
            <a:endParaRPr lang="en-GB" alt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b="1">
                <a:latin typeface="Times" panose="02020603050405020304" pitchFamily="18" charset="0"/>
              </a:rPr>
              <a:t>2.  Active customers are happy (retained) customers; and they like to "win."</a:t>
            </a:r>
            <a:r>
              <a:rPr lang="en-US" altLang="en-US">
                <a:latin typeface="Times" panose="02020603050405020304" pitchFamily="18" charset="0"/>
              </a:rPr>
              <a:t>  They like to feel they are in control and smart about choices they make, and they like to feel good about their behavior.  Marketers take advantage of this by offering promotions of various kinds to get consumers to engage in a behavior and feel good about doing it.   These promotions range from discounts and sweepstakes to loyalty programs and higher concept approaches such as thank-you notes and birthday cards.  Promotions encourage behavior.  If you want your customers to do something, you have to do something for them, and if it’s something that makes them feel good (like they are winning the consumer game) then they’re more likely to do it.</a:t>
            </a:r>
          </a:p>
          <a:p>
            <a:pPr eaLnBrk="1" hangingPunct="1">
              <a:lnSpc>
                <a:spcPct val="80000"/>
              </a:lnSpc>
            </a:pPr>
            <a:r>
              <a:rPr lang="en-US" altLang="en-US">
                <a:latin typeface="Times" panose="02020603050405020304" pitchFamily="18" charset="0"/>
              </a:rPr>
              <a:t>Retaining customers means keeping them active with you.  If you don't, they will slip away and eventually no longer be customers.  Promotions encourage this interaction of customers with your company, even if you are just sending out a newsletter or birthday card.</a:t>
            </a:r>
          </a:p>
          <a:p>
            <a:pPr eaLnBrk="1" hangingPunct="1">
              <a:lnSpc>
                <a:spcPct val="80000"/>
              </a:lnSpc>
            </a:pPr>
            <a:r>
              <a:rPr lang="en-US" altLang="en-US">
                <a:latin typeface="Times" panose="02020603050405020304" pitchFamily="18" charset="0"/>
              </a:rPr>
              <a:t>The truth is, almost all customers will leave you eventually.  The trick is to keep them active and happy as long as possible, and to make money doing it.</a:t>
            </a:r>
            <a:endParaRPr lang="en-US" altLang="en-US" b="1">
              <a:latin typeface="Times" panose="02020603050405020304" pitchFamily="18" charset="0"/>
            </a:endParaRPr>
          </a:p>
          <a:p>
            <a:pPr eaLnBrk="1" hangingPunct="1">
              <a:lnSpc>
                <a:spcPct val="80000"/>
              </a:lnSpc>
            </a:pPr>
            <a:r>
              <a:rPr lang="en-US" altLang="en-US" b="1">
                <a:latin typeface="Times" panose="02020603050405020304" pitchFamily="18" charset="0"/>
              </a:rPr>
              <a:t>3. </a:t>
            </a:r>
            <a:r>
              <a:rPr lang="en-US" altLang="en-US">
                <a:latin typeface="Times" panose="02020603050405020304" pitchFamily="18" charset="0"/>
              </a:rPr>
              <a:t> </a:t>
            </a:r>
            <a:r>
              <a:rPr lang="en-US" altLang="en-US" b="1">
                <a:latin typeface="Times" panose="02020603050405020304" pitchFamily="18" charset="0"/>
              </a:rPr>
              <a:t>Retention Marketing is all about:</a:t>
            </a:r>
            <a:br>
              <a:rPr lang="en-US" altLang="en-US" b="1">
                <a:latin typeface="Times" panose="02020603050405020304" pitchFamily="18" charset="0"/>
              </a:rPr>
            </a:br>
            <a:r>
              <a:rPr lang="en-US" altLang="en-US" b="1">
                <a:latin typeface="Times" panose="02020603050405020304" pitchFamily="18" charset="0"/>
              </a:rPr>
              <a:t>Action – Reaction – Feedback – Repeat. </a:t>
            </a:r>
            <a:r>
              <a:rPr lang="en-US" altLang="en-US">
                <a:latin typeface="Times" panose="02020603050405020304" pitchFamily="18" charset="0"/>
              </a:rPr>
              <a:t> Marketing is a conversation.  Marketing with customer data is a highly evolved and valuable conversation, but it has to be back and forth between the marketer and the customer, and you have to LISTEN to what the customer is saying to you.</a:t>
            </a:r>
          </a:p>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078712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E"/>
          </a:p>
        </p:txBody>
      </p:sp>
      <p:sp>
        <p:nvSpPr>
          <p:cNvPr id="4" name="Rectangle 4"/>
          <p:cNvSpPr>
            <a:spLocks noGrp="1" noChangeArrowheads="1"/>
          </p:cNvSpPr>
          <p:nvPr>
            <p:ph type="sldNum" sz="quarter" idx="10"/>
          </p:nvPr>
        </p:nvSpPr>
        <p:spPr/>
        <p:txBody>
          <a:bodyPr/>
          <a:lstStyle>
            <a:lvl1pPr>
              <a:defRPr smtClean="0"/>
            </a:lvl1pPr>
          </a:lstStyle>
          <a:p>
            <a:pPr>
              <a:defRPr/>
            </a:pPr>
            <a:r>
              <a:rPr lang="en-IE" altLang="en-US"/>
              <a:t>Week 4/5  Slide </a:t>
            </a:r>
            <a:fld id="{8D11116E-1787-4934-9DA6-7F264EF3015A}" type="slidenum">
              <a:rPr lang="en-IE" altLang="en-US"/>
              <a:pPr>
                <a:defRPr/>
              </a:pPr>
              <a:t>‹#›</a:t>
            </a:fld>
            <a:endParaRPr lang="en-IE" altLang="en-US"/>
          </a:p>
        </p:txBody>
      </p:sp>
    </p:spTree>
    <p:extLst>
      <p:ext uri="{BB962C8B-B14F-4D97-AF65-F5344CB8AC3E}">
        <p14:creationId xmlns:p14="http://schemas.microsoft.com/office/powerpoint/2010/main" val="1237358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sldNum" sz="quarter" idx="10"/>
          </p:nvPr>
        </p:nvSpPr>
        <p:spPr/>
        <p:txBody>
          <a:bodyPr/>
          <a:lstStyle>
            <a:lvl1pPr>
              <a:defRPr smtClean="0"/>
            </a:lvl1pPr>
          </a:lstStyle>
          <a:p>
            <a:pPr>
              <a:defRPr/>
            </a:pPr>
            <a:r>
              <a:rPr lang="en-IE" altLang="en-US"/>
              <a:t>Week 5  Slide </a:t>
            </a:r>
            <a:fld id="{F7FAA798-4A9C-45FD-A16B-87A7005B15B7}" type="slidenum">
              <a:rPr lang="en-IE" altLang="en-US"/>
              <a:pPr>
                <a:defRPr/>
              </a:pPr>
              <a:t>‹#›</a:t>
            </a:fld>
            <a:endParaRPr lang="en-IE" altLang="en-US"/>
          </a:p>
        </p:txBody>
      </p:sp>
    </p:spTree>
    <p:extLst>
      <p:ext uri="{BB962C8B-B14F-4D97-AF65-F5344CB8AC3E}">
        <p14:creationId xmlns:p14="http://schemas.microsoft.com/office/powerpoint/2010/main" val="1050934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sldNum" sz="quarter" idx="10"/>
          </p:nvPr>
        </p:nvSpPr>
        <p:spPr/>
        <p:txBody>
          <a:bodyPr/>
          <a:lstStyle>
            <a:lvl1pPr>
              <a:defRPr smtClean="0"/>
            </a:lvl1pPr>
          </a:lstStyle>
          <a:p>
            <a:pPr>
              <a:defRPr/>
            </a:pPr>
            <a:r>
              <a:rPr lang="en-IE" altLang="en-US"/>
              <a:t>Week 4/5  Slide </a:t>
            </a:r>
            <a:fld id="{154DD719-EF93-41B7-B216-845E563E5C22}" type="slidenum">
              <a:rPr lang="en-IE" altLang="en-US"/>
              <a:pPr>
                <a:defRPr/>
              </a:pPr>
              <a:t>‹#›</a:t>
            </a:fld>
            <a:endParaRPr lang="en-IE" altLang="en-US"/>
          </a:p>
        </p:txBody>
      </p:sp>
    </p:spTree>
    <p:extLst>
      <p:ext uri="{BB962C8B-B14F-4D97-AF65-F5344CB8AC3E}">
        <p14:creationId xmlns:p14="http://schemas.microsoft.com/office/powerpoint/2010/main" val="3321427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Rectangle 4"/>
          <p:cNvSpPr>
            <a:spLocks noGrp="1" noChangeArrowheads="1"/>
          </p:cNvSpPr>
          <p:nvPr>
            <p:ph type="sldNum" sz="quarter" idx="10"/>
          </p:nvPr>
        </p:nvSpPr>
        <p:spPr/>
        <p:txBody>
          <a:bodyPr/>
          <a:lstStyle>
            <a:lvl1pPr>
              <a:defRPr smtClean="0"/>
            </a:lvl1pPr>
          </a:lstStyle>
          <a:p>
            <a:pPr>
              <a:defRPr/>
            </a:pPr>
            <a:r>
              <a:rPr lang="en-IE" altLang="en-US"/>
              <a:t>Week 4/5  Slide </a:t>
            </a:r>
            <a:fld id="{ABCC3A92-FE34-4202-B823-0ACB0B11BF24}" type="slidenum">
              <a:rPr lang="en-IE" altLang="en-US"/>
              <a:pPr>
                <a:defRPr/>
              </a:pPr>
              <a:t>‹#›</a:t>
            </a:fld>
            <a:endParaRPr lang="en-IE" altLang="en-US"/>
          </a:p>
        </p:txBody>
      </p:sp>
    </p:spTree>
    <p:extLst>
      <p:ext uri="{BB962C8B-B14F-4D97-AF65-F5344CB8AC3E}">
        <p14:creationId xmlns:p14="http://schemas.microsoft.com/office/powerpoint/2010/main" val="3032221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Rectangle 4"/>
          <p:cNvSpPr>
            <a:spLocks noGrp="1" noChangeArrowheads="1"/>
          </p:cNvSpPr>
          <p:nvPr>
            <p:ph type="sldNum" sz="quarter" idx="10"/>
          </p:nvPr>
        </p:nvSpPr>
        <p:spPr/>
        <p:txBody>
          <a:bodyPr/>
          <a:lstStyle>
            <a:lvl1pPr>
              <a:defRPr smtClean="0"/>
            </a:lvl1pPr>
          </a:lstStyle>
          <a:p>
            <a:pPr>
              <a:defRPr/>
            </a:pPr>
            <a:r>
              <a:rPr lang="en-IE" altLang="en-US"/>
              <a:t>Week 4/5  Slide </a:t>
            </a:r>
            <a:fld id="{FCE616B4-DB8A-456B-92F9-03493946F4B7}" type="slidenum">
              <a:rPr lang="en-IE" altLang="en-US"/>
              <a:pPr>
                <a:defRPr/>
              </a:pPr>
              <a:t>‹#›</a:t>
            </a:fld>
            <a:endParaRPr lang="en-IE" altLang="en-US"/>
          </a:p>
        </p:txBody>
      </p:sp>
    </p:spTree>
    <p:extLst>
      <p:ext uri="{BB962C8B-B14F-4D97-AF65-F5344CB8AC3E}">
        <p14:creationId xmlns:p14="http://schemas.microsoft.com/office/powerpoint/2010/main" val="281077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4"/>
          <p:cNvSpPr>
            <a:spLocks noGrp="1" noChangeArrowheads="1"/>
          </p:cNvSpPr>
          <p:nvPr>
            <p:ph type="sldNum" sz="quarter" idx="10"/>
          </p:nvPr>
        </p:nvSpPr>
        <p:spPr/>
        <p:txBody>
          <a:bodyPr/>
          <a:lstStyle>
            <a:lvl1pPr>
              <a:defRPr smtClean="0"/>
            </a:lvl1pPr>
          </a:lstStyle>
          <a:p>
            <a:pPr>
              <a:defRPr/>
            </a:pPr>
            <a:r>
              <a:rPr lang="en-IE" altLang="en-US"/>
              <a:t>Week 4/5  Slide </a:t>
            </a:r>
            <a:fld id="{AD0AA68E-C292-48C2-887F-81EC91B77FAC}" type="slidenum">
              <a:rPr lang="en-IE" altLang="en-US"/>
              <a:pPr>
                <a:defRPr/>
              </a:pPr>
              <a:t>‹#›</a:t>
            </a:fld>
            <a:endParaRPr lang="en-IE" altLang="en-US"/>
          </a:p>
        </p:txBody>
      </p:sp>
    </p:spTree>
    <p:extLst>
      <p:ext uri="{BB962C8B-B14F-4D97-AF65-F5344CB8AC3E}">
        <p14:creationId xmlns:p14="http://schemas.microsoft.com/office/powerpoint/2010/main" val="3330246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p:txBody>
          <a:bodyPr/>
          <a:lstStyle>
            <a:lvl1pPr>
              <a:defRPr smtClean="0"/>
            </a:lvl1pPr>
          </a:lstStyle>
          <a:p>
            <a:pPr>
              <a:defRPr/>
            </a:pPr>
            <a:r>
              <a:rPr lang="en-IE" altLang="en-US"/>
              <a:t> Slide </a:t>
            </a:r>
            <a:fld id="{395524ED-14C5-4446-B8D5-2A67D5B69F02}" type="slidenum">
              <a:rPr lang="en-IE" altLang="en-US"/>
              <a:pPr>
                <a:defRPr/>
              </a:pPr>
              <a:t>‹#›</a:t>
            </a:fld>
            <a:endParaRPr lang="en-IE" altLang="en-US"/>
          </a:p>
        </p:txBody>
      </p:sp>
    </p:spTree>
    <p:extLst>
      <p:ext uri="{BB962C8B-B14F-4D97-AF65-F5344CB8AC3E}">
        <p14:creationId xmlns:p14="http://schemas.microsoft.com/office/powerpoint/2010/main" val="1294636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r>
              <a:rPr lang="en-IE" altLang="en-US"/>
              <a:t>Slide </a:t>
            </a:r>
            <a:fld id="{EF500FBA-8561-4846-AFB9-0A9C946934FD}" type="slidenum">
              <a:rPr lang="en-IE" altLang="en-US"/>
              <a:pPr>
                <a:defRPr/>
              </a:pPr>
              <a:t>‹#›</a:t>
            </a:fld>
            <a:endParaRPr lang="en-IE" altLang="en-US"/>
          </a:p>
        </p:txBody>
      </p:sp>
    </p:spTree>
    <p:extLst>
      <p:ext uri="{BB962C8B-B14F-4D97-AF65-F5344CB8AC3E}">
        <p14:creationId xmlns:p14="http://schemas.microsoft.com/office/powerpoint/2010/main" val="959037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r>
              <a:rPr lang="en-IE" altLang="en-US"/>
              <a:t>Slide </a:t>
            </a:r>
            <a:fld id="{88560518-6A77-4950-A80B-63B52ACFAD8A}" type="slidenum">
              <a:rPr lang="en-IE" altLang="en-US"/>
              <a:pPr>
                <a:defRPr/>
              </a:pPr>
              <a:t>‹#›</a:t>
            </a:fld>
            <a:endParaRPr lang="en-IE" altLang="en-US"/>
          </a:p>
        </p:txBody>
      </p:sp>
    </p:spTree>
    <p:extLst>
      <p:ext uri="{BB962C8B-B14F-4D97-AF65-F5344CB8AC3E}">
        <p14:creationId xmlns:p14="http://schemas.microsoft.com/office/powerpoint/2010/main" val="1872253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sldNum" sz="quarter" idx="10"/>
          </p:nvPr>
        </p:nvSpPr>
        <p:spPr>
          <a:ln/>
        </p:spPr>
        <p:txBody>
          <a:bodyPr/>
          <a:lstStyle>
            <a:lvl1pPr>
              <a:defRPr/>
            </a:lvl1pPr>
          </a:lstStyle>
          <a:p>
            <a:pPr>
              <a:defRPr/>
            </a:pPr>
            <a:r>
              <a:rPr lang="en-IE" altLang="en-US"/>
              <a:t>Slide </a:t>
            </a:r>
            <a:fld id="{1120B395-D18B-4DDF-9168-610EC6BFD296}" type="slidenum">
              <a:rPr lang="en-IE" altLang="en-US"/>
              <a:pPr>
                <a:defRPr/>
              </a:pPr>
              <a:t>‹#›</a:t>
            </a:fld>
            <a:endParaRPr lang="en-IE" altLang="en-US"/>
          </a:p>
        </p:txBody>
      </p:sp>
    </p:spTree>
    <p:extLst>
      <p:ext uri="{BB962C8B-B14F-4D97-AF65-F5344CB8AC3E}">
        <p14:creationId xmlns:p14="http://schemas.microsoft.com/office/powerpoint/2010/main" val="3751973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sldNum" sz="quarter" idx="10"/>
          </p:nvPr>
        </p:nvSpPr>
        <p:spPr>
          <a:ln/>
        </p:spPr>
        <p:txBody>
          <a:bodyPr/>
          <a:lstStyle>
            <a:lvl1pPr>
              <a:defRPr/>
            </a:lvl1pPr>
          </a:lstStyle>
          <a:p>
            <a:pPr>
              <a:defRPr/>
            </a:pPr>
            <a:r>
              <a:rPr lang="en-IE" altLang="en-US"/>
              <a:t>Slide </a:t>
            </a:r>
            <a:fld id="{BE5DED79-DA13-48F0-8598-26F720E83741}" type="slidenum">
              <a:rPr lang="en-IE" altLang="en-US"/>
              <a:pPr>
                <a:defRPr/>
              </a:pPr>
              <a:t>‹#›</a:t>
            </a:fld>
            <a:endParaRPr lang="en-IE" altLang="en-US"/>
          </a:p>
        </p:txBody>
      </p:sp>
    </p:spTree>
    <p:extLst>
      <p:ext uri="{BB962C8B-B14F-4D97-AF65-F5344CB8AC3E}">
        <p14:creationId xmlns:p14="http://schemas.microsoft.com/office/powerpoint/2010/main" val="2223932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IE"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IE" altLang="en-US"/>
              <a:t>Click to edit Master text styles</a:t>
            </a:r>
          </a:p>
          <a:p>
            <a:pPr lvl="1"/>
            <a:r>
              <a:rPr lang="en-IE" altLang="en-US"/>
              <a:t>Second level</a:t>
            </a:r>
          </a:p>
          <a:p>
            <a:pPr lvl="2"/>
            <a:r>
              <a:rPr lang="en-IE" altLang="en-US"/>
              <a:t>Third level</a:t>
            </a:r>
          </a:p>
          <a:p>
            <a:pPr lvl="3"/>
            <a:r>
              <a:rPr lang="en-IE" altLang="en-US"/>
              <a:t>Fourth level</a:t>
            </a:r>
          </a:p>
          <a:p>
            <a:pPr lvl="4"/>
            <a:r>
              <a:rPr lang="en-IE" altLang="en-US"/>
              <a:t>Fifth level</a:t>
            </a:r>
          </a:p>
        </p:txBody>
      </p:sp>
      <p:sp>
        <p:nvSpPr>
          <p:cNvPr id="236548" name="Rectangle 4"/>
          <p:cNvSpPr>
            <a:spLocks noGrp="1" noChangeArrowheads="1"/>
          </p:cNvSpPr>
          <p:nvPr>
            <p:ph type="sldNum" sz="quarter" idx="4"/>
          </p:nvPr>
        </p:nvSpPr>
        <p:spPr bwMode="auto">
          <a:xfrm>
            <a:off x="6877050" y="6245225"/>
            <a:ext cx="180975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atin typeface="Verdana" panose="020B0604030504040204" pitchFamily="34" charset="0"/>
              </a:defRPr>
            </a:lvl1pPr>
          </a:lstStyle>
          <a:p>
            <a:pPr>
              <a:defRPr/>
            </a:pPr>
            <a:r>
              <a:rPr lang="en-IE" altLang="en-US"/>
              <a:t>Slide </a:t>
            </a:r>
            <a:fld id="{DFE36318-BD0E-4FAA-A11C-15A9C60A5607}" type="slidenum">
              <a:rPr lang="en-IE" altLang="en-US"/>
              <a:pPr>
                <a:defRPr/>
              </a:pPr>
              <a:t>‹#›</a:t>
            </a:fld>
            <a:endParaRPr lang="en-IE" altLang="en-US"/>
          </a:p>
        </p:txBody>
      </p:sp>
      <p:sp>
        <p:nvSpPr>
          <p:cNvPr id="1031" name="Rectangle 8"/>
          <p:cNvSpPr>
            <a:spLocks noChangeArrowheads="1"/>
          </p:cNvSpPr>
          <p:nvPr userDrawn="1"/>
        </p:nvSpPr>
        <p:spPr bwMode="auto">
          <a:xfrm>
            <a:off x="8797925" y="65516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a:defRPr/>
            </a:pPr>
            <a:endParaRPr lang="en-GB" altLang="en-US" sz="2400">
              <a:latin typeface="Times" charset="0"/>
            </a:endParaRPr>
          </a:p>
        </p:txBody>
      </p:sp>
    </p:spTree>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84" r:id="rId8"/>
    <p:sldLayoutId id="2147483885" r:id="rId9"/>
    <p:sldLayoutId id="2147483886" r:id="rId10"/>
    <p:sldLayoutId id="2147483887" r:id="rId11"/>
  </p:sldLayoutIdLst>
  <p:hf sldNum="0" hdr="0" ftr="0" dt="0"/>
  <p:txStyles>
    <p:titleStyle>
      <a:lvl1pPr algn="ctr" rtl="0" eaLnBrk="0" fontAlgn="base" hangingPunct="0">
        <a:spcBef>
          <a:spcPct val="0"/>
        </a:spcBef>
        <a:spcAft>
          <a:spcPct val="0"/>
        </a:spcAft>
        <a:defRPr sz="3200">
          <a:solidFill>
            <a:srgbClr val="337FCC"/>
          </a:solidFill>
          <a:latin typeface="+mj-lt"/>
          <a:ea typeface="+mj-ea"/>
          <a:cs typeface="+mj-cs"/>
        </a:defRPr>
      </a:lvl1pPr>
      <a:lvl2pPr algn="ctr" rtl="0" eaLnBrk="0" fontAlgn="base" hangingPunct="0">
        <a:spcBef>
          <a:spcPct val="0"/>
        </a:spcBef>
        <a:spcAft>
          <a:spcPct val="0"/>
        </a:spcAft>
        <a:defRPr sz="3200">
          <a:solidFill>
            <a:srgbClr val="337FCC"/>
          </a:solidFill>
          <a:latin typeface="Arial" charset="0"/>
        </a:defRPr>
      </a:lvl2pPr>
      <a:lvl3pPr algn="ctr" rtl="0" eaLnBrk="0" fontAlgn="base" hangingPunct="0">
        <a:spcBef>
          <a:spcPct val="0"/>
        </a:spcBef>
        <a:spcAft>
          <a:spcPct val="0"/>
        </a:spcAft>
        <a:defRPr sz="3200">
          <a:solidFill>
            <a:srgbClr val="337FCC"/>
          </a:solidFill>
          <a:latin typeface="Arial" charset="0"/>
        </a:defRPr>
      </a:lvl3pPr>
      <a:lvl4pPr algn="ctr" rtl="0" eaLnBrk="0" fontAlgn="base" hangingPunct="0">
        <a:spcBef>
          <a:spcPct val="0"/>
        </a:spcBef>
        <a:spcAft>
          <a:spcPct val="0"/>
        </a:spcAft>
        <a:defRPr sz="3200">
          <a:solidFill>
            <a:srgbClr val="337FCC"/>
          </a:solidFill>
          <a:latin typeface="Arial" charset="0"/>
        </a:defRPr>
      </a:lvl4pPr>
      <a:lvl5pPr algn="ctr" rtl="0" eaLnBrk="0" fontAlgn="base" hangingPunct="0">
        <a:spcBef>
          <a:spcPct val="0"/>
        </a:spcBef>
        <a:spcAft>
          <a:spcPct val="0"/>
        </a:spcAft>
        <a:defRPr sz="3200">
          <a:solidFill>
            <a:srgbClr val="337FCC"/>
          </a:solidFill>
          <a:latin typeface="Arial" charset="0"/>
        </a:defRPr>
      </a:lvl5pPr>
      <a:lvl6pPr marL="457200" algn="ctr" rtl="0" fontAlgn="base">
        <a:spcBef>
          <a:spcPct val="0"/>
        </a:spcBef>
        <a:spcAft>
          <a:spcPct val="0"/>
        </a:spcAft>
        <a:defRPr sz="3200">
          <a:solidFill>
            <a:srgbClr val="337FCC"/>
          </a:solidFill>
          <a:latin typeface="Arial" charset="0"/>
        </a:defRPr>
      </a:lvl6pPr>
      <a:lvl7pPr marL="914400" algn="ctr" rtl="0" fontAlgn="base">
        <a:spcBef>
          <a:spcPct val="0"/>
        </a:spcBef>
        <a:spcAft>
          <a:spcPct val="0"/>
        </a:spcAft>
        <a:defRPr sz="3200">
          <a:solidFill>
            <a:srgbClr val="337FCC"/>
          </a:solidFill>
          <a:latin typeface="Arial" charset="0"/>
        </a:defRPr>
      </a:lvl7pPr>
      <a:lvl8pPr marL="1371600" algn="ctr" rtl="0" fontAlgn="base">
        <a:spcBef>
          <a:spcPct val="0"/>
        </a:spcBef>
        <a:spcAft>
          <a:spcPct val="0"/>
        </a:spcAft>
        <a:defRPr sz="3200">
          <a:solidFill>
            <a:srgbClr val="337FCC"/>
          </a:solidFill>
          <a:latin typeface="Arial" charset="0"/>
        </a:defRPr>
      </a:lvl8pPr>
      <a:lvl9pPr marL="1828800" algn="ctr" rtl="0" fontAlgn="base">
        <a:spcBef>
          <a:spcPct val="0"/>
        </a:spcBef>
        <a:spcAft>
          <a:spcPct val="0"/>
        </a:spcAft>
        <a:defRPr sz="3200">
          <a:solidFill>
            <a:srgbClr val="337FCC"/>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webanalyticsassociation.or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A6Zryx1bgE0"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www.youtube.com/watch?v=_s-9mIQyJto"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jimnovo.com/"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hyperlink" Target="https://aws.amazon.com/solutions/case-studies/innovators/ryanai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ctrTitle"/>
          </p:nvPr>
        </p:nvSpPr>
        <p:spPr>
          <a:xfrm>
            <a:off x="0" y="1625600"/>
            <a:ext cx="9144000" cy="579438"/>
          </a:xfrm>
        </p:spPr>
        <p:txBody>
          <a:bodyPr>
            <a:spAutoFit/>
          </a:bodyPr>
          <a:lstStyle/>
          <a:p>
            <a:pPr eaLnBrk="1" hangingPunct="1"/>
            <a:r>
              <a:rPr lang="en-GB" altLang="en-US"/>
              <a:t> </a:t>
            </a:r>
          </a:p>
        </p:txBody>
      </p:sp>
      <p:sp>
        <p:nvSpPr>
          <p:cNvPr id="2" name="Rectangle 3"/>
          <p:cNvSpPr>
            <a:spLocks noGrp="1" noChangeArrowheads="1"/>
          </p:cNvSpPr>
          <p:nvPr>
            <p:ph type="subTitle" idx="1"/>
          </p:nvPr>
        </p:nvSpPr>
        <p:spPr>
          <a:xfrm>
            <a:off x="82550" y="2387600"/>
            <a:ext cx="8978900" cy="800100"/>
          </a:xfrm>
        </p:spPr>
        <p:txBody>
          <a:bodyPr/>
          <a:lstStyle/>
          <a:p>
            <a:pPr eaLnBrk="1" hangingPunct="1"/>
            <a:r>
              <a:rPr lang="en-US" altLang="en-US"/>
              <a:t>Web Analytics</a:t>
            </a:r>
          </a:p>
          <a:p>
            <a:pPr eaLnBrk="1" hangingPunct="1"/>
            <a:endParaRPr lang="en-US" altLang="en-US"/>
          </a:p>
        </p:txBody>
      </p:sp>
      <p:sp>
        <p:nvSpPr>
          <p:cNvPr id="11269" name="Rectangle 4"/>
          <p:cNvSpPr>
            <a:spLocks noChangeArrowheads="1"/>
          </p:cNvSpPr>
          <p:nvPr/>
        </p:nvSpPr>
        <p:spPr bwMode="auto">
          <a:xfrm>
            <a:off x="2879725" y="4286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defRPr>
            </a:lvl9pPr>
          </a:lstStyle>
          <a:p>
            <a:pPr>
              <a:spcBef>
                <a:spcPct val="0"/>
              </a:spcBef>
              <a:buFontTx/>
              <a:buNone/>
            </a:pPr>
            <a:endParaRPr lang="en-GB" altLang="en-US" sz="2400">
              <a:latin typeface="Times" panose="02020603050405020304" pitchFamily="18" charset="0"/>
            </a:endParaRPr>
          </a:p>
        </p:txBody>
      </p:sp>
      <p:pic>
        <p:nvPicPr>
          <p:cNvPr id="11270"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188913"/>
            <a:ext cx="9144000" cy="61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TextBox 3"/>
          <p:cNvSpPr txBox="1">
            <a:spLocks noChangeArrowheads="1"/>
          </p:cNvSpPr>
          <p:nvPr/>
        </p:nvSpPr>
        <p:spPr bwMode="auto">
          <a:xfrm>
            <a:off x="623888" y="6211888"/>
            <a:ext cx="22558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defRPr>
            </a:lvl9pPr>
          </a:lstStyle>
          <a:p>
            <a:pPr eaLnBrk="1" hangingPunct="1">
              <a:spcBef>
                <a:spcPct val="0"/>
              </a:spcBef>
              <a:buFontTx/>
              <a:buNone/>
            </a:pPr>
            <a:r>
              <a:rPr lang="en-GB" altLang="en-US" sz="3600" dirty="0">
                <a:latin typeface="Arial" panose="020B0604020202020204" pitchFamily="34" charset="0"/>
              </a:rPr>
              <a:t> </a:t>
            </a:r>
          </a:p>
        </p:txBody>
      </p:sp>
      <p:sp>
        <p:nvSpPr>
          <p:cNvPr id="6" name="TextBox 5"/>
          <p:cNvSpPr txBox="1"/>
          <p:nvPr/>
        </p:nvSpPr>
        <p:spPr>
          <a:xfrm>
            <a:off x="6110288" y="5529263"/>
            <a:ext cx="2322512" cy="1201737"/>
          </a:xfrm>
          <a:prstGeom prst="rect">
            <a:avLst/>
          </a:prstGeom>
          <a:solidFill>
            <a:schemeClr val="accent1">
              <a:lumMod val="90000"/>
            </a:schemeClr>
          </a:solidFill>
        </p:spPr>
        <p:txBody>
          <a:bodyPr>
            <a:spAutoFit/>
          </a:bodyPr>
          <a:lstStyle/>
          <a:p>
            <a:pPr eaLnBrk="1" hangingPunct="1">
              <a:defRPr/>
            </a:pPr>
            <a:r>
              <a:rPr lang="en-US" altLang="en-US" b="1" dirty="0">
                <a:solidFill>
                  <a:schemeClr val="accent6">
                    <a:lumMod val="60000"/>
                    <a:lumOff val="40000"/>
                  </a:schemeClr>
                </a:solidFill>
              </a:rPr>
              <a:t>Web Analytics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028"/>
    </mc:Choice>
    <mc:Fallback xmlns="">
      <p:transition spd="slow" advTm="702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en-US" b="1"/>
              <a:t>Web analytics</a:t>
            </a:r>
          </a:p>
        </p:txBody>
      </p:sp>
      <p:sp>
        <p:nvSpPr>
          <p:cNvPr id="15364" name="Rectangle 3"/>
          <p:cNvSpPr>
            <a:spLocks noGrp="1" noChangeArrowheads="1"/>
          </p:cNvSpPr>
          <p:nvPr>
            <p:ph type="body" idx="1"/>
          </p:nvPr>
        </p:nvSpPr>
        <p:spPr/>
        <p:txBody>
          <a:bodyPr/>
          <a:lstStyle/>
          <a:p>
            <a:pPr eaLnBrk="1" hangingPunct="1"/>
            <a:r>
              <a:rPr lang="en-US" altLang="en-US" b="1"/>
              <a:t>……..</a:t>
            </a:r>
            <a:r>
              <a:rPr lang="en-US" altLang="en-US"/>
              <a:t> is the study of the behaviour of website visitors. It refers to the use of data collected from a web site to determine which aspects of the website work towards the business objectives; for example, which landing pages encourage people to make a purchase. </a:t>
            </a:r>
          </a:p>
          <a:p>
            <a:pPr eaLnBrk="1" hangingPunct="1"/>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2000" advTm="20579"/>
    </mc:Choice>
    <mc:Fallback xmlns="">
      <p:transition spd="slow" advTm="2057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en-US"/>
              <a:t>Definition</a:t>
            </a:r>
          </a:p>
        </p:txBody>
      </p:sp>
      <p:sp>
        <p:nvSpPr>
          <p:cNvPr id="17412" name="Rectangle 3"/>
          <p:cNvSpPr>
            <a:spLocks noGrp="1" noChangeArrowheads="1"/>
          </p:cNvSpPr>
          <p:nvPr>
            <p:ph type="body" idx="1"/>
          </p:nvPr>
        </p:nvSpPr>
        <p:spPr/>
        <p:txBody>
          <a:bodyPr/>
          <a:lstStyle/>
          <a:p>
            <a:pPr eaLnBrk="1" hangingPunct="1"/>
            <a:r>
              <a:rPr lang="en-US" altLang="en-US" i="1"/>
              <a:t>Web analytics</a:t>
            </a:r>
            <a:r>
              <a:rPr lang="en-US" altLang="en-US"/>
              <a:t> is the objective tracking, collection, measurement, reporting and analysis of quantitative internet data to optimize web sites and web marketing initiatives</a:t>
            </a:r>
          </a:p>
          <a:p>
            <a:pPr eaLnBrk="1" hangingPunct="1"/>
            <a:r>
              <a:rPr lang="en-US" altLang="en-US">
                <a:hlinkClick r:id="rId3"/>
              </a:rPr>
              <a:t>www.webanalyticsassociation.org</a:t>
            </a:r>
            <a:endParaRPr lang="en-US" altLang="en-US"/>
          </a:p>
          <a:p>
            <a:pPr eaLnBrk="1" hangingPunct="1"/>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2000" advTm="21813"/>
    </mc:Choice>
    <mc:Fallback xmlns="">
      <p:transition spd="slow" advTm="2181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IE" altLang="en-US"/>
              <a:t>Demystifying Web Analytics</a:t>
            </a:r>
          </a:p>
        </p:txBody>
      </p:sp>
      <p:sp>
        <p:nvSpPr>
          <p:cNvPr id="47107" name="Content Placeholder 2"/>
          <p:cNvSpPr>
            <a:spLocks noGrp="1"/>
          </p:cNvSpPr>
          <p:nvPr>
            <p:ph idx="1"/>
          </p:nvPr>
        </p:nvSpPr>
        <p:spPr/>
        <p:txBody>
          <a:bodyPr/>
          <a:lstStyle/>
          <a:p>
            <a:r>
              <a:rPr lang="en-IE" altLang="en-US"/>
              <a:t>Basics</a:t>
            </a:r>
          </a:p>
          <a:p>
            <a:r>
              <a:rPr lang="en-IE" altLang="en-US"/>
              <a:t>Understand the Traffic Sources</a:t>
            </a:r>
          </a:p>
          <a:p>
            <a:r>
              <a:rPr lang="en-IE" altLang="en-US"/>
              <a:t>Reduce Bounce Rate</a:t>
            </a:r>
          </a:p>
          <a:p>
            <a:r>
              <a:rPr lang="en-IE" altLang="en-US"/>
              <a:t>Focus on Outcomes</a:t>
            </a:r>
          </a:p>
          <a:p>
            <a:pPr>
              <a:buFontTx/>
              <a:buNone/>
            </a:pPr>
            <a:endParaRPr lang="en-IE" altLang="en-US"/>
          </a:p>
        </p:txBody>
      </p:sp>
    </p:spTree>
    <p:extLst>
      <p:ext uri="{BB962C8B-B14F-4D97-AF65-F5344CB8AC3E}">
        <p14:creationId xmlns:p14="http://schemas.microsoft.com/office/powerpoint/2010/main" val="3163445477"/>
      </p:ext>
    </p:extLst>
  </p:cSld>
  <p:clrMapOvr>
    <a:masterClrMapping/>
  </p:clrMapOvr>
  <mc:AlternateContent xmlns:mc="http://schemas.openxmlformats.org/markup-compatibility/2006" xmlns:p14="http://schemas.microsoft.com/office/powerpoint/2010/main">
    <mc:Choice Requires="p14">
      <p:transition spd="slow" p14:dur="2000" advTm="22214"/>
    </mc:Choice>
    <mc:Fallback xmlns="">
      <p:transition spd="slow" advTm="2221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IE" altLang="en-US"/>
              <a:t>Basics</a:t>
            </a:r>
          </a:p>
        </p:txBody>
      </p:sp>
      <p:sp>
        <p:nvSpPr>
          <p:cNvPr id="49155" name="Content Placeholder 2"/>
          <p:cNvSpPr>
            <a:spLocks noGrp="1"/>
          </p:cNvSpPr>
          <p:nvPr>
            <p:ph idx="1"/>
          </p:nvPr>
        </p:nvSpPr>
        <p:spPr/>
        <p:txBody>
          <a:bodyPr/>
          <a:lstStyle/>
          <a:p>
            <a:r>
              <a:rPr lang="en-IE" altLang="en-US"/>
              <a:t>Visits</a:t>
            </a:r>
          </a:p>
          <a:p>
            <a:r>
              <a:rPr lang="en-IE" altLang="en-US"/>
              <a:t>Page Views</a:t>
            </a:r>
          </a:p>
          <a:p>
            <a:r>
              <a:rPr lang="en-IE" altLang="en-US"/>
              <a:t>Avr. Time on Site</a:t>
            </a:r>
          </a:p>
          <a:p>
            <a:r>
              <a:rPr lang="en-IE" altLang="en-US"/>
              <a:t>Bounce</a:t>
            </a:r>
          </a:p>
          <a:p>
            <a:r>
              <a:rPr lang="en-IE" altLang="en-US"/>
              <a:t>% of New visits</a:t>
            </a:r>
          </a:p>
        </p:txBody>
      </p:sp>
    </p:spTree>
    <p:extLst>
      <p:ext uri="{BB962C8B-B14F-4D97-AF65-F5344CB8AC3E}">
        <p14:creationId xmlns:p14="http://schemas.microsoft.com/office/powerpoint/2010/main" val="2458136725"/>
      </p:ext>
    </p:extLst>
  </p:cSld>
  <p:clrMapOvr>
    <a:masterClrMapping/>
  </p:clrMapOvr>
  <mc:AlternateContent xmlns:mc="http://schemas.openxmlformats.org/markup-compatibility/2006" xmlns:p14="http://schemas.microsoft.com/office/powerpoint/2010/main">
    <mc:Choice Requires="p14">
      <p:transition spd="slow" p14:dur="2000" advTm="14838"/>
    </mc:Choice>
    <mc:Fallback xmlns="">
      <p:transition spd="slow" advTm="1483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IE" altLang="en-US"/>
              <a:t>Traffic Sources</a:t>
            </a:r>
          </a:p>
        </p:txBody>
      </p:sp>
      <p:sp>
        <p:nvSpPr>
          <p:cNvPr id="51203" name="Content Placeholder 2"/>
          <p:cNvSpPr>
            <a:spLocks noGrp="1"/>
          </p:cNvSpPr>
          <p:nvPr>
            <p:ph idx="1"/>
          </p:nvPr>
        </p:nvSpPr>
        <p:spPr/>
        <p:txBody>
          <a:bodyPr/>
          <a:lstStyle/>
          <a:p>
            <a:r>
              <a:rPr lang="en-IE" altLang="en-US"/>
              <a:t>Direct Traffic</a:t>
            </a:r>
          </a:p>
          <a:p>
            <a:r>
              <a:rPr lang="en-IE" altLang="en-US"/>
              <a:t>Referring Sites</a:t>
            </a:r>
          </a:p>
          <a:p>
            <a:r>
              <a:rPr lang="en-IE" altLang="en-US"/>
              <a:t>Search Engines</a:t>
            </a:r>
          </a:p>
          <a:p>
            <a:r>
              <a:rPr lang="en-IE" altLang="en-US"/>
              <a:t>Other</a:t>
            </a:r>
          </a:p>
        </p:txBody>
      </p:sp>
    </p:spTree>
    <p:extLst>
      <p:ext uri="{BB962C8B-B14F-4D97-AF65-F5344CB8AC3E}">
        <p14:creationId xmlns:p14="http://schemas.microsoft.com/office/powerpoint/2010/main" val="434218955"/>
      </p:ext>
    </p:extLst>
  </p:cSld>
  <p:clrMapOvr>
    <a:masterClrMapping/>
  </p:clrMapOvr>
  <mc:AlternateContent xmlns:mc="http://schemas.openxmlformats.org/markup-compatibility/2006" xmlns:p14="http://schemas.microsoft.com/office/powerpoint/2010/main">
    <mc:Choice Requires="p14">
      <p:transition spd="slow" p14:dur="2000" advTm="9850"/>
    </mc:Choice>
    <mc:Fallback xmlns="">
      <p:transition spd="slow" advTm="985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a:defRPr/>
            </a:pPr>
            <a:r>
              <a:rPr lang="en-IE" dirty="0">
                <a:solidFill>
                  <a:schemeClr val="accent2">
                    <a:lumMod val="75000"/>
                  </a:schemeClr>
                </a:solidFill>
              </a:rPr>
              <a:t>Reduce Bounce Rate</a:t>
            </a:r>
          </a:p>
        </p:txBody>
      </p:sp>
      <p:sp>
        <p:nvSpPr>
          <p:cNvPr id="53251" name="Content Placeholder 2"/>
          <p:cNvSpPr>
            <a:spLocks noGrp="1"/>
          </p:cNvSpPr>
          <p:nvPr>
            <p:ph idx="1"/>
          </p:nvPr>
        </p:nvSpPr>
        <p:spPr/>
        <p:txBody>
          <a:bodyPr/>
          <a:lstStyle/>
          <a:p>
            <a:r>
              <a:rPr lang="en-IE" altLang="en-US" sz="2400"/>
              <a:t>You are looking, first, for pages with the highest bounce rate i.e., </a:t>
            </a:r>
            <a:r>
              <a:rPr lang="en-IE" altLang="en-US" sz="2400">
                <a:solidFill>
                  <a:srgbClr val="FF0000"/>
                </a:solidFill>
              </a:rPr>
              <a:t>single page view sessions.</a:t>
            </a:r>
          </a:p>
          <a:p>
            <a:r>
              <a:rPr lang="en-IE" altLang="en-US" sz="2400"/>
              <a:t>Pages with a high bounce rate are not delivering on the promise that is driving customers to your site. </a:t>
            </a:r>
          </a:p>
          <a:p>
            <a:endParaRPr lang="en-IE" altLang="en-US"/>
          </a:p>
          <a:p>
            <a:endParaRPr lang="en-IE" altLang="en-US"/>
          </a:p>
        </p:txBody>
      </p:sp>
    </p:spTree>
    <p:extLst>
      <p:ext uri="{BB962C8B-B14F-4D97-AF65-F5344CB8AC3E}">
        <p14:creationId xmlns:p14="http://schemas.microsoft.com/office/powerpoint/2010/main" val="2965706345"/>
      </p:ext>
    </p:extLst>
  </p:cSld>
  <p:clrMapOvr>
    <a:masterClrMapping/>
  </p:clrMapOvr>
  <mc:AlternateContent xmlns:mc="http://schemas.openxmlformats.org/markup-compatibility/2006" xmlns:p14="http://schemas.microsoft.com/office/powerpoint/2010/main">
    <mc:Choice Requires="p14">
      <p:transition spd="slow" p14:dur="2000" advTm="21141"/>
    </mc:Choice>
    <mc:Fallback xmlns="">
      <p:transition spd="slow" advTm="2114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a:defRPr/>
            </a:pPr>
            <a:r>
              <a:rPr lang="en-IE" dirty="0">
                <a:solidFill>
                  <a:schemeClr val="accent2">
                    <a:lumMod val="75000"/>
                  </a:schemeClr>
                </a:solidFill>
              </a:rPr>
              <a:t>Reduce Bounce Rate</a:t>
            </a:r>
          </a:p>
        </p:txBody>
      </p:sp>
      <p:sp>
        <p:nvSpPr>
          <p:cNvPr id="55299" name="Content Placeholder 2"/>
          <p:cNvSpPr>
            <a:spLocks noGrp="1"/>
          </p:cNvSpPr>
          <p:nvPr>
            <p:ph idx="1"/>
          </p:nvPr>
        </p:nvSpPr>
        <p:spPr/>
        <p:txBody>
          <a:bodyPr/>
          <a:lstStyle/>
          <a:p>
            <a:r>
              <a:rPr lang="en-IE" altLang="en-US" sz="2400"/>
              <a:t>You are looking, first, for pages with the highest bounce rate i.e., </a:t>
            </a:r>
            <a:r>
              <a:rPr lang="en-IE" altLang="en-US" sz="2400">
                <a:solidFill>
                  <a:srgbClr val="FF0000"/>
                </a:solidFill>
              </a:rPr>
              <a:t>single page view sessions.</a:t>
            </a:r>
          </a:p>
          <a:p>
            <a:r>
              <a:rPr lang="en-IE" altLang="en-US" sz="2400"/>
              <a:t>Pages with a high bounce rate are not delivering on the promise that is driving customers to your site. </a:t>
            </a:r>
          </a:p>
          <a:p>
            <a:pPr marL="342900" lvl="1" indent="-342900">
              <a:buFontTx/>
              <a:buChar char="•"/>
            </a:pPr>
            <a:r>
              <a:rPr lang="en-US" altLang="en-US"/>
              <a:t>Track this metric, make changes to the page, and look for trends.  You want this metric to fall over time as you tweak design, navigation, links.</a:t>
            </a:r>
          </a:p>
          <a:p>
            <a:pPr>
              <a:buFontTx/>
              <a:buNone/>
            </a:pPr>
            <a:endParaRPr lang="en-IE" altLang="en-US"/>
          </a:p>
          <a:p>
            <a:endParaRPr lang="en-IE" altLang="en-US"/>
          </a:p>
        </p:txBody>
      </p:sp>
    </p:spTree>
    <p:extLst>
      <p:ext uri="{BB962C8B-B14F-4D97-AF65-F5344CB8AC3E}">
        <p14:creationId xmlns:p14="http://schemas.microsoft.com/office/powerpoint/2010/main" val="2644066710"/>
      </p:ext>
    </p:extLst>
  </p:cSld>
  <p:clrMapOvr>
    <a:masterClrMapping/>
  </p:clrMapOvr>
  <mc:AlternateContent xmlns:mc="http://schemas.openxmlformats.org/markup-compatibility/2006" xmlns:p14="http://schemas.microsoft.com/office/powerpoint/2010/main">
    <mc:Choice Requires="p14">
      <p:transition spd="slow" p14:dur="2000" advTm="16268"/>
    </mc:Choice>
    <mc:Fallback xmlns="">
      <p:transition spd="slow" advTm="1626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IE" altLang="en-US"/>
              <a:t>Focus on Outcomes</a:t>
            </a:r>
          </a:p>
        </p:txBody>
      </p:sp>
      <p:sp>
        <p:nvSpPr>
          <p:cNvPr id="57347" name="Content Placeholder 2"/>
          <p:cNvSpPr>
            <a:spLocks noGrp="1"/>
          </p:cNvSpPr>
          <p:nvPr>
            <p:ph idx="1"/>
          </p:nvPr>
        </p:nvSpPr>
        <p:spPr/>
        <p:txBody>
          <a:bodyPr/>
          <a:lstStyle/>
          <a:p>
            <a:r>
              <a:rPr lang="en-IE" altLang="en-US"/>
              <a:t>Identify two or three metrics that identify outcomes</a:t>
            </a:r>
          </a:p>
        </p:txBody>
      </p:sp>
    </p:spTree>
    <p:extLst>
      <p:ext uri="{BB962C8B-B14F-4D97-AF65-F5344CB8AC3E}">
        <p14:creationId xmlns:p14="http://schemas.microsoft.com/office/powerpoint/2010/main" val="2007701369"/>
      </p:ext>
    </p:extLst>
  </p:cSld>
  <p:clrMapOvr>
    <a:masterClrMapping/>
  </p:clrMapOvr>
  <mc:AlternateContent xmlns:mc="http://schemas.openxmlformats.org/markup-compatibility/2006" xmlns:p14="http://schemas.microsoft.com/office/powerpoint/2010/main">
    <mc:Choice Requires="p14">
      <p:transition spd="slow" p14:dur="2000" advTm="10337"/>
    </mc:Choice>
    <mc:Fallback xmlns="">
      <p:transition spd="slow" advTm="1033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en-US"/>
              <a:t>Metrics</a:t>
            </a:r>
          </a:p>
        </p:txBody>
      </p:sp>
      <p:sp>
        <p:nvSpPr>
          <p:cNvPr id="59395" name="Rectangle 3"/>
          <p:cNvSpPr>
            <a:spLocks noGrp="1" noChangeArrowheads="1"/>
          </p:cNvSpPr>
          <p:nvPr>
            <p:ph type="body" idx="1"/>
          </p:nvPr>
        </p:nvSpPr>
        <p:spPr/>
        <p:txBody>
          <a:bodyPr/>
          <a:lstStyle/>
          <a:p>
            <a:pPr eaLnBrk="1" hangingPunct="1">
              <a:lnSpc>
                <a:spcPct val="90000"/>
              </a:lnSpc>
            </a:pPr>
            <a:r>
              <a:rPr lang="en-US" altLang="en-US"/>
              <a:t>What would be meaningful for a site selling products? </a:t>
            </a:r>
          </a:p>
          <a:p>
            <a:pPr eaLnBrk="1" hangingPunct="1">
              <a:lnSpc>
                <a:spcPct val="90000"/>
              </a:lnSpc>
              <a:buFontTx/>
              <a:buNone/>
            </a:pPr>
            <a:endParaRPr lang="en-US" altLang="en-US"/>
          </a:p>
        </p:txBody>
      </p:sp>
    </p:spTree>
    <p:extLst>
      <p:ext uri="{BB962C8B-B14F-4D97-AF65-F5344CB8AC3E}">
        <p14:creationId xmlns:p14="http://schemas.microsoft.com/office/powerpoint/2010/main" val="2050773070"/>
      </p:ext>
    </p:extLst>
  </p:cSld>
  <p:clrMapOvr>
    <a:masterClrMapping/>
  </p:clrMapOvr>
  <mc:AlternateContent xmlns:mc="http://schemas.openxmlformats.org/markup-compatibility/2006" xmlns:p14="http://schemas.microsoft.com/office/powerpoint/2010/main">
    <mc:Choice Requires="p14">
      <p:transition spd="slow" p14:dur="2000" advTm="7372"/>
    </mc:Choice>
    <mc:Fallback xmlns="">
      <p:transition spd="slow" advTm="737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en-US"/>
              <a:t>Metrics</a:t>
            </a:r>
          </a:p>
        </p:txBody>
      </p:sp>
      <p:sp>
        <p:nvSpPr>
          <p:cNvPr id="61443" name="Rectangle 3"/>
          <p:cNvSpPr>
            <a:spLocks noGrp="1" noChangeArrowheads="1"/>
          </p:cNvSpPr>
          <p:nvPr>
            <p:ph type="body" idx="1"/>
          </p:nvPr>
        </p:nvSpPr>
        <p:spPr/>
        <p:txBody>
          <a:bodyPr/>
          <a:lstStyle/>
          <a:p>
            <a:pPr eaLnBrk="1" hangingPunct="1">
              <a:lnSpc>
                <a:spcPct val="90000"/>
              </a:lnSpc>
            </a:pPr>
            <a:r>
              <a:rPr lang="en-US" altLang="en-US"/>
              <a:t>What would be meaningful for a site selling products? </a:t>
            </a:r>
            <a:r>
              <a:rPr lang="en-US" altLang="en-US" i="1"/>
              <a:t> - </a:t>
            </a:r>
            <a:r>
              <a:rPr lang="en-US" altLang="en-US" i="1">
                <a:solidFill>
                  <a:srgbClr val="FF0000"/>
                </a:solidFill>
              </a:rPr>
              <a:t>sales per visit?  </a:t>
            </a:r>
          </a:p>
          <a:p>
            <a:pPr eaLnBrk="1" hangingPunct="1">
              <a:lnSpc>
                <a:spcPct val="90000"/>
              </a:lnSpc>
              <a:buFontTx/>
              <a:buNone/>
            </a:pPr>
            <a:endParaRPr lang="en-US" altLang="en-US"/>
          </a:p>
        </p:txBody>
      </p:sp>
    </p:spTree>
    <p:extLst>
      <p:ext uri="{BB962C8B-B14F-4D97-AF65-F5344CB8AC3E}">
        <p14:creationId xmlns:p14="http://schemas.microsoft.com/office/powerpoint/2010/main" val="1425056979"/>
      </p:ext>
    </p:extLst>
  </p:cSld>
  <p:clrMapOvr>
    <a:masterClrMapping/>
  </p:clrMapOvr>
  <mc:AlternateContent xmlns:mc="http://schemas.openxmlformats.org/markup-compatibility/2006" xmlns:p14="http://schemas.microsoft.com/office/powerpoint/2010/main">
    <mc:Choice Requires="p14">
      <p:transition spd="slow" p14:dur="2000" advTm="3071"/>
    </mc:Choice>
    <mc:Fallback xmlns="">
      <p:transition spd="slow" advTm="307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a:t>Key Metrics</a:t>
            </a:r>
          </a:p>
        </p:txBody>
      </p:sp>
      <p:sp>
        <p:nvSpPr>
          <p:cNvPr id="63492" name="Rectangle 3"/>
          <p:cNvSpPr>
            <a:spLocks noGrp="1" noChangeArrowheads="1"/>
          </p:cNvSpPr>
          <p:nvPr>
            <p:ph type="body" idx="1"/>
          </p:nvPr>
        </p:nvSpPr>
        <p:spPr/>
        <p:txBody>
          <a:bodyPr/>
          <a:lstStyle/>
          <a:p>
            <a:pPr eaLnBrk="1" hangingPunct="1"/>
            <a:r>
              <a:rPr lang="en-US" altLang="en-US"/>
              <a:t>Key metrics are usually a ratio of something measuring an "action" to visits or visitors. </a:t>
            </a:r>
          </a:p>
          <a:p>
            <a:pPr eaLnBrk="1" hangingPunct="1">
              <a:buFontTx/>
              <a:buNone/>
            </a:pPr>
            <a:endParaRPr lang="en-US" altLang="en-US"/>
          </a:p>
          <a:p>
            <a:pPr eaLnBrk="1" hangingPunct="1">
              <a:buFontTx/>
              <a:buNone/>
            </a:pPr>
            <a:endParaRPr lang="en-US" altLang="en-US"/>
          </a:p>
        </p:txBody>
      </p:sp>
    </p:spTree>
    <p:extLst>
      <p:ext uri="{BB962C8B-B14F-4D97-AF65-F5344CB8AC3E}">
        <p14:creationId xmlns:p14="http://schemas.microsoft.com/office/powerpoint/2010/main" val="1655952144"/>
      </p:ext>
    </p:extLst>
  </p:cSld>
  <p:clrMapOvr>
    <a:masterClrMapping/>
  </p:clrMapOvr>
  <mc:AlternateContent xmlns:mc="http://schemas.openxmlformats.org/markup-compatibility/2006" xmlns:p14="http://schemas.microsoft.com/office/powerpoint/2010/main">
    <mc:Choice Requires="p14">
      <p:transition spd="slow" p14:dur="2000" advTm="9909"/>
    </mc:Choice>
    <mc:Fallback xmlns="">
      <p:transition spd="slow" advTm="990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414338" y="303213"/>
            <a:ext cx="8229600" cy="1143000"/>
          </a:xfrm>
        </p:spPr>
        <p:txBody>
          <a:bodyPr/>
          <a:lstStyle/>
          <a:p>
            <a:pPr eaLnBrk="1" hangingPunct="1"/>
            <a:r>
              <a:rPr lang="en-US" altLang="en-US"/>
              <a:t>Key Metrics Examples</a:t>
            </a:r>
          </a:p>
        </p:txBody>
      </p:sp>
      <p:sp>
        <p:nvSpPr>
          <p:cNvPr id="65540" name="Rectangle 3"/>
          <p:cNvSpPr>
            <a:spLocks noGrp="1" noChangeArrowheads="1"/>
          </p:cNvSpPr>
          <p:nvPr>
            <p:ph type="body" idx="1"/>
          </p:nvPr>
        </p:nvSpPr>
        <p:spPr/>
        <p:txBody>
          <a:bodyPr/>
          <a:lstStyle/>
          <a:p>
            <a:pPr eaLnBrk="1" hangingPunct="1"/>
            <a:r>
              <a:rPr lang="en-US" altLang="en-US"/>
              <a:t>What % of visits signed up for the newsletter? </a:t>
            </a:r>
          </a:p>
          <a:p>
            <a:pPr eaLnBrk="1" hangingPunct="1"/>
            <a:r>
              <a:rPr lang="en-US" altLang="en-US"/>
              <a:t>What % of visits lasted were &gt; 20 mins?  </a:t>
            </a:r>
          </a:p>
          <a:p>
            <a:pPr eaLnBrk="1" hangingPunct="1"/>
            <a:r>
              <a:rPr lang="en-US" altLang="en-US"/>
              <a:t>What % of visits viewed &gt; 10 pages? </a:t>
            </a:r>
          </a:p>
          <a:p>
            <a:pPr eaLnBrk="1" hangingPunct="1">
              <a:buFontTx/>
              <a:buNone/>
            </a:pPr>
            <a:endParaRPr lang="en-US" altLang="en-US"/>
          </a:p>
        </p:txBody>
      </p:sp>
    </p:spTree>
    <p:extLst>
      <p:ext uri="{BB962C8B-B14F-4D97-AF65-F5344CB8AC3E}">
        <p14:creationId xmlns:p14="http://schemas.microsoft.com/office/powerpoint/2010/main" val="581206982"/>
      </p:ext>
    </p:extLst>
  </p:cSld>
  <p:clrMapOvr>
    <a:masterClrMapping/>
  </p:clrMapOvr>
  <mc:AlternateContent xmlns:mc="http://schemas.openxmlformats.org/markup-compatibility/2006" xmlns:p14="http://schemas.microsoft.com/office/powerpoint/2010/main">
    <mc:Choice Requires="p14">
      <p:transition spd="slow" p14:dur="2000" advTm="20373"/>
    </mc:Choice>
    <mc:Fallback xmlns="">
      <p:transition spd="slow" advTm="2037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pPr eaLnBrk="1" hangingPunct="1"/>
            <a:r>
              <a:rPr lang="en-US" altLang="en-US"/>
              <a:t>Know what you are measuring</a:t>
            </a:r>
          </a:p>
        </p:txBody>
      </p:sp>
      <p:sp>
        <p:nvSpPr>
          <p:cNvPr id="67588" name="Rectangle 3"/>
          <p:cNvSpPr>
            <a:spLocks noGrp="1" noChangeArrowheads="1"/>
          </p:cNvSpPr>
          <p:nvPr>
            <p:ph type="body" idx="1"/>
          </p:nvPr>
        </p:nvSpPr>
        <p:spPr/>
        <p:txBody>
          <a:bodyPr/>
          <a:lstStyle/>
          <a:p>
            <a:pPr eaLnBrk="1" hangingPunct="1"/>
            <a:r>
              <a:rPr lang="en-US" altLang="en-US" sz="2400"/>
              <a:t>E.g., if you want to study sales per visit, do you want to include visits from spiders and robots</a:t>
            </a:r>
          </a:p>
          <a:p>
            <a:pPr eaLnBrk="1" hangingPunct="1"/>
            <a:r>
              <a:rPr lang="en-US" altLang="en-US" sz="2400"/>
              <a:t>  If you include these visits, you artificially decrease your sales per visit.  </a:t>
            </a:r>
          </a:p>
        </p:txBody>
      </p:sp>
    </p:spTree>
    <p:extLst>
      <p:ext uri="{BB962C8B-B14F-4D97-AF65-F5344CB8AC3E}">
        <p14:creationId xmlns:p14="http://schemas.microsoft.com/office/powerpoint/2010/main" val="3728057173"/>
      </p:ext>
    </p:extLst>
  </p:cSld>
  <p:clrMapOvr>
    <a:masterClrMapping/>
  </p:clrMapOvr>
  <mc:AlternateContent xmlns:mc="http://schemas.openxmlformats.org/markup-compatibility/2006" xmlns:p14="http://schemas.microsoft.com/office/powerpoint/2010/main">
    <mc:Choice Requires="p14">
      <p:transition spd="slow" p14:dur="2000" advTm="25219"/>
    </mc:Choice>
    <mc:Fallback xmlns="">
      <p:transition spd="slow" advTm="2521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en-US"/>
              <a:t>Break into Segments</a:t>
            </a:r>
          </a:p>
        </p:txBody>
      </p:sp>
      <p:sp>
        <p:nvSpPr>
          <p:cNvPr id="69635" name="Rectangle 3"/>
          <p:cNvSpPr>
            <a:spLocks noGrp="1" noChangeArrowheads="1"/>
          </p:cNvSpPr>
          <p:nvPr>
            <p:ph type="body" idx="1"/>
          </p:nvPr>
        </p:nvSpPr>
        <p:spPr/>
        <p:txBody>
          <a:bodyPr/>
          <a:lstStyle/>
          <a:p>
            <a:pPr eaLnBrk="1" hangingPunct="1"/>
            <a:r>
              <a:rPr lang="en-US" altLang="en-US"/>
              <a:t>So then we starting the </a:t>
            </a:r>
            <a:r>
              <a:rPr lang="en-US" altLang="en-US" b="1"/>
              <a:t>maximize</a:t>
            </a:r>
            <a:r>
              <a:rPr lang="en-US" altLang="en-US"/>
              <a:t> process - instead of looking at the whole site, break into different segments. </a:t>
            </a:r>
          </a:p>
          <a:p>
            <a:pPr eaLnBrk="1" hangingPunct="1"/>
            <a:r>
              <a:rPr lang="en-US" altLang="en-US"/>
              <a:t>Sales per visit by search engine,</a:t>
            </a:r>
          </a:p>
          <a:p>
            <a:pPr eaLnBrk="1" hangingPunct="1"/>
            <a:r>
              <a:rPr lang="en-US" altLang="en-US"/>
              <a:t>Sales by pay-per-click ads </a:t>
            </a:r>
          </a:p>
          <a:p>
            <a:pPr eaLnBrk="1" hangingPunct="1"/>
            <a:r>
              <a:rPr lang="en-US" altLang="en-US"/>
              <a:t>Some products on the home page produced higher sales per visit than others.  And so on. </a:t>
            </a:r>
          </a:p>
        </p:txBody>
      </p:sp>
    </p:spTree>
    <p:extLst>
      <p:ext uri="{BB962C8B-B14F-4D97-AF65-F5344CB8AC3E}">
        <p14:creationId xmlns:p14="http://schemas.microsoft.com/office/powerpoint/2010/main" val="974525871"/>
      </p:ext>
    </p:extLst>
  </p:cSld>
  <p:clrMapOvr>
    <a:masterClrMapping/>
  </p:clrMapOvr>
  <mc:AlternateContent xmlns:mc="http://schemas.openxmlformats.org/markup-compatibility/2006" xmlns:p14="http://schemas.microsoft.com/office/powerpoint/2010/main">
    <mc:Choice Requires="p14">
      <p:transition spd="slow" p14:dur="2000" advTm="19284"/>
    </mc:Choice>
    <mc:Fallback xmlns="">
      <p:transition spd="slow" advTm="1928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pPr eaLnBrk="1" hangingPunct="1"/>
            <a:r>
              <a:rPr lang="en-US" altLang="en-US"/>
              <a:t>Know what you are measuring</a:t>
            </a:r>
          </a:p>
        </p:txBody>
      </p:sp>
      <p:sp>
        <p:nvSpPr>
          <p:cNvPr id="71684" name="Rectangle 3"/>
          <p:cNvSpPr>
            <a:spLocks noGrp="1" noChangeArrowheads="1"/>
          </p:cNvSpPr>
          <p:nvPr>
            <p:ph type="body" idx="1"/>
          </p:nvPr>
        </p:nvSpPr>
        <p:spPr/>
        <p:txBody>
          <a:bodyPr/>
          <a:lstStyle/>
          <a:p>
            <a:pPr eaLnBrk="1" hangingPunct="1">
              <a:buFontTx/>
              <a:buNone/>
            </a:pPr>
            <a:r>
              <a:rPr lang="en-US" altLang="en-US" sz="2400"/>
              <a:t>  </a:t>
            </a:r>
          </a:p>
          <a:p>
            <a:pPr eaLnBrk="1" hangingPunct="1"/>
            <a:r>
              <a:rPr lang="en-US" altLang="en-US" sz="2400"/>
              <a:t>Use data from the same time period for each part of the metric - a day, a week, a month.  </a:t>
            </a:r>
          </a:p>
          <a:p>
            <a:pPr eaLnBrk="1" hangingPunct="1"/>
            <a:r>
              <a:rPr lang="en-US" altLang="en-US" sz="2400"/>
              <a:t>Otherwise comparing them and looking for trends does not work.</a:t>
            </a:r>
          </a:p>
        </p:txBody>
      </p:sp>
    </p:spTree>
    <p:extLst>
      <p:ext uri="{BB962C8B-B14F-4D97-AF65-F5344CB8AC3E}">
        <p14:creationId xmlns:p14="http://schemas.microsoft.com/office/powerpoint/2010/main" val="3914434051"/>
      </p:ext>
    </p:extLst>
  </p:cSld>
  <p:clrMapOvr>
    <a:masterClrMapping/>
  </p:clrMapOvr>
  <mc:AlternateContent xmlns:mc="http://schemas.openxmlformats.org/markup-compatibility/2006" xmlns:p14="http://schemas.microsoft.com/office/powerpoint/2010/main">
    <mc:Choice Requires="p14">
      <p:transition spd="slow" p14:dur="2000" advTm="24736"/>
    </mc:Choice>
    <mc:Fallback xmlns="">
      <p:transition spd="slow" advTm="2473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pPr eaLnBrk="1" hangingPunct="1"/>
            <a:r>
              <a:rPr lang="en-US" altLang="en-US" b="1"/>
              <a:t>Get Continuous</a:t>
            </a:r>
          </a:p>
        </p:txBody>
      </p:sp>
      <p:sp>
        <p:nvSpPr>
          <p:cNvPr id="73732" name="Rectangle 3"/>
          <p:cNvSpPr>
            <a:spLocks noGrp="1" noChangeArrowheads="1"/>
          </p:cNvSpPr>
          <p:nvPr>
            <p:ph type="body" idx="1"/>
          </p:nvPr>
        </p:nvSpPr>
        <p:spPr/>
        <p:txBody>
          <a:bodyPr/>
          <a:lstStyle/>
          <a:p>
            <a:pPr eaLnBrk="1" hangingPunct="1">
              <a:lnSpc>
                <a:spcPct val="90000"/>
              </a:lnSpc>
            </a:pPr>
            <a:endParaRPr lang="en-US" altLang="en-US" sz="2000"/>
          </a:p>
          <a:p>
            <a:pPr eaLnBrk="1" hangingPunct="1">
              <a:lnSpc>
                <a:spcPct val="90000"/>
              </a:lnSpc>
            </a:pPr>
            <a:r>
              <a:rPr lang="en-US" altLang="en-US" sz="2000"/>
              <a:t>How do you use metrics?  Measure, manage, maximize.  First you measure &amp; track to see where you are.  </a:t>
            </a:r>
          </a:p>
          <a:p>
            <a:pPr eaLnBrk="1" hangingPunct="1">
              <a:lnSpc>
                <a:spcPct val="90000"/>
              </a:lnSpc>
            </a:pPr>
            <a:r>
              <a:rPr lang="en-US" altLang="en-US" sz="2000"/>
              <a:t>Then you try to manage the metric by making changes to the site - when you make changes, did the metric get better or worse?  </a:t>
            </a:r>
          </a:p>
        </p:txBody>
      </p:sp>
    </p:spTree>
    <p:extLst>
      <p:ext uri="{BB962C8B-B14F-4D97-AF65-F5344CB8AC3E}">
        <p14:creationId xmlns:p14="http://schemas.microsoft.com/office/powerpoint/2010/main" val="3558230111"/>
      </p:ext>
    </p:extLst>
  </p:cSld>
  <p:clrMapOvr>
    <a:masterClrMapping/>
  </p:clrMapOvr>
  <mc:AlternateContent xmlns:mc="http://schemas.openxmlformats.org/markup-compatibility/2006" xmlns:p14="http://schemas.microsoft.com/office/powerpoint/2010/main">
    <mc:Choice Requires="p14">
      <p:transition spd="slow" p14:dur="2000" advTm="21632"/>
    </mc:Choice>
    <mc:Fallback xmlns="">
      <p:transition spd="slow" advTm="2163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solidFill>
            <a:schemeClr val="accent1"/>
          </a:solidFill>
        </p:spPr>
        <p:txBody>
          <a:bodyPr/>
          <a:lstStyle/>
          <a:p>
            <a:r>
              <a:rPr lang="en-GB" altLang="en-US"/>
              <a:t> </a:t>
            </a:r>
          </a:p>
        </p:txBody>
      </p:sp>
      <p:sp>
        <p:nvSpPr>
          <p:cNvPr id="23555" name="Content Placeholder 2"/>
          <p:cNvSpPr>
            <a:spLocks noGrp="1"/>
          </p:cNvSpPr>
          <p:nvPr>
            <p:ph idx="1"/>
          </p:nvPr>
        </p:nvSpPr>
        <p:spPr>
          <a:xfrm>
            <a:off x="1336040" y="3225800"/>
            <a:ext cx="7366000" cy="3378200"/>
          </a:xfrm>
        </p:spPr>
        <p:txBody>
          <a:bodyPr/>
          <a:lstStyle/>
          <a:p>
            <a:r>
              <a:rPr lang="en-GB" altLang="en-US" dirty="0"/>
              <a:t>Have a fast, functional, mobile-friendly website</a:t>
            </a:r>
          </a:p>
          <a:p>
            <a:pPr lvl="1"/>
            <a:r>
              <a:rPr lang="en-GB" altLang="en-US" dirty="0"/>
              <a:t>There are 8.3 billion people on the planet and 7.2 billion subscriptions. </a:t>
            </a:r>
          </a:p>
          <a:p>
            <a:pPr lvl="1"/>
            <a:r>
              <a:rPr lang="en-GB" altLang="en-US" dirty="0"/>
              <a:t>What's your excuse for not spending a few dollars making your site mobile-friendly?</a:t>
            </a:r>
          </a:p>
          <a:p>
            <a:endParaRPr lang="en-GB" altLang="en-US" dirty="0"/>
          </a:p>
        </p:txBody>
      </p:sp>
      <p:pic>
        <p:nvPicPr>
          <p:cNvPr id="23557"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063" y="68263"/>
            <a:ext cx="4981575" cy="299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64255"/>
    </mc:Choice>
    <mc:Fallback xmlns="">
      <p:transition spd="slow" advTm="6425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altLang="en-US"/>
              <a:t>Heat Map</a:t>
            </a:r>
          </a:p>
        </p:txBody>
      </p:sp>
      <p:sp>
        <p:nvSpPr>
          <p:cNvPr id="28676" name="Rectangle 3"/>
          <p:cNvSpPr>
            <a:spLocks noGrp="1" noChangeArrowheads="1"/>
          </p:cNvSpPr>
          <p:nvPr>
            <p:ph type="body" idx="1"/>
          </p:nvPr>
        </p:nvSpPr>
        <p:spPr/>
        <p:txBody>
          <a:bodyPr/>
          <a:lstStyle/>
          <a:p>
            <a:pPr eaLnBrk="1" hangingPunct="1"/>
            <a:r>
              <a:rPr lang="en-US" altLang="en-US"/>
              <a:t>shows which links visitors </a:t>
            </a:r>
            <a:r>
              <a:rPr lang="en-US" altLang="en-US" b="1"/>
              <a:t>click</a:t>
            </a:r>
            <a:r>
              <a:rPr lang="en-US" altLang="en-US"/>
              <a:t> the most</a:t>
            </a:r>
          </a:p>
          <a:p>
            <a:pPr eaLnBrk="1" hangingPunct="1"/>
            <a:r>
              <a:rPr lang="en-US" altLang="en-US"/>
              <a:t>It is the cluster of clicks on a web page and their density by using colours – the brighter the colour, the more clicks</a:t>
            </a:r>
          </a:p>
        </p:txBody>
      </p:sp>
    </p:spTree>
  </p:cSld>
  <p:clrMapOvr>
    <a:masterClrMapping/>
  </p:clrMapOvr>
  <mc:AlternateContent xmlns:mc="http://schemas.openxmlformats.org/markup-compatibility/2006" xmlns:p14="http://schemas.microsoft.com/office/powerpoint/2010/main">
    <mc:Choice Requires="p14">
      <p:transition spd="slow" p14:dur="2000" advTm="26033"/>
    </mc:Choice>
    <mc:Fallback xmlns="">
      <p:transition spd="slow" advTm="2603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miter lim="800000"/>
            <a:headEnd/>
            <a:tailEnd/>
          </a:ln>
        </p:spPr>
        <p:style>
          <a:lnRef idx="0">
            <a:scrgbClr r="0" g="0" b="0"/>
          </a:lnRef>
          <a:fillRef idx="1002">
            <a:schemeClr val="lt1"/>
          </a:fillRef>
          <a:effectRef idx="0">
            <a:scrgbClr r="0" g="0" b="0"/>
          </a:effectRef>
          <a:fontRef idx="major"/>
        </p:style>
        <p:txBody>
          <a:bodyPr/>
          <a:lstStyle/>
          <a:p>
            <a:pPr>
              <a:defRPr/>
            </a:pPr>
            <a:r>
              <a:rPr lang="en-IE" dirty="0"/>
              <a:t> </a:t>
            </a:r>
          </a:p>
        </p:txBody>
      </p:sp>
      <p:pic>
        <p:nvPicPr>
          <p:cNvPr id="30725" name="Content Placeholder 4" descr="Circle_With_Dot.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58975" y="1887538"/>
            <a:ext cx="4935538" cy="3860800"/>
          </a:xfrm>
        </p:spPr>
      </p:pic>
      <p:sp>
        <p:nvSpPr>
          <p:cNvPr id="30727" name="TextBox 5"/>
          <p:cNvSpPr txBox="1">
            <a:spLocks noChangeArrowheads="1"/>
          </p:cNvSpPr>
          <p:nvPr/>
        </p:nvSpPr>
        <p:spPr bwMode="auto">
          <a:xfrm>
            <a:off x="290513" y="1930400"/>
            <a:ext cx="25955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defRPr>
            </a:lvl9pPr>
          </a:lstStyle>
          <a:p>
            <a:pPr eaLnBrk="1" hangingPunct="1">
              <a:spcBef>
                <a:spcPct val="0"/>
              </a:spcBef>
              <a:buFontTx/>
              <a:buNone/>
            </a:pPr>
            <a:r>
              <a:rPr lang="en-IE" altLang="en-US" sz="3600">
                <a:latin typeface="Arial" panose="020B0604020202020204" pitchFamily="34" charset="0"/>
              </a:rPr>
              <a:t>Clickstream</a:t>
            </a:r>
          </a:p>
        </p:txBody>
      </p:sp>
      <p:sp>
        <p:nvSpPr>
          <p:cNvPr id="30728" name="TextBox 6"/>
          <p:cNvSpPr txBox="1">
            <a:spLocks noChangeArrowheads="1"/>
          </p:cNvSpPr>
          <p:nvPr/>
        </p:nvSpPr>
        <p:spPr bwMode="auto">
          <a:xfrm>
            <a:off x="0" y="3395663"/>
            <a:ext cx="17748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defRPr>
            </a:lvl9pPr>
          </a:lstStyle>
          <a:p>
            <a:pPr eaLnBrk="1" hangingPunct="1">
              <a:spcBef>
                <a:spcPct val="0"/>
              </a:spcBef>
              <a:buFontTx/>
              <a:buNone/>
            </a:pPr>
            <a:r>
              <a:rPr lang="en-IE" altLang="en-US" sz="3600">
                <a:latin typeface="Arial" panose="020B0604020202020204" pitchFamily="34" charset="0"/>
              </a:rPr>
              <a:t>Insights</a:t>
            </a:r>
          </a:p>
        </p:txBody>
      </p:sp>
      <p:sp>
        <p:nvSpPr>
          <p:cNvPr id="8" name="Right Arrow 7"/>
          <p:cNvSpPr/>
          <p:nvPr/>
        </p:nvSpPr>
        <p:spPr>
          <a:xfrm>
            <a:off x="2003425" y="3265488"/>
            <a:ext cx="2060575" cy="7556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E"/>
          </a:p>
        </p:txBody>
      </p:sp>
    </p:spTree>
  </p:cSld>
  <p:clrMapOvr>
    <a:masterClrMapping/>
  </p:clrMapOvr>
  <mc:AlternateContent xmlns:mc="http://schemas.openxmlformats.org/markup-compatibility/2006" xmlns:p14="http://schemas.microsoft.com/office/powerpoint/2010/main">
    <mc:Choice Requires="p14">
      <p:transition spd="slow" p14:dur="2000" advTm="23942"/>
    </mc:Choice>
    <mc:Fallback xmlns="">
      <p:transition spd="slow" advTm="2394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IE" altLang="en-US"/>
              <a:t>Your Audience is not a Monolith</a:t>
            </a:r>
          </a:p>
        </p:txBody>
      </p:sp>
      <p:pic>
        <p:nvPicPr>
          <p:cNvPr id="31748" name="Content Placeholder 6" descr="penguins2.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54163" y="1600200"/>
            <a:ext cx="6035675" cy="4264025"/>
          </a:xfrm>
        </p:spPr>
      </p:pic>
    </p:spTree>
  </p:cSld>
  <p:clrMapOvr>
    <a:masterClrMapping/>
  </p:clrMapOvr>
  <mc:AlternateContent xmlns:mc="http://schemas.openxmlformats.org/markup-compatibility/2006" xmlns:p14="http://schemas.microsoft.com/office/powerpoint/2010/main">
    <mc:Choice Requires="p14">
      <p:transition spd="slow" p14:dur="2000" advTm="23735"/>
    </mc:Choice>
    <mc:Fallback xmlns="">
      <p:transition spd="slow" advTm="2373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IE" altLang="en-US"/>
              <a:t>Why come to Site?</a:t>
            </a:r>
          </a:p>
        </p:txBody>
      </p:sp>
      <p:sp>
        <p:nvSpPr>
          <p:cNvPr id="32771" name="Content Placeholder 2"/>
          <p:cNvSpPr>
            <a:spLocks noGrp="1"/>
          </p:cNvSpPr>
          <p:nvPr>
            <p:ph idx="1"/>
          </p:nvPr>
        </p:nvSpPr>
        <p:spPr/>
        <p:txBody>
          <a:bodyPr/>
          <a:lstStyle/>
          <a:p>
            <a:r>
              <a:rPr lang="en-IE" altLang="en-US"/>
              <a:t>Examples:</a:t>
            </a:r>
          </a:p>
          <a:p>
            <a:r>
              <a:rPr lang="en-IE" altLang="en-US"/>
              <a:t>?</a:t>
            </a:r>
          </a:p>
        </p:txBody>
      </p:sp>
    </p:spTree>
  </p:cSld>
  <p:clrMapOvr>
    <a:masterClrMapping/>
  </p:clrMapOvr>
  <mc:AlternateContent xmlns:mc="http://schemas.openxmlformats.org/markup-compatibility/2006" xmlns:p14="http://schemas.microsoft.com/office/powerpoint/2010/main">
    <mc:Choice Requires="p14">
      <p:transition spd="slow" p14:dur="2000" advTm="10089"/>
    </mc:Choice>
    <mc:Fallback xmlns="">
      <p:transition spd="slow" advTm="1008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IE" altLang="en-US"/>
              <a:t>Why come to Site?</a:t>
            </a:r>
          </a:p>
        </p:txBody>
      </p:sp>
      <p:sp>
        <p:nvSpPr>
          <p:cNvPr id="33795" name="Content Placeholder 2"/>
          <p:cNvSpPr>
            <a:spLocks noGrp="1"/>
          </p:cNvSpPr>
          <p:nvPr>
            <p:ph idx="1"/>
          </p:nvPr>
        </p:nvSpPr>
        <p:spPr/>
        <p:txBody>
          <a:bodyPr/>
          <a:lstStyle/>
          <a:p>
            <a:r>
              <a:rPr lang="en-IE" altLang="en-US"/>
              <a:t>Examples:</a:t>
            </a:r>
          </a:p>
          <a:p>
            <a:pPr>
              <a:buFontTx/>
              <a:buAutoNum type="arabicPeriod"/>
            </a:pPr>
            <a:r>
              <a:rPr lang="en-IE" altLang="en-US"/>
              <a:t>Purchase a Product</a:t>
            </a:r>
          </a:p>
          <a:p>
            <a:pPr>
              <a:buFontTx/>
              <a:buAutoNum type="arabicPeriod"/>
            </a:pPr>
            <a:r>
              <a:rPr lang="en-IE" altLang="en-US"/>
              <a:t>Product or Service Support</a:t>
            </a:r>
          </a:p>
          <a:p>
            <a:pPr>
              <a:buFontTx/>
              <a:buAutoNum type="arabicPeriod"/>
            </a:pPr>
            <a:r>
              <a:rPr lang="en-IE" altLang="en-US"/>
              <a:t>Register my Product</a:t>
            </a:r>
          </a:p>
          <a:p>
            <a:pPr>
              <a:buFontTx/>
              <a:buAutoNum type="arabicPeriod"/>
            </a:pPr>
            <a:r>
              <a:rPr lang="en-IE" altLang="en-US"/>
              <a:t>Check Order Status</a:t>
            </a:r>
          </a:p>
        </p:txBody>
      </p:sp>
    </p:spTree>
  </p:cSld>
  <p:clrMapOvr>
    <a:masterClrMapping/>
  </p:clrMapOvr>
  <mc:AlternateContent xmlns:mc="http://schemas.openxmlformats.org/markup-compatibility/2006" xmlns:p14="http://schemas.microsoft.com/office/powerpoint/2010/main">
    <mc:Choice Requires="p14">
      <p:transition spd="slow" p14:dur="2000" advTm="20790"/>
    </mc:Choice>
    <mc:Fallback xmlns="">
      <p:transition spd="slow" advTm="2079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IE" altLang="en-US"/>
              <a:t>You are not Alone</a:t>
            </a:r>
          </a:p>
        </p:txBody>
      </p:sp>
      <p:pic>
        <p:nvPicPr>
          <p:cNvPr id="34820" name="Content Placeholder 6" descr="polar-bear1.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59013" y="1493838"/>
            <a:ext cx="4508500" cy="4419600"/>
          </a:xfrm>
        </p:spPr>
      </p:pic>
    </p:spTree>
  </p:cSld>
  <p:clrMapOvr>
    <a:masterClrMapping/>
  </p:clrMapOvr>
  <mc:AlternateContent xmlns:mc="http://schemas.openxmlformats.org/markup-compatibility/2006" xmlns:p14="http://schemas.microsoft.com/office/powerpoint/2010/main">
    <mc:Choice Requires="p14">
      <p:transition spd="slow" p14:dur="2000" advTm="13958"/>
    </mc:Choice>
    <mc:Fallback xmlns="">
      <p:transition spd="slow" advTm="13958"/>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IE" altLang="en-US"/>
              <a:t>You are not Alone</a:t>
            </a:r>
          </a:p>
        </p:txBody>
      </p:sp>
      <p:pic>
        <p:nvPicPr>
          <p:cNvPr id="35844" name="Content Placeholder 6" descr="polar-bear1.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59013" y="1493838"/>
            <a:ext cx="4508500" cy="4419600"/>
          </a:xfrm>
        </p:spPr>
      </p:pic>
      <p:sp>
        <p:nvSpPr>
          <p:cNvPr id="35845" name="TextBox 4"/>
          <p:cNvSpPr txBox="1">
            <a:spLocks noChangeArrowheads="1"/>
          </p:cNvSpPr>
          <p:nvPr/>
        </p:nvSpPr>
        <p:spPr bwMode="auto">
          <a:xfrm>
            <a:off x="508000" y="1814513"/>
            <a:ext cx="1495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defRPr>
            </a:lvl9pPr>
          </a:lstStyle>
          <a:p>
            <a:pPr eaLnBrk="1" hangingPunct="1">
              <a:spcBef>
                <a:spcPct val="0"/>
              </a:spcBef>
              <a:buFontTx/>
              <a:buNone/>
            </a:pPr>
            <a:r>
              <a:rPr lang="en-IE" altLang="en-US" sz="2000">
                <a:latin typeface="Arial" panose="020B0604020202020204" pitchFamily="34" charset="0"/>
              </a:rPr>
              <a:t>Competitor Intelligence</a:t>
            </a:r>
          </a:p>
        </p:txBody>
      </p:sp>
    </p:spTree>
  </p:cSld>
  <p:clrMapOvr>
    <a:masterClrMapping/>
  </p:clrMapOvr>
  <mc:AlternateContent xmlns:mc="http://schemas.openxmlformats.org/markup-compatibility/2006" xmlns:p14="http://schemas.microsoft.com/office/powerpoint/2010/main">
    <mc:Choice Requires="p14">
      <p:transition spd="slow" p14:dur="2000" advTm="38827"/>
    </mc:Choice>
    <mc:Fallback xmlns="">
      <p:transition spd="slow" advTm="38827"/>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ltLang="en-US"/>
              <a:t> </a:t>
            </a:r>
          </a:p>
        </p:txBody>
      </p:sp>
      <p:sp>
        <p:nvSpPr>
          <p:cNvPr id="19460" name="Rectangle 3"/>
          <p:cNvSpPr>
            <a:spLocks noGrp="1" noChangeArrowheads="1"/>
          </p:cNvSpPr>
          <p:nvPr>
            <p:ph type="body" idx="1"/>
          </p:nvPr>
        </p:nvSpPr>
        <p:spPr/>
        <p:txBody>
          <a:bodyPr/>
          <a:lstStyle/>
          <a:p>
            <a:pPr eaLnBrk="1" hangingPunct="1">
              <a:buFontTx/>
              <a:buNone/>
            </a:pPr>
            <a:r>
              <a:rPr lang="en-US" altLang="en-US" dirty="0"/>
              <a:t> </a:t>
            </a:r>
          </a:p>
        </p:txBody>
      </p:sp>
      <p:sp>
        <p:nvSpPr>
          <p:cNvPr id="14342" name="Text Box 5"/>
          <p:cNvSpPr txBox="1">
            <a:spLocks noChangeArrowheads="1"/>
          </p:cNvSpPr>
          <p:nvPr/>
        </p:nvSpPr>
        <p:spPr bwMode="auto">
          <a:xfrm>
            <a:off x="1885950" y="1941513"/>
            <a:ext cx="5876925"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a:solidFill>
                  <a:schemeClr val="tx1"/>
                </a:solidFill>
                <a:latin typeface="Verdana" pitchFamily="34" charset="0"/>
              </a:defRPr>
            </a:lvl4pPr>
            <a:lvl5pPr marL="2057400" indent="-228600" eaLnBrk="0" hangingPunct="0">
              <a:spcBef>
                <a:spcPct val="20000"/>
              </a:spcBef>
              <a:buChar char="»"/>
              <a:defRPr>
                <a:solidFill>
                  <a:schemeClr val="tx1"/>
                </a:solidFill>
                <a:latin typeface="Verdana" pitchFamily="34" charset="0"/>
              </a:defRPr>
            </a:lvl5pPr>
            <a:lvl6pPr marL="2514600" indent="-228600" eaLnBrk="0" fontAlgn="base" hangingPunct="0">
              <a:spcBef>
                <a:spcPct val="20000"/>
              </a:spcBef>
              <a:spcAft>
                <a:spcPct val="0"/>
              </a:spcAft>
              <a:buChar char="»"/>
              <a:defRPr>
                <a:solidFill>
                  <a:schemeClr val="tx1"/>
                </a:solidFill>
                <a:latin typeface="Verdana" pitchFamily="34" charset="0"/>
              </a:defRPr>
            </a:lvl6pPr>
            <a:lvl7pPr marL="2971800" indent="-228600" eaLnBrk="0" fontAlgn="base" hangingPunct="0">
              <a:spcBef>
                <a:spcPct val="20000"/>
              </a:spcBef>
              <a:spcAft>
                <a:spcPct val="0"/>
              </a:spcAft>
              <a:buChar char="»"/>
              <a:defRPr>
                <a:solidFill>
                  <a:schemeClr val="tx1"/>
                </a:solidFill>
                <a:latin typeface="Verdana" pitchFamily="34" charset="0"/>
              </a:defRPr>
            </a:lvl7pPr>
            <a:lvl8pPr marL="3429000" indent="-228600" eaLnBrk="0" fontAlgn="base" hangingPunct="0">
              <a:spcBef>
                <a:spcPct val="20000"/>
              </a:spcBef>
              <a:spcAft>
                <a:spcPct val="0"/>
              </a:spcAft>
              <a:buChar char="»"/>
              <a:defRPr>
                <a:solidFill>
                  <a:schemeClr val="tx1"/>
                </a:solidFill>
                <a:latin typeface="Verdana" pitchFamily="34" charset="0"/>
              </a:defRPr>
            </a:lvl8pPr>
            <a:lvl9pPr marL="3886200" indent="-228600" eaLnBrk="0" fontAlgn="base" hangingPunct="0">
              <a:spcBef>
                <a:spcPct val="20000"/>
              </a:spcBef>
              <a:spcAft>
                <a:spcPct val="0"/>
              </a:spcAft>
              <a:buChar char="»"/>
              <a:defRPr>
                <a:solidFill>
                  <a:schemeClr val="tx1"/>
                </a:solidFill>
                <a:latin typeface="Verdana" pitchFamily="34" charset="0"/>
              </a:defRPr>
            </a:lvl9pPr>
          </a:lstStyle>
          <a:p>
            <a:pPr eaLnBrk="1" hangingPunct="1">
              <a:spcBef>
                <a:spcPct val="0"/>
              </a:spcBef>
              <a:buFontTx/>
              <a:buNone/>
              <a:defRPr/>
            </a:pPr>
            <a:endParaRPr lang="en-US" altLang="en-US" sz="2000" dirty="0">
              <a:latin typeface="Arial" pitchFamily="34" charset="0"/>
            </a:endParaRPr>
          </a:p>
          <a:p>
            <a:pPr eaLnBrk="1" hangingPunct="1">
              <a:spcBef>
                <a:spcPct val="0"/>
              </a:spcBef>
              <a:buFontTx/>
              <a:buNone/>
              <a:defRPr/>
            </a:pPr>
            <a:r>
              <a:rPr lang="en-GB" sz="1600" dirty="0" err="1"/>
              <a:t>Avinash</a:t>
            </a:r>
            <a:r>
              <a:rPr lang="en-GB" sz="1600" dirty="0"/>
              <a:t> Kaushik, </a:t>
            </a:r>
            <a:r>
              <a:rPr lang="en-GB" sz="1600" dirty="0">
                <a:solidFill>
                  <a:schemeClr val="accent3">
                    <a:lumMod val="65000"/>
                  </a:schemeClr>
                </a:solidFill>
              </a:rPr>
              <a:t>Digital Marketing Evangelist – Google</a:t>
            </a:r>
          </a:p>
          <a:p>
            <a:pPr eaLnBrk="1" hangingPunct="1">
              <a:spcBef>
                <a:spcPct val="0"/>
              </a:spcBef>
              <a:buFontTx/>
              <a:buNone/>
              <a:defRPr/>
            </a:pPr>
            <a:endParaRPr lang="en-GB" sz="1600" dirty="0">
              <a:solidFill>
                <a:schemeClr val="accent3">
                  <a:lumMod val="65000"/>
                </a:schemeClr>
              </a:solidFill>
            </a:endParaRPr>
          </a:p>
          <a:p>
            <a:pPr eaLnBrk="1" hangingPunct="1">
              <a:spcBef>
                <a:spcPct val="0"/>
              </a:spcBef>
              <a:buFontTx/>
              <a:buNone/>
              <a:defRPr/>
            </a:pPr>
            <a:r>
              <a:rPr lang="en-GB" sz="1600" dirty="0">
                <a:solidFill>
                  <a:schemeClr val="accent3">
                    <a:lumMod val="65000"/>
                  </a:schemeClr>
                </a:solidFill>
                <a:hlinkClick r:id="rId3"/>
              </a:rPr>
              <a:t>Video</a:t>
            </a:r>
            <a:endParaRPr lang="en-GB" sz="1600" dirty="0">
              <a:solidFill>
                <a:schemeClr val="accent3">
                  <a:lumMod val="65000"/>
                </a:schemeClr>
              </a:solidFill>
            </a:endParaRPr>
          </a:p>
          <a:p>
            <a:pPr eaLnBrk="1" hangingPunct="1">
              <a:spcBef>
                <a:spcPct val="0"/>
              </a:spcBef>
              <a:buFontTx/>
              <a:buNone/>
              <a:defRPr/>
            </a:pPr>
            <a:r>
              <a:rPr lang="en-GB" sz="1600" dirty="0">
                <a:solidFill>
                  <a:schemeClr val="accent3">
                    <a:lumMod val="65000"/>
                  </a:schemeClr>
                </a:solidFill>
                <a:hlinkClick r:id="rId4"/>
              </a:rPr>
              <a:t>https://www.youtube.com/watch?v=_s-9mIQyJto</a:t>
            </a:r>
            <a:endParaRPr lang="en-GB" sz="1600" dirty="0">
              <a:solidFill>
                <a:schemeClr val="accent3">
                  <a:lumMod val="65000"/>
                </a:schemeClr>
              </a:solidFill>
            </a:endParaRPr>
          </a:p>
          <a:p>
            <a:pPr eaLnBrk="1" hangingPunct="1">
              <a:spcBef>
                <a:spcPct val="0"/>
              </a:spcBef>
              <a:buFontTx/>
              <a:buNone/>
              <a:defRPr/>
            </a:pPr>
            <a:endParaRPr lang="en-GB" sz="1600" dirty="0">
              <a:solidFill>
                <a:schemeClr val="accent3">
                  <a:lumMod val="65000"/>
                </a:schemeClr>
              </a:solidFill>
            </a:endParaRPr>
          </a:p>
          <a:p>
            <a:pPr eaLnBrk="1" hangingPunct="1">
              <a:spcBef>
                <a:spcPct val="0"/>
              </a:spcBef>
              <a:buFontTx/>
              <a:buNone/>
              <a:defRPr/>
            </a:pPr>
            <a:r>
              <a:rPr lang="en-GB" sz="1600" dirty="0">
                <a:solidFill>
                  <a:schemeClr val="accent3">
                    <a:lumMod val="65000"/>
                  </a:schemeClr>
                </a:solidFill>
              </a:rPr>
              <a:t>http://www.kaushik.net/avinash/</a:t>
            </a:r>
          </a:p>
          <a:p>
            <a:pPr eaLnBrk="1" hangingPunct="1">
              <a:spcBef>
                <a:spcPct val="0"/>
              </a:spcBef>
              <a:buFontTx/>
              <a:buNone/>
              <a:defRPr/>
            </a:pPr>
            <a:endParaRPr lang="en-GB" sz="1600" dirty="0">
              <a:solidFill>
                <a:schemeClr val="accent3">
                  <a:lumMod val="65000"/>
                </a:schemeClr>
              </a:solidFill>
            </a:endParaRPr>
          </a:p>
          <a:p>
            <a:pPr eaLnBrk="1" hangingPunct="1">
              <a:spcBef>
                <a:spcPct val="0"/>
              </a:spcBef>
              <a:buFontTx/>
              <a:buNone/>
              <a:defRPr/>
            </a:pPr>
            <a:endParaRPr lang="en-IE" altLang="en-US" sz="1600" dirty="0">
              <a:latin typeface="Arial" pitchFamily="34" charset="0"/>
            </a:endParaRPr>
          </a:p>
        </p:txBody>
      </p:sp>
    </p:spTree>
    <p:extLst>
      <p:ext uri="{BB962C8B-B14F-4D97-AF65-F5344CB8AC3E}">
        <p14:creationId xmlns:p14="http://schemas.microsoft.com/office/powerpoint/2010/main" val="543684292"/>
      </p:ext>
    </p:extLst>
  </p:cSld>
  <p:clrMapOvr>
    <a:masterClrMapping/>
  </p:clrMapOvr>
  <mc:AlternateContent xmlns:mc="http://schemas.openxmlformats.org/markup-compatibility/2006" xmlns:p14="http://schemas.microsoft.com/office/powerpoint/2010/main">
    <mc:Choice Requires="p14">
      <p:transition spd="slow" p14:dur="2000" advTm="95818"/>
    </mc:Choice>
    <mc:Fallback xmlns="">
      <p:transition spd="slow" advTm="95818"/>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pPr>
              <a:defRPr/>
            </a:pPr>
            <a:r>
              <a:rPr lang="en-IE" dirty="0"/>
              <a:t> </a:t>
            </a:r>
          </a:p>
        </p:txBody>
      </p:sp>
      <p:sp>
        <p:nvSpPr>
          <p:cNvPr id="3" name="Content Placeholder 2"/>
          <p:cNvSpPr>
            <a:spLocks noGrp="1"/>
          </p:cNvSpPr>
          <p:nvPr>
            <p:ph idx="1"/>
          </p:nvPr>
        </p:nvSpPr>
        <p:spPr/>
        <p:txBody>
          <a:bodyPr/>
          <a:lstStyle/>
          <a:p>
            <a:pPr>
              <a:defRPr/>
            </a:pPr>
            <a:r>
              <a:rPr lang="en-IE" sz="2400" dirty="0"/>
              <a:t>"Look, it is insanely cheap to fail on the web. It takes little money – comparatively – to try a new advertising medium, or improve your website, or build a mobile app, or try just about anything else. </a:t>
            </a:r>
          </a:p>
          <a:p>
            <a:pPr>
              <a:defRPr/>
            </a:pPr>
            <a:r>
              <a:rPr lang="en-IE" sz="2400" dirty="0"/>
              <a:t>So why look at what the 'benchmarks' say? Let's take a tiny portion of the budget, try things live, learn for our business, and win over time.“</a:t>
            </a:r>
          </a:p>
          <a:p>
            <a:pPr marL="0" indent="0">
              <a:buFontTx/>
              <a:buNone/>
              <a:defRPr/>
            </a:pPr>
            <a:r>
              <a:rPr lang="en-US" sz="2400" dirty="0"/>
              <a:t>	</a:t>
            </a:r>
            <a:r>
              <a:rPr lang="en-US" sz="2400" dirty="0" err="1"/>
              <a:t>Avinash</a:t>
            </a:r>
            <a:r>
              <a:rPr lang="en-US" sz="2400" dirty="0"/>
              <a:t> </a:t>
            </a:r>
            <a:r>
              <a:rPr lang="en-US" sz="2400" dirty="0" err="1"/>
              <a:t>Kaushik</a:t>
            </a:r>
            <a:endParaRPr lang="en-US" sz="2400" dirty="0"/>
          </a:p>
          <a:p>
            <a:pPr>
              <a:defRPr/>
            </a:pPr>
            <a:endParaRPr lang="en-IE" sz="2400" dirty="0"/>
          </a:p>
        </p:txBody>
      </p:sp>
    </p:spTree>
    <p:extLst>
      <p:ext uri="{BB962C8B-B14F-4D97-AF65-F5344CB8AC3E}">
        <p14:creationId xmlns:p14="http://schemas.microsoft.com/office/powerpoint/2010/main" val="4269838550"/>
      </p:ext>
    </p:extLst>
  </p:cSld>
  <p:clrMapOvr>
    <a:masterClrMapping/>
  </p:clrMapOvr>
  <mc:AlternateContent xmlns:mc="http://schemas.openxmlformats.org/markup-compatibility/2006" xmlns:p14="http://schemas.microsoft.com/office/powerpoint/2010/main">
    <mc:Choice Requires="p14">
      <p:transition spd="slow" p14:dur="2000" advTm="53628"/>
    </mc:Choice>
    <mc:Fallback xmlns="">
      <p:transition spd="slow" advTm="53628"/>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Avinash</a:t>
            </a:r>
            <a:r>
              <a:rPr lang="en-GB" dirty="0"/>
              <a:t> Kaushik</a:t>
            </a:r>
            <a:endParaRPr lang="en-IE" dirty="0"/>
          </a:p>
        </p:txBody>
      </p:sp>
      <p:sp>
        <p:nvSpPr>
          <p:cNvPr id="3" name="Content Placeholder 2"/>
          <p:cNvSpPr>
            <a:spLocks noGrp="1"/>
          </p:cNvSpPr>
          <p:nvPr>
            <p:ph idx="1"/>
          </p:nvPr>
        </p:nvSpPr>
        <p:spPr/>
        <p:txBody>
          <a:bodyPr/>
          <a:lstStyle/>
          <a:p>
            <a:r>
              <a:rPr lang="en-IE" dirty="0"/>
              <a:t>“</a:t>
            </a:r>
            <a:r>
              <a:rPr lang="en-IE" i="1" dirty="0"/>
              <a:t>we tend to be logical, and we often treat data output as the end when in reality the data output is just the start of the process that results in actions that deliver business impact.”</a:t>
            </a:r>
          </a:p>
        </p:txBody>
      </p:sp>
    </p:spTree>
    <p:extLst>
      <p:ext uri="{BB962C8B-B14F-4D97-AF65-F5344CB8AC3E}">
        <p14:creationId xmlns:p14="http://schemas.microsoft.com/office/powerpoint/2010/main" val="4048287407"/>
      </p:ext>
    </p:extLst>
  </p:cSld>
  <p:clrMapOvr>
    <a:masterClrMapping/>
  </p:clrMapOvr>
  <mc:AlternateContent xmlns:mc="http://schemas.openxmlformats.org/markup-compatibility/2006" xmlns:p14="http://schemas.microsoft.com/office/powerpoint/2010/main">
    <mc:Choice Requires="p14">
      <p:transition spd="slow" p14:dur="2000" advTm="21857"/>
    </mc:Choice>
    <mc:Fallback xmlns="">
      <p:transition spd="slow" advTm="2185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a:t>Digital Marketing &amp; Measurement Model.</a:t>
            </a:r>
            <a:endParaRPr lang="en-IE" dirty="0"/>
          </a:p>
        </p:txBody>
      </p:sp>
      <p:sp>
        <p:nvSpPr>
          <p:cNvPr id="3" name="Content Placeholder 2"/>
          <p:cNvSpPr>
            <a:spLocks noGrp="1"/>
          </p:cNvSpPr>
          <p:nvPr>
            <p:ph idx="1"/>
          </p:nvPr>
        </p:nvSpPr>
        <p:spPr/>
        <p:txBody>
          <a:bodyPr/>
          <a:lstStyle/>
          <a:p>
            <a:r>
              <a:rPr lang="en-IE" dirty="0"/>
              <a:t>“If you don't know where you are going, any road will take you there and you'll be miserable when you arrive.” </a:t>
            </a:r>
            <a:r>
              <a:rPr lang="en-IE" dirty="0" err="1"/>
              <a:t>Avanish</a:t>
            </a:r>
            <a:endParaRPr lang="en-IE" dirty="0"/>
          </a:p>
          <a:p>
            <a:endParaRPr lang="en-IE" dirty="0"/>
          </a:p>
          <a:p>
            <a:r>
              <a:rPr lang="en-IE" dirty="0"/>
              <a:t>Objectives | Goals | KPIs | Targets | Segments.</a:t>
            </a:r>
          </a:p>
        </p:txBody>
      </p:sp>
    </p:spTree>
    <p:extLst>
      <p:ext uri="{BB962C8B-B14F-4D97-AF65-F5344CB8AC3E}">
        <p14:creationId xmlns:p14="http://schemas.microsoft.com/office/powerpoint/2010/main" val="1057856494"/>
      </p:ext>
    </p:extLst>
  </p:cSld>
  <p:clrMapOvr>
    <a:masterClrMapping/>
  </p:clrMapOvr>
  <mc:AlternateContent xmlns:mc="http://schemas.openxmlformats.org/markup-compatibility/2006" xmlns:p14="http://schemas.microsoft.com/office/powerpoint/2010/main">
    <mc:Choice Requires="p14">
      <p:transition spd="slow" p14:dur="2000" advTm="37642"/>
    </mc:Choice>
    <mc:Fallback xmlns="">
      <p:transition spd="slow" advTm="37642"/>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 </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58952" y="558800"/>
            <a:ext cx="7927848" cy="5359425"/>
          </a:xfrm>
        </p:spPr>
      </p:pic>
      <p:sp>
        <p:nvSpPr>
          <p:cNvPr id="6" name="TextBox 5"/>
          <p:cNvSpPr txBox="1"/>
          <p:nvPr/>
        </p:nvSpPr>
        <p:spPr>
          <a:xfrm>
            <a:off x="50799" y="5977469"/>
            <a:ext cx="2319738" cy="461665"/>
          </a:xfrm>
          <a:prstGeom prst="rect">
            <a:avLst/>
          </a:prstGeom>
          <a:noFill/>
        </p:spPr>
        <p:txBody>
          <a:bodyPr wrap="none" rtlCol="0">
            <a:spAutoFit/>
          </a:bodyPr>
          <a:lstStyle/>
          <a:p>
            <a:r>
              <a:rPr lang="en-IE" sz="2400" dirty="0"/>
              <a:t>Kohl’s Analytics</a:t>
            </a:r>
          </a:p>
        </p:txBody>
      </p:sp>
    </p:spTree>
    <p:extLst>
      <p:ext uri="{BB962C8B-B14F-4D97-AF65-F5344CB8AC3E}">
        <p14:creationId xmlns:p14="http://schemas.microsoft.com/office/powerpoint/2010/main" val="1157109983"/>
      </p:ext>
    </p:extLst>
  </p:cSld>
  <p:clrMapOvr>
    <a:masterClrMapping/>
  </p:clrMapOvr>
  <mc:AlternateContent xmlns:mc="http://schemas.openxmlformats.org/markup-compatibility/2006" xmlns:p14="http://schemas.microsoft.com/office/powerpoint/2010/main">
    <mc:Choice Requires="p14">
      <p:transition spd="slow" p14:dur="2000" advTm="69494"/>
    </mc:Choice>
    <mc:Fallback xmlns="">
      <p:transition spd="slow" advTm="6949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 </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491067"/>
            <a:ext cx="7772400" cy="5571066"/>
          </a:xfrm>
        </p:spPr>
      </p:pic>
    </p:spTree>
    <p:extLst>
      <p:ext uri="{BB962C8B-B14F-4D97-AF65-F5344CB8AC3E}">
        <p14:creationId xmlns:p14="http://schemas.microsoft.com/office/powerpoint/2010/main" val="1017675466"/>
      </p:ext>
    </p:extLst>
  </p:cSld>
  <p:clrMapOvr>
    <a:masterClrMapping/>
  </p:clrMapOvr>
  <mc:AlternateContent xmlns:mc="http://schemas.openxmlformats.org/markup-compatibility/2006" xmlns:p14="http://schemas.microsoft.com/office/powerpoint/2010/main">
    <mc:Choice Requires="p14">
      <p:transition spd="slow" p14:dur="2000" advTm="74438"/>
    </mc:Choice>
    <mc:Fallback xmlns="">
      <p:transition spd="slow" advTm="74438"/>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GB" altLang="en-US"/>
              <a:t>Context</a:t>
            </a:r>
          </a:p>
        </p:txBody>
      </p:sp>
      <p:pic>
        <p:nvPicPr>
          <p:cNvPr id="36867"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88913" y="1160463"/>
            <a:ext cx="7265987" cy="5303837"/>
          </a:xfrm>
        </p:spPr>
      </p:pic>
    </p:spTree>
  </p:cSld>
  <p:clrMapOvr>
    <a:masterClrMapping/>
  </p:clrMapOvr>
  <mc:AlternateContent xmlns:mc="http://schemas.openxmlformats.org/markup-compatibility/2006" xmlns:p14="http://schemas.microsoft.com/office/powerpoint/2010/main">
    <mc:Choice Requires="p14">
      <p:transition spd="slow" p14:dur="2000" advTm="14007"/>
    </mc:Choice>
    <mc:Fallback xmlns="">
      <p:transition spd="slow" advTm="14007"/>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GB" altLang="en-US"/>
              <a:t> </a:t>
            </a:r>
          </a:p>
        </p:txBody>
      </p:sp>
      <p:pic>
        <p:nvPicPr>
          <p:cNvPr id="37891"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369888" y="136525"/>
            <a:ext cx="2771775" cy="1647825"/>
          </a:xfrm>
        </p:spPr>
      </p:pic>
      <p:pic>
        <p:nvPicPr>
          <p:cNvPr id="37893"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5263" y="1665288"/>
            <a:ext cx="6286500" cy="22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4513263" y="4441825"/>
            <a:ext cx="3775075" cy="1568450"/>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eaLnBrk="1" hangingPunct="1">
              <a:defRPr/>
            </a:pPr>
            <a:r>
              <a:rPr lang="en-GB" sz="3200" dirty="0">
                <a:solidFill>
                  <a:schemeClr val="accent3">
                    <a:lumMod val="65000"/>
                  </a:schemeClr>
                </a:solidFill>
              </a:rPr>
              <a:t>What can you infer from this? </a:t>
            </a:r>
          </a:p>
          <a:p>
            <a:pPr eaLnBrk="1" hangingPunct="1">
              <a:defRPr/>
            </a:pPr>
            <a:r>
              <a:rPr lang="en-GB" sz="3200" dirty="0">
                <a:solidFill>
                  <a:schemeClr val="accent3">
                    <a:lumMod val="65000"/>
                  </a:schemeClr>
                </a:solidFill>
              </a:rPr>
              <a:t>Almost nothing</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897"/>
    </mc:Choice>
    <mc:Fallback xmlns="">
      <p:transition spd="slow" advTm="3489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GB" altLang="en-US"/>
              <a:t> </a:t>
            </a:r>
          </a:p>
        </p:txBody>
      </p:sp>
      <p:pic>
        <p:nvPicPr>
          <p:cNvPr id="3891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454150" y="1724025"/>
            <a:ext cx="6235700" cy="4278313"/>
          </a:xfrm>
        </p:spPr>
      </p:pic>
      <p:pic>
        <p:nvPicPr>
          <p:cNvPr id="38917" name="Content Placeholder 4"/>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a:xfrm>
            <a:off x="369888" y="136525"/>
            <a:ext cx="2771775" cy="1647825"/>
          </a:xfrm>
        </p:spPr>
      </p:pic>
    </p:spTree>
  </p:cSld>
  <p:clrMapOvr>
    <a:masterClrMapping/>
  </p:clrMapOvr>
  <mc:AlternateContent xmlns:mc="http://schemas.openxmlformats.org/markup-compatibility/2006" xmlns:p14="http://schemas.microsoft.com/office/powerpoint/2010/main">
    <mc:Choice Requires="p14">
      <p:transition spd="slow" p14:dur="2000" advTm="52016"/>
    </mc:Choice>
    <mc:Fallback xmlns="">
      <p:transition spd="slow" advTm="52016"/>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GB" altLang="en-US" b="1"/>
              <a:t> Compare trends over different time periods.</a:t>
            </a:r>
            <a:endParaRPr lang="en-GB" altLang="en-US"/>
          </a:p>
        </p:txBody>
      </p:sp>
      <p:pic>
        <p:nvPicPr>
          <p:cNvPr id="40963"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784225" y="2143125"/>
            <a:ext cx="6911975" cy="4040188"/>
          </a:xfrm>
        </p:spPr>
      </p:pic>
    </p:spTree>
  </p:cSld>
  <p:clrMapOvr>
    <a:masterClrMapping/>
  </p:clrMapOvr>
  <mc:AlternateContent xmlns:mc="http://schemas.openxmlformats.org/markup-compatibility/2006" xmlns:p14="http://schemas.microsoft.com/office/powerpoint/2010/main">
    <mc:Choice Requires="p14">
      <p:transition spd="slow" p14:dur="2000" advTm="46655"/>
    </mc:Choice>
    <mc:Fallback xmlns="">
      <p:transition spd="slow" advTm="46655"/>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GB" altLang="en-US" b="1"/>
              <a:t>Compare trends over different time periods.</a:t>
            </a:r>
            <a:endParaRPr lang="en-GB" altLang="en-US"/>
          </a:p>
        </p:txBody>
      </p:sp>
      <p:pic>
        <p:nvPicPr>
          <p:cNvPr id="41987"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842963" y="2314575"/>
            <a:ext cx="7524750" cy="3708400"/>
          </a:xfrm>
        </p:spPr>
      </p:pic>
    </p:spTree>
  </p:cSld>
  <p:clrMapOvr>
    <a:masterClrMapping/>
  </p:clrMapOvr>
  <mc:AlternateContent xmlns:mc="http://schemas.openxmlformats.org/markup-compatibility/2006" xmlns:p14="http://schemas.microsoft.com/office/powerpoint/2010/main">
    <mc:Choice Requires="p14">
      <p:transition spd="slow" p14:dur="2000" advTm="46850"/>
    </mc:Choice>
    <mc:Fallback xmlns="">
      <p:transition spd="slow" advTm="4685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GB" altLang="en-US"/>
              <a:t>Multi-Channel Attribution</a:t>
            </a:r>
          </a:p>
        </p:txBody>
      </p:sp>
      <p:pic>
        <p:nvPicPr>
          <p:cNvPr id="4301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33375" y="1525588"/>
            <a:ext cx="5268913" cy="46863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013" name="Rectangle 4"/>
          <p:cNvSpPr>
            <a:spLocks noChangeArrowheads="1"/>
          </p:cNvSpPr>
          <p:nvPr/>
        </p:nvSpPr>
        <p:spPr bwMode="auto">
          <a:xfrm>
            <a:off x="5602288" y="2371725"/>
            <a:ext cx="3468687" cy="267811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defRPr>
            </a:lvl9pPr>
          </a:lstStyle>
          <a:p>
            <a:pPr eaLnBrk="1" hangingPunct="1">
              <a:spcBef>
                <a:spcPct val="0"/>
              </a:spcBef>
              <a:buFontTx/>
              <a:buNone/>
            </a:pPr>
            <a:r>
              <a:rPr lang="en-GB" altLang="en-US" sz="2400">
                <a:latin typeface="Arial" panose="020B0604020202020204" pitchFamily="34" charset="0"/>
              </a:rPr>
              <a:t>The primary challenge is that as we switch devices it is increasingly difficult to keep track of the same person as they interface with our digital existence</a:t>
            </a:r>
          </a:p>
        </p:txBody>
      </p:sp>
    </p:spTree>
  </p:cSld>
  <p:clrMapOvr>
    <a:masterClrMapping/>
  </p:clrMapOvr>
  <mc:AlternateContent xmlns:mc="http://schemas.openxmlformats.org/markup-compatibility/2006" xmlns:p14="http://schemas.microsoft.com/office/powerpoint/2010/main">
    <mc:Choice Requires="p14">
      <p:transition spd="slow" p14:dur="2000" advTm="56999"/>
    </mc:Choice>
    <mc:Fallback xmlns="">
      <p:transition spd="slow" advTm="56999"/>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GB" altLang="en-US"/>
              <a:t>FB and Analytics Example</a:t>
            </a:r>
          </a:p>
        </p:txBody>
      </p:sp>
      <p:sp>
        <p:nvSpPr>
          <p:cNvPr id="44035" name="Content Placeholder 2"/>
          <p:cNvSpPr>
            <a:spLocks noGrp="1"/>
          </p:cNvSpPr>
          <p:nvPr>
            <p:ph idx="1"/>
          </p:nvPr>
        </p:nvSpPr>
        <p:spPr>
          <a:xfrm>
            <a:off x="457200" y="1557338"/>
            <a:ext cx="8229600" cy="4525962"/>
          </a:xfrm>
        </p:spPr>
        <p:txBody>
          <a:bodyPr/>
          <a:lstStyle/>
          <a:p>
            <a:r>
              <a:rPr lang="en-GB" altLang="en-US" sz="2400" dirty="0"/>
              <a:t>Here's a summary of a FB case study</a:t>
            </a:r>
          </a:p>
          <a:p>
            <a:r>
              <a:rPr lang="en-GB" altLang="en-US" sz="2400" dirty="0"/>
              <a:t> </a:t>
            </a:r>
            <a:r>
              <a:rPr lang="en-GB" altLang="en-US" sz="2400" b="1" dirty="0"/>
              <a:t>1.</a:t>
            </a:r>
            <a:r>
              <a:rPr lang="en-GB" altLang="en-US" sz="2400" dirty="0"/>
              <a:t> Client posted a video of a soon to be released product on their Facebook brand page. </a:t>
            </a:r>
          </a:p>
          <a:p>
            <a:r>
              <a:rPr lang="en-GB" altLang="en-US" sz="2400" b="1" dirty="0"/>
              <a:t>2.</a:t>
            </a:r>
            <a:r>
              <a:rPr lang="en-GB" altLang="en-US" sz="2400" dirty="0"/>
              <a:t> That video got a large no. of Likes.</a:t>
            </a:r>
          </a:p>
          <a:p>
            <a:r>
              <a:rPr lang="en-GB" altLang="en-US" sz="2400" b="1" dirty="0"/>
              <a:t>3.</a:t>
            </a:r>
            <a:r>
              <a:rPr lang="en-GB" altLang="en-US" sz="2400" dirty="0"/>
              <a:t> Client also runs Facebook Promoted Ads for that post. Gets more Likes.</a:t>
            </a:r>
          </a:p>
          <a:p>
            <a:r>
              <a:rPr lang="en-GB" altLang="en-US" sz="2400" b="1" dirty="0"/>
              <a:t>4.</a:t>
            </a:r>
            <a:r>
              <a:rPr lang="en-GB" altLang="en-US" sz="2400" dirty="0"/>
              <a:t> ROI? Assume – huge. It was huge. New product became the number one selling product in the company's history</a:t>
            </a:r>
          </a:p>
          <a:p>
            <a:r>
              <a:rPr lang="en-GB" altLang="en-US" sz="2400" b="1" dirty="0"/>
              <a:t>5.</a:t>
            </a:r>
            <a:r>
              <a:rPr lang="en-GB" altLang="en-US" sz="2400" dirty="0"/>
              <a:t> Facebook works.</a:t>
            </a:r>
          </a:p>
          <a:p>
            <a:endParaRPr lang="en-GB" altLang="en-US" sz="2400" dirty="0"/>
          </a:p>
          <a:p>
            <a:r>
              <a:rPr lang="en-GB" altLang="en-US" sz="1800" dirty="0"/>
              <a:t>http://www.kaushik.net/avinash/facebook-advertising-marketing-best-metrics-roi-business-value/</a:t>
            </a:r>
          </a:p>
        </p:txBody>
      </p:sp>
    </p:spTree>
  </p:cSld>
  <p:clrMapOvr>
    <a:masterClrMapping/>
  </p:clrMapOvr>
  <mc:AlternateContent xmlns:mc="http://schemas.openxmlformats.org/markup-compatibility/2006" xmlns:p14="http://schemas.microsoft.com/office/powerpoint/2010/main">
    <mc:Choice Requires="p14">
      <p:transition spd="slow" p14:dur="2000" advTm="47705"/>
    </mc:Choice>
    <mc:Fallback xmlns="">
      <p:transition spd="slow" advTm="47705"/>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GB" altLang="en-US"/>
              <a:t>Correlation</a:t>
            </a:r>
          </a:p>
        </p:txBody>
      </p:sp>
      <p:sp>
        <p:nvSpPr>
          <p:cNvPr id="45059" name="Content Placeholder 2"/>
          <p:cNvSpPr>
            <a:spLocks noGrp="1"/>
          </p:cNvSpPr>
          <p:nvPr>
            <p:ph idx="1"/>
          </p:nvPr>
        </p:nvSpPr>
        <p:spPr/>
        <p:txBody>
          <a:bodyPr/>
          <a:lstStyle/>
          <a:p>
            <a:r>
              <a:rPr lang="en-GB" altLang="en-US"/>
              <a:t>Conclusion implies a causality that may or may not be there ("the product sales exceeded all internal projections!").</a:t>
            </a:r>
          </a:p>
          <a:p>
            <a:endParaRPr lang="en-GB" altLang="en-US"/>
          </a:p>
        </p:txBody>
      </p:sp>
      <p:pic>
        <p:nvPicPr>
          <p:cNvPr id="4506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263" y="3222625"/>
            <a:ext cx="5307012" cy="25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5062" name="TextBox 4"/>
          <p:cNvSpPr txBox="1">
            <a:spLocks noChangeArrowheads="1"/>
          </p:cNvSpPr>
          <p:nvPr/>
        </p:nvSpPr>
        <p:spPr bwMode="auto">
          <a:xfrm>
            <a:off x="392113" y="6096000"/>
            <a:ext cx="47164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defRPr>
            </a:lvl9pPr>
          </a:lstStyle>
          <a:p>
            <a:pPr eaLnBrk="1" hangingPunct="1">
              <a:spcBef>
                <a:spcPct val="0"/>
              </a:spcBef>
              <a:buFontTx/>
              <a:buNone/>
            </a:pPr>
            <a:r>
              <a:rPr lang="en-GB" altLang="en-US" sz="1600">
                <a:latin typeface="Arial" panose="020B0604020202020204" pitchFamily="34" charset="0"/>
              </a:rPr>
              <a:t>http://www.kaushik.net/avinash/facebook-advertising-marketing-best-metrics-roi-business-value/</a:t>
            </a:r>
          </a:p>
        </p:txBody>
      </p:sp>
    </p:spTree>
  </p:cSld>
  <p:clrMapOvr>
    <a:masterClrMapping/>
  </p:clrMapOvr>
  <mc:AlternateContent xmlns:mc="http://schemas.openxmlformats.org/markup-compatibility/2006" xmlns:p14="http://schemas.microsoft.com/office/powerpoint/2010/main">
    <mc:Choice Requires="p14">
      <p:transition spd="slow" p14:dur="2000" advTm="29345"/>
    </mc:Choice>
    <mc:Fallback xmlns="">
      <p:transition spd="slow" advTm="29345"/>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GB" altLang="en-US"/>
              <a:t>Correlations don't imply causality</a:t>
            </a:r>
          </a:p>
        </p:txBody>
      </p:sp>
      <p:sp>
        <p:nvSpPr>
          <p:cNvPr id="46083" name="Content Placeholder 2"/>
          <p:cNvSpPr>
            <a:spLocks noGrp="1"/>
          </p:cNvSpPr>
          <p:nvPr>
            <p:ph idx="1"/>
          </p:nvPr>
        </p:nvSpPr>
        <p:spPr/>
        <p:txBody>
          <a:bodyPr/>
          <a:lstStyle/>
          <a:p>
            <a:r>
              <a:rPr lang="en-GB" altLang="en-US" sz="2400"/>
              <a:t>Completely ignore the question of whether Facebook works. Focus on the fact that this was the launch of a powerful new product via a continent-wide rebranding campaign using massive online and offline media buys.</a:t>
            </a:r>
          </a:p>
          <a:p>
            <a:r>
              <a:rPr lang="en-GB" altLang="en-US" sz="2400"/>
              <a:t>A push on Facebook was a part of that effort.</a:t>
            </a:r>
          </a:p>
          <a:p>
            <a:r>
              <a:rPr lang="en-GB" altLang="en-US" sz="2400"/>
              <a:t>So to imply the ROI in Step 4 is sub-optimal.</a:t>
            </a:r>
          </a:p>
          <a:p>
            <a:r>
              <a:rPr lang="en-GB" altLang="en-US" sz="2400"/>
              <a:t>From the data presented, there is no way to tell if the Facebook campaign worked or not. Even if there were millions of Likes</a:t>
            </a:r>
          </a:p>
        </p:txBody>
      </p:sp>
    </p:spTree>
  </p:cSld>
  <p:clrMapOvr>
    <a:masterClrMapping/>
  </p:clrMapOvr>
  <mc:AlternateContent xmlns:mc="http://schemas.openxmlformats.org/markup-compatibility/2006" xmlns:p14="http://schemas.microsoft.com/office/powerpoint/2010/main">
    <mc:Choice Requires="p14">
      <p:transition spd="slow" p14:dur="2000" advTm="63317"/>
    </mc:Choice>
    <mc:Fallback xmlns="">
      <p:transition spd="slow" advTm="63317"/>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Google Tag Manager</a:t>
            </a:r>
          </a:p>
        </p:txBody>
      </p:sp>
      <p:sp>
        <p:nvSpPr>
          <p:cNvPr id="3" name="Content Placeholder 2"/>
          <p:cNvSpPr>
            <a:spLocks noGrp="1"/>
          </p:cNvSpPr>
          <p:nvPr>
            <p:ph idx="1"/>
          </p:nvPr>
        </p:nvSpPr>
        <p:spPr>
          <a:xfrm>
            <a:off x="457201" y="1600200"/>
            <a:ext cx="4368800" cy="4525963"/>
          </a:xfrm>
        </p:spPr>
        <p:txBody>
          <a:bodyPr/>
          <a:lstStyle/>
          <a:p>
            <a:r>
              <a:rPr lang="en-IE" sz="2400" dirty="0"/>
              <a:t>This is a free tool that makes it easy for marketers to add and update website tags -- including conversion tracking, site analytics, remarketing…just a few clicks, &amp; without needing to edit your website code. </a:t>
            </a:r>
          </a:p>
          <a:p>
            <a:r>
              <a:rPr lang="en-IE" sz="2000" dirty="0"/>
              <a:t>https://support.google.com/tagmanager/answer/6102821?hl=en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6934" y="1600200"/>
            <a:ext cx="3298296" cy="3886200"/>
          </a:xfrm>
          <a:prstGeom prst="rect">
            <a:avLst/>
          </a:prstGeom>
        </p:spPr>
      </p:pic>
    </p:spTree>
    <p:extLst>
      <p:ext uri="{BB962C8B-B14F-4D97-AF65-F5344CB8AC3E}">
        <p14:creationId xmlns:p14="http://schemas.microsoft.com/office/powerpoint/2010/main" val="100205408"/>
      </p:ext>
    </p:extLst>
  </p:cSld>
  <p:clrMapOvr>
    <a:masterClrMapping/>
  </p:clrMapOvr>
  <mc:AlternateContent xmlns:mc="http://schemas.openxmlformats.org/markup-compatibility/2006" xmlns:p14="http://schemas.microsoft.com/office/powerpoint/2010/main">
    <mc:Choice Requires="p14">
      <p:transition spd="slow" p14:dur="2000" advTm="30111"/>
    </mc:Choice>
    <mc:Fallback xmlns="">
      <p:transition spd="slow" advTm="30111"/>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Tag Manager</a:t>
            </a:r>
          </a:p>
        </p:txBody>
      </p:sp>
      <p:sp>
        <p:nvSpPr>
          <p:cNvPr id="3" name="Content Placeholder 2"/>
          <p:cNvSpPr>
            <a:spLocks noGrp="1"/>
          </p:cNvSpPr>
          <p:nvPr>
            <p:ph idx="1"/>
          </p:nvPr>
        </p:nvSpPr>
        <p:spPr>
          <a:solidFill>
            <a:schemeClr val="accent2">
              <a:lumMod val="20000"/>
              <a:lumOff val="80000"/>
            </a:schemeClr>
          </a:solidFill>
        </p:spPr>
        <p:txBody>
          <a:bodyPr/>
          <a:lstStyle/>
          <a:p>
            <a:r>
              <a:rPr lang="en-GB" dirty="0"/>
              <a:t>Tags are snippets of code on your site that collects data (Google Ads conversion tracking, Google Analytics), target your ad campaigns</a:t>
            </a:r>
          </a:p>
        </p:txBody>
      </p:sp>
    </p:spTree>
    <p:extLst>
      <p:ext uri="{BB962C8B-B14F-4D97-AF65-F5344CB8AC3E}">
        <p14:creationId xmlns:p14="http://schemas.microsoft.com/office/powerpoint/2010/main" val="3653500095"/>
      </p:ext>
    </p:extLst>
  </p:cSld>
  <p:clrMapOvr>
    <a:masterClrMapping/>
  </p:clrMapOvr>
  <mc:AlternateContent xmlns:mc="http://schemas.openxmlformats.org/markup-compatibility/2006" xmlns:p14="http://schemas.microsoft.com/office/powerpoint/2010/main">
    <mc:Choice Requires="p14">
      <p:transition spd="slow" p14:dur="2000" advTm="21074"/>
    </mc:Choice>
    <mc:Fallback xmlns="">
      <p:transition spd="slow" advTm="21074"/>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Tag Manager</a:t>
            </a:r>
          </a:p>
        </p:txBody>
      </p:sp>
      <p:sp>
        <p:nvSpPr>
          <p:cNvPr id="3" name="Content Placeholder 2"/>
          <p:cNvSpPr>
            <a:spLocks noGrp="1"/>
          </p:cNvSpPr>
          <p:nvPr>
            <p:ph idx="1"/>
          </p:nvPr>
        </p:nvSpPr>
        <p:spPr>
          <a:solidFill>
            <a:schemeClr val="accent2">
              <a:lumMod val="20000"/>
              <a:lumOff val="80000"/>
            </a:schemeClr>
          </a:solidFill>
        </p:spPr>
        <p:txBody>
          <a:bodyPr/>
          <a:lstStyle/>
          <a:p>
            <a:r>
              <a:rPr lang="en-GB" dirty="0">
                <a:solidFill>
                  <a:schemeClr val="bg1">
                    <a:lumMod val="50000"/>
                  </a:schemeClr>
                </a:solidFill>
              </a:rPr>
              <a:t>Tags are snippets of code on your site that collects data (Google Ads conversion tracking, Google Analytics), target your ad campaigns (Google Ads remarketing) track ads (Double Click) and perform other functions. </a:t>
            </a:r>
          </a:p>
          <a:p>
            <a:r>
              <a:rPr lang="en-GB" dirty="0"/>
              <a:t>Instead of editing or adding tags to site pages each time you want to change or add functionality, you can let Google Tag Manager do it for you.</a:t>
            </a:r>
          </a:p>
        </p:txBody>
      </p:sp>
    </p:spTree>
    <p:extLst>
      <p:ext uri="{BB962C8B-B14F-4D97-AF65-F5344CB8AC3E}">
        <p14:creationId xmlns:p14="http://schemas.microsoft.com/office/powerpoint/2010/main" val="1674374592"/>
      </p:ext>
    </p:extLst>
  </p:cSld>
  <p:clrMapOvr>
    <a:masterClrMapping/>
  </p:clrMapOvr>
  <mc:AlternateContent xmlns:mc="http://schemas.openxmlformats.org/markup-compatibility/2006" xmlns:p14="http://schemas.microsoft.com/office/powerpoint/2010/main">
    <mc:Choice Requires="p14">
      <p:transition spd="slow" p14:dur="2000" advTm="18139"/>
    </mc:Choice>
    <mc:Fallback xmlns="">
      <p:transition spd="slow" advTm="18139"/>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GB" altLang="en-US" b="1"/>
              <a:t> Digital Marketing Tips</a:t>
            </a:r>
            <a:endParaRPr lang="en-GB" altLang="en-US"/>
          </a:p>
        </p:txBody>
      </p:sp>
      <p:sp>
        <p:nvSpPr>
          <p:cNvPr id="75779" name="Content Placeholder 2"/>
          <p:cNvSpPr>
            <a:spLocks noGrp="1"/>
          </p:cNvSpPr>
          <p:nvPr>
            <p:ph idx="1"/>
          </p:nvPr>
        </p:nvSpPr>
        <p:spPr/>
        <p:txBody>
          <a:bodyPr/>
          <a:lstStyle/>
          <a:p>
            <a:r>
              <a:rPr lang="en-GB" altLang="en-US" sz="2000" b="1"/>
              <a:t>Spend </a:t>
            </a:r>
            <a:r>
              <a:rPr lang="en-GB" altLang="en-US" sz="2000"/>
              <a:t>15% of your Marketing budget, every month, on experimenting with new techniques / channels / ideas.</a:t>
            </a:r>
          </a:p>
          <a:p>
            <a:endParaRPr lang="en-GB" altLang="en-US"/>
          </a:p>
          <a:p>
            <a:endParaRPr lang="en-GB" altLang="en-US"/>
          </a:p>
          <a:p>
            <a:endParaRPr lang="en-GB" altLang="en-US"/>
          </a:p>
          <a:p>
            <a:endParaRPr lang="en-GB" altLang="en-US"/>
          </a:p>
          <a:p>
            <a:endParaRPr lang="en-GB" altLang="en-US"/>
          </a:p>
          <a:p>
            <a:endParaRPr lang="en-GB" altLang="en-US"/>
          </a:p>
          <a:p>
            <a:endParaRPr lang="en-GB" altLang="en-US"/>
          </a:p>
          <a:p>
            <a:endParaRPr lang="en-GB" altLang="en-US"/>
          </a:p>
        </p:txBody>
      </p:sp>
    </p:spTree>
  </p:cSld>
  <p:clrMapOvr>
    <a:masterClrMapping/>
  </p:clrMapOvr>
  <mc:AlternateContent xmlns:mc="http://schemas.openxmlformats.org/markup-compatibility/2006" xmlns:p14="http://schemas.microsoft.com/office/powerpoint/2010/main">
    <mc:Choice Requires="p14">
      <p:transition spd="slow" p14:dur="2000" advTm="21985"/>
    </mc:Choice>
    <mc:Fallback xmlns="">
      <p:transition spd="slow" advTm="21985"/>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3" name="Picture 2" descr="Drilling Down: Turning Customer Data Into Profits With A Spreadsheet">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762000"/>
            <a:ext cx="419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Text Box 3"/>
          <p:cNvSpPr txBox="1">
            <a:spLocks noChangeArrowheads="1"/>
          </p:cNvSpPr>
          <p:nvPr/>
        </p:nvSpPr>
        <p:spPr bwMode="auto">
          <a:xfrm>
            <a:off x="1279525" y="5751513"/>
            <a:ext cx="217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defRPr>
            </a:lvl9pPr>
          </a:lstStyle>
          <a:p>
            <a:pPr eaLnBrk="1" hangingPunct="1">
              <a:spcBef>
                <a:spcPct val="0"/>
              </a:spcBef>
              <a:buFontTx/>
              <a:buNone/>
            </a:pPr>
            <a:r>
              <a:rPr lang="en-US" altLang="en-US" sz="1800" dirty="0">
                <a:latin typeface="Arial" panose="020B0604020202020204" pitchFamily="34" charset="0"/>
              </a:rPr>
              <a:t>www.</a:t>
            </a:r>
            <a:r>
              <a:rPr lang="en-US" altLang="en-US" sz="1800" b="1" dirty="0">
                <a:latin typeface="Arial" panose="020B0604020202020204" pitchFamily="34" charset="0"/>
              </a:rPr>
              <a:t>jimnovo</a:t>
            </a:r>
            <a:r>
              <a:rPr lang="en-US" altLang="en-US" sz="1800" dirty="0">
                <a:latin typeface="Arial" panose="020B0604020202020204" pitchFamily="34" charset="0"/>
              </a:rPr>
              <a:t>.com </a:t>
            </a:r>
          </a:p>
        </p:txBody>
      </p:sp>
    </p:spTree>
  </p:cSld>
  <p:clrMapOvr>
    <a:masterClrMapping/>
  </p:clrMapOvr>
  <mc:AlternateContent xmlns:mc="http://schemas.openxmlformats.org/markup-compatibility/2006" xmlns:p14="http://schemas.microsoft.com/office/powerpoint/2010/main">
    <mc:Choice Requires="p14">
      <p:transition spd="slow" p14:dur="2000" advTm="18431"/>
    </mc:Choice>
    <mc:Fallback xmlns="">
      <p:transition spd="slow" advTm="18431"/>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pPr eaLnBrk="1" hangingPunct="1"/>
            <a:r>
              <a:rPr lang="en-US" altLang="en-US" dirty="0"/>
              <a:t>Customer Promotion Tips</a:t>
            </a:r>
          </a:p>
        </p:txBody>
      </p:sp>
      <p:sp>
        <p:nvSpPr>
          <p:cNvPr id="78852" name="Rectangle 3"/>
          <p:cNvSpPr>
            <a:spLocks noGrp="1" noChangeArrowheads="1"/>
          </p:cNvSpPr>
          <p:nvPr>
            <p:ph type="body" idx="1"/>
          </p:nvPr>
        </p:nvSpPr>
        <p:spPr/>
        <p:txBody>
          <a:bodyPr/>
          <a:lstStyle/>
          <a:p>
            <a:pPr eaLnBrk="1" hangingPunct="1">
              <a:lnSpc>
                <a:spcPct val="90000"/>
              </a:lnSpc>
            </a:pPr>
            <a:r>
              <a:rPr lang="en-US" altLang="en-US" sz="2400"/>
              <a:t>1. If you want buyers, advertise where people buy.</a:t>
            </a:r>
          </a:p>
          <a:p>
            <a:pPr eaLnBrk="1" hangingPunct="1">
              <a:lnSpc>
                <a:spcPct val="90000"/>
              </a:lnSpc>
            </a:pPr>
            <a:r>
              <a:rPr lang="en-US" altLang="en-US" sz="2400"/>
              <a:t>2.  Behaviour of customers from search engines &amp; banner ads is different</a:t>
            </a:r>
          </a:p>
          <a:p>
            <a:pPr eaLnBrk="1" hangingPunct="1">
              <a:lnSpc>
                <a:spcPct val="90000"/>
              </a:lnSpc>
            </a:pPr>
            <a:r>
              <a:rPr lang="en-US" altLang="en-US" sz="2400"/>
              <a:t>3.  50%-60% will be one-time buyers/visitors.  Accept it. </a:t>
            </a:r>
          </a:p>
          <a:p>
            <a:pPr eaLnBrk="1" hangingPunct="1">
              <a:lnSpc>
                <a:spcPct val="90000"/>
              </a:lnSpc>
            </a:pPr>
            <a:r>
              <a:rPr lang="en-US" altLang="en-US" sz="2400"/>
              <a:t>4.  The only chance you have at getting a first-time buyer to purchase again is to contact them quickly after the first purchase.</a:t>
            </a:r>
          </a:p>
          <a:p>
            <a:pPr eaLnBrk="1" hangingPunct="1">
              <a:lnSpc>
                <a:spcPct val="90000"/>
              </a:lnSpc>
              <a:buFontTx/>
              <a:buNone/>
            </a:pPr>
            <a:r>
              <a:rPr lang="en-US" altLang="en-US" sz="1600" i="1"/>
              <a:t>www.</a:t>
            </a:r>
            <a:r>
              <a:rPr lang="en-US" altLang="en-US" sz="1600" b="1" i="1"/>
              <a:t>jimnovo</a:t>
            </a:r>
            <a:r>
              <a:rPr lang="en-US" altLang="en-US" sz="1600" i="1"/>
              <a:t>.com</a:t>
            </a:r>
          </a:p>
        </p:txBody>
      </p:sp>
    </p:spTree>
  </p:cSld>
  <p:clrMapOvr>
    <a:masterClrMapping/>
  </p:clrMapOvr>
  <mc:AlternateContent xmlns:mc="http://schemas.openxmlformats.org/markup-compatibility/2006" xmlns:p14="http://schemas.microsoft.com/office/powerpoint/2010/main">
    <mc:Choice Requires="p14">
      <p:transition spd="slow" p14:dur="2000" advTm="100029"/>
    </mc:Choice>
    <mc:Fallback xmlns="">
      <p:transition spd="slow" advTm="100029"/>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en-US" dirty="0"/>
              <a:t>Customer Promotion Tips</a:t>
            </a:r>
          </a:p>
        </p:txBody>
      </p:sp>
      <p:sp>
        <p:nvSpPr>
          <p:cNvPr id="80899" name="Rectangle 3"/>
          <p:cNvSpPr>
            <a:spLocks noGrp="1" noChangeArrowheads="1"/>
          </p:cNvSpPr>
          <p:nvPr>
            <p:ph type="body" idx="1"/>
          </p:nvPr>
        </p:nvSpPr>
        <p:spPr/>
        <p:txBody>
          <a:bodyPr/>
          <a:lstStyle/>
          <a:p>
            <a:pPr eaLnBrk="1" hangingPunct="1">
              <a:lnSpc>
                <a:spcPct val="90000"/>
              </a:lnSpc>
            </a:pPr>
            <a:r>
              <a:rPr lang="en-US" altLang="en-US" sz="2000" dirty="0"/>
              <a:t>5. One-time buyers who return their only purchase CAN be better marketing targets than those who don't return their purchase </a:t>
            </a:r>
          </a:p>
          <a:p>
            <a:pPr eaLnBrk="1" hangingPunct="1">
              <a:lnSpc>
                <a:spcPct val="90000"/>
              </a:lnSpc>
              <a:buFontTx/>
              <a:buNone/>
            </a:pPr>
            <a:endParaRPr lang="en-US" altLang="en-US" sz="2000" dirty="0"/>
          </a:p>
          <a:p>
            <a:pPr eaLnBrk="1" hangingPunct="1">
              <a:lnSpc>
                <a:spcPct val="90000"/>
              </a:lnSpc>
            </a:pPr>
            <a:r>
              <a:rPr lang="en-US" altLang="en-US" sz="2000" dirty="0"/>
              <a:t>6. Resend a promotion to the same people.  You can often get 50% of the first response rate if the original promotion was a targeted one. </a:t>
            </a:r>
          </a:p>
          <a:p>
            <a:pPr eaLnBrk="1" hangingPunct="1">
              <a:lnSpc>
                <a:spcPct val="90000"/>
              </a:lnSpc>
              <a:buFontTx/>
              <a:buNone/>
            </a:pPr>
            <a:r>
              <a:rPr lang="en-US" altLang="en-US" sz="1400" i="1" dirty="0"/>
              <a:t>www.</a:t>
            </a:r>
            <a:r>
              <a:rPr lang="en-US" altLang="en-US" sz="1400" b="1" i="1" dirty="0"/>
              <a:t>jimnovo</a:t>
            </a:r>
            <a:r>
              <a:rPr lang="en-US" altLang="en-US" sz="1400" i="1" dirty="0"/>
              <a:t>.com</a:t>
            </a:r>
            <a:endParaRPr lang="en-US" altLang="en-US" sz="2000" i="1" dirty="0"/>
          </a:p>
          <a:p>
            <a:pPr eaLnBrk="1" hangingPunct="1">
              <a:lnSpc>
                <a:spcPct val="90000"/>
              </a:lnSpc>
              <a:buFontTx/>
              <a:buNone/>
            </a:pPr>
            <a:endParaRPr lang="en-US" altLang="en-US" sz="2000" dirty="0"/>
          </a:p>
        </p:txBody>
      </p:sp>
    </p:spTree>
  </p:cSld>
  <p:clrMapOvr>
    <a:masterClrMapping/>
  </p:clrMapOvr>
  <mc:AlternateContent xmlns:mc="http://schemas.openxmlformats.org/markup-compatibility/2006" xmlns:p14="http://schemas.microsoft.com/office/powerpoint/2010/main">
    <mc:Choice Requires="p14">
      <p:transition spd="slow" p14:dur="2000" advTm="105176"/>
    </mc:Choice>
    <mc:Fallback xmlns="">
      <p:transition spd="slow" advTm="105176"/>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en-US" altLang="en-US"/>
              <a:t>Customer Behaviour</a:t>
            </a:r>
          </a:p>
        </p:txBody>
      </p:sp>
      <p:sp>
        <p:nvSpPr>
          <p:cNvPr id="84995" name="Rectangle 3"/>
          <p:cNvSpPr>
            <a:spLocks noGrp="1" noChangeArrowheads="1"/>
          </p:cNvSpPr>
          <p:nvPr>
            <p:ph type="body" idx="1"/>
          </p:nvPr>
        </p:nvSpPr>
        <p:spPr/>
        <p:txBody>
          <a:bodyPr/>
          <a:lstStyle/>
          <a:p>
            <a:pPr eaLnBrk="1" hangingPunct="1">
              <a:lnSpc>
                <a:spcPct val="80000"/>
              </a:lnSpc>
            </a:pPr>
            <a:r>
              <a:rPr lang="en-US" altLang="en-US" sz="1800" b="1"/>
              <a:t>Retention Marketing </a:t>
            </a:r>
            <a:r>
              <a:rPr lang="en-US" altLang="en-US" sz="1800"/>
              <a:t>requires allocating marketing resources.  Some marketing activities &amp; customers will generate higher profits than others.    </a:t>
            </a:r>
          </a:p>
          <a:p>
            <a:pPr eaLnBrk="1" hangingPunct="1">
              <a:lnSpc>
                <a:spcPct val="80000"/>
              </a:lnSpc>
              <a:buFontTx/>
              <a:buNone/>
            </a:pPr>
            <a:endParaRPr lang="en-US" altLang="en-US" sz="1800"/>
          </a:p>
          <a:p>
            <a:pPr eaLnBrk="1" hangingPunct="1">
              <a:lnSpc>
                <a:spcPct val="80000"/>
              </a:lnSpc>
            </a:pPr>
            <a:r>
              <a:rPr lang="en-US" altLang="en-US" sz="1800"/>
              <a:t>It means </a:t>
            </a:r>
            <a:r>
              <a:rPr lang="en-US" altLang="en-US" sz="1800" b="1"/>
              <a:t>when you have a choice - </a:t>
            </a:r>
            <a:r>
              <a:rPr lang="en-US" altLang="en-US" sz="1800"/>
              <a:t>instead of spending the same amount of money on every customer, you spend more on some and less on others.  </a:t>
            </a:r>
          </a:p>
          <a:p>
            <a:pPr eaLnBrk="1" hangingPunct="1">
              <a:lnSpc>
                <a:spcPct val="80000"/>
              </a:lnSpc>
            </a:pPr>
            <a:endParaRPr lang="en-US" altLang="en-US" sz="1800"/>
          </a:p>
          <a:p>
            <a:pPr eaLnBrk="1" hangingPunct="1">
              <a:lnSpc>
                <a:spcPct val="80000"/>
              </a:lnSpc>
            </a:pPr>
            <a:r>
              <a:rPr lang="en-US" altLang="en-US" sz="1800"/>
              <a:t>If you allocate marketing $ towards higher ROI efforts, profits will grow even as the marketing budget stays flat. </a:t>
            </a:r>
          </a:p>
          <a:p>
            <a:pPr eaLnBrk="1" hangingPunct="1">
              <a:lnSpc>
                <a:spcPct val="80000"/>
              </a:lnSpc>
              <a:buFontTx/>
              <a:buNone/>
            </a:pPr>
            <a:endParaRPr lang="en-US" altLang="en-US" sz="1800"/>
          </a:p>
          <a:p>
            <a:pPr eaLnBrk="1" hangingPunct="1">
              <a:lnSpc>
                <a:spcPct val="80000"/>
              </a:lnSpc>
            </a:pPr>
            <a:r>
              <a:rPr lang="en-US" altLang="en-US" sz="1800"/>
              <a:t>You have to develop a way to allocate resources to the most profitable promotions, deliver them to the right customer at the right time</a:t>
            </a:r>
          </a:p>
          <a:p>
            <a:pPr eaLnBrk="1" hangingPunct="1">
              <a:lnSpc>
                <a:spcPct val="80000"/>
              </a:lnSpc>
              <a:buFontTx/>
              <a:buNone/>
            </a:pPr>
            <a:endParaRPr lang="en-IE" altLang="en-US" sz="1800"/>
          </a:p>
          <a:p>
            <a:pPr eaLnBrk="1" hangingPunct="1">
              <a:lnSpc>
                <a:spcPct val="80000"/>
              </a:lnSpc>
              <a:buFontTx/>
              <a:buNone/>
            </a:pPr>
            <a:endParaRPr lang="en-US" altLang="en-US" sz="800" i="1"/>
          </a:p>
          <a:p>
            <a:pPr eaLnBrk="1" hangingPunct="1">
              <a:lnSpc>
                <a:spcPct val="80000"/>
              </a:lnSpc>
              <a:buFontTx/>
              <a:buNone/>
            </a:pPr>
            <a:endParaRPr lang="en-US" altLang="en-US" sz="800" i="1"/>
          </a:p>
          <a:p>
            <a:pPr eaLnBrk="1" hangingPunct="1">
              <a:lnSpc>
                <a:spcPct val="80000"/>
              </a:lnSpc>
              <a:buFontTx/>
              <a:buNone/>
            </a:pPr>
            <a:endParaRPr lang="en-US" altLang="en-US" sz="800" i="1"/>
          </a:p>
        </p:txBody>
      </p:sp>
    </p:spTree>
  </p:cSld>
  <p:clrMapOvr>
    <a:masterClrMapping/>
  </p:clrMapOvr>
  <mc:AlternateContent xmlns:mc="http://schemas.openxmlformats.org/markup-compatibility/2006" xmlns:p14="http://schemas.microsoft.com/office/powerpoint/2010/main">
    <mc:Choice Requires="p14">
      <p:transition spd="slow" p14:dur="2000" advTm="32466"/>
    </mc:Choice>
    <mc:Fallback xmlns="">
      <p:transition spd="slow" advTm="32466"/>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en-US" altLang="en-US" sz="2800" b="1"/>
              <a:t>Past and Current Customer Behaviour</a:t>
            </a:r>
          </a:p>
        </p:txBody>
      </p:sp>
      <p:sp>
        <p:nvSpPr>
          <p:cNvPr id="87043" name="Rectangle 3"/>
          <p:cNvSpPr>
            <a:spLocks noGrp="1" noChangeArrowheads="1"/>
          </p:cNvSpPr>
          <p:nvPr>
            <p:ph type="body" idx="1"/>
          </p:nvPr>
        </p:nvSpPr>
        <p:spPr/>
        <p:txBody>
          <a:bodyPr/>
          <a:lstStyle/>
          <a:p>
            <a:pPr eaLnBrk="1" hangingPunct="1"/>
            <a:r>
              <a:rPr lang="en-US" altLang="en-US" sz="2400" b="1"/>
              <a:t>Past and Current customer behavior is the best predictor of Future customer behavior.</a:t>
            </a:r>
          </a:p>
          <a:p>
            <a:pPr eaLnBrk="1" hangingPunct="1">
              <a:buFontTx/>
              <a:buNone/>
            </a:pPr>
            <a:endParaRPr lang="en-US" altLang="en-US" sz="2400" b="1"/>
          </a:p>
        </p:txBody>
      </p:sp>
    </p:spTree>
  </p:cSld>
  <p:clrMapOvr>
    <a:masterClrMapping/>
  </p:clrMapOvr>
  <mc:AlternateContent xmlns:mc="http://schemas.openxmlformats.org/markup-compatibility/2006" xmlns:p14="http://schemas.microsoft.com/office/powerpoint/2010/main">
    <mc:Choice Requires="p14">
      <p:transition spd="slow" p14:dur="2000" advTm="15992"/>
    </mc:Choice>
    <mc:Fallback xmlns="">
      <p:transition spd="slow" advTm="15992"/>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p:txBody>
          <a:bodyPr/>
          <a:lstStyle/>
          <a:p>
            <a:pPr eaLnBrk="1" hangingPunct="1"/>
            <a:r>
              <a:rPr lang="en-US" altLang="en-US" sz="2800" b="1"/>
              <a:t>Past and Current Customer Behaviour</a:t>
            </a:r>
          </a:p>
        </p:txBody>
      </p:sp>
      <p:sp>
        <p:nvSpPr>
          <p:cNvPr id="93188" name="Rectangle 3"/>
          <p:cNvSpPr>
            <a:spLocks noGrp="1" noChangeArrowheads="1"/>
          </p:cNvSpPr>
          <p:nvPr>
            <p:ph type="body" idx="1"/>
          </p:nvPr>
        </p:nvSpPr>
        <p:spPr/>
        <p:txBody>
          <a:bodyPr/>
          <a:lstStyle/>
          <a:p>
            <a:pPr eaLnBrk="1" hangingPunct="1">
              <a:buFontTx/>
              <a:buNone/>
            </a:pPr>
            <a:endParaRPr lang="en-US" altLang="en-US" sz="2400"/>
          </a:p>
          <a:p>
            <a:pPr eaLnBrk="1" hangingPunct="1"/>
            <a:r>
              <a:rPr lang="en-US" altLang="en-US" sz="2400" b="1"/>
              <a:t> Active customers are happy (retained) customers; and they like to "win."</a:t>
            </a:r>
            <a:r>
              <a:rPr lang="en-US" altLang="en-US" sz="2400"/>
              <a:t>  </a:t>
            </a:r>
          </a:p>
          <a:p>
            <a:pPr lvl="1" eaLnBrk="1" hangingPunct="1"/>
            <a:r>
              <a:rPr lang="en-US" altLang="en-US" sz="2000"/>
              <a:t> Promotions encourage interaction of customers </a:t>
            </a:r>
          </a:p>
          <a:p>
            <a:pPr eaLnBrk="1" hangingPunct="1"/>
            <a:r>
              <a:rPr lang="en-US" altLang="en-US" sz="2400" b="1"/>
              <a:t>Retention Marketing is:</a:t>
            </a:r>
          </a:p>
          <a:p>
            <a:pPr eaLnBrk="1" hangingPunct="1">
              <a:buFontTx/>
              <a:buNone/>
            </a:pPr>
            <a:r>
              <a:rPr lang="en-US" altLang="en-US" sz="2400" b="1"/>
              <a:t>		Action – Reaction – Feedback – Repeat. </a:t>
            </a:r>
          </a:p>
          <a:p>
            <a:pPr eaLnBrk="1" hangingPunct="1">
              <a:buFontTx/>
              <a:buNone/>
            </a:pPr>
            <a:endParaRPr lang="en-US" altLang="en-US" sz="2400" b="1"/>
          </a:p>
          <a:p>
            <a:pPr eaLnBrk="1" hangingPunct="1">
              <a:buFontTx/>
              <a:buNone/>
            </a:pPr>
            <a:r>
              <a:rPr lang="en-US" altLang="en-US" sz="2400"/>
              <a:t> Marketing is a conversation &amp; you have to LISTEN to what the customer is saying to you.</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600200"/>
          </a:xfrm>
          <a:gradFill flip="none" rotWithShape="1">
            <a:gsLst>
              <a:gs pos="0">
                <a:srgbClr val="337FCC">
                  <a:shade val="30000"/>
                  <a:satMod val="115000"/>
                </a:srgbClr>
              </a:gs>
              <a:gs pos="50000">
                <a:srgbClr val="337FCC">
                  <a:shade val="67500"/>
                  <a:satMod val="115000"/>
                </a:srgbClr>
              </a:gs>
              <a:gs pos="100000">
                <a:srgbClr val="337FCC">
                  <a:shade val="100000"/>
                  <a:satMod val="115000"/>
                </a:srgbClr>
              </a:gs>
            </a:gsLst>
            <a:lin ang="5400000" scaled="1"/>
            <a:tileRect/>
          </a:gradFill>
        </p:spPr>
        <p:txBody>
          <a:bodyPr/>
          <a:lstStyle/>
          <a:p>
            <a:pPr algn="l"/>
            <a:r>
              <a:rPr lang="en-GB" dirty="0">
                <a:solidFill>
                  <a:schemeClr val="bg1"/>
                </a:solidFill>
              </a:rPr>
              <a:t>Example Ryanair</a:t>
            </a:r>
          </a:p>
        </p:txBody>
      </p:sp>
      <p:sp>
        <p:nvSpPr>
          <p:cNvPr id="3" name="Content Placeholder 2"/>
          <p:cNvSpPr>
            <a:spLocks noGrp="1"/>
          </p:cNvSpPr>
          <p:nvPr>
            <p:ph idx="1"/>
          </p:nvPr>
        </p:nvSpPr>
        <p:spPr>
          <a:xfrm>
            <a:off x="457200" y="1600200"/>
            <a:ext cx="6466113" cy="5133109"/>
          </a:xfrm>
          <a:solidFill>
            <a:srgbClr val="002060">
              <a:alpha val="42000"/>
            </a:srgbClr>
          </a:solidFill>
          <a:ln>
            <a:solidFill>
              <a:schemeClr val="bg1">
                <a:lumMod val="85000"/>
              </a:schemeClr>
            </a:solidFill>
          </a:ln>
        </p:spPr>
        <p:txBody>
          <a:bodyPr/>
          <a:lstStyle/>
          <a:p>
            <a:r>
              <a:rPr lang="en-GB" sz="2400" dirty="0"/>
              <a:t>In 2014 created Ryanair Labs – 20 Euro million/year investment</a:t>
            </a:r>
          </a:p>
          <a:p>
            <a:r>
              <a:rPr lang="en-GB" sz="2400" dirty="0"/>
              <a:t>Decided to bring process of redeveloping Ryanair’s technology in-house</a:t>
            </a:r>
          </a:p>
          <a:p>
            <a:r>
              <a:rPr lang="en-GB" sz="2400" dirty="0"/>
              <a:t>250 IT staff employed</a:t>
            </a:r>
          </a:p>
          <a:p>
            <a:r>
              <a:rPr lang="en-GB" sz="2400" dirty="0"/>
              <a:t>Rebuild website</a:t>
            </a:r>
          </a:p>
          <a:p>
            <a:r>
              <a:rPr lang="en-GB" sz="2400" dirty="0"/>
              <a:t>Developed a way of processing up to 300,000 bookings  day</a:t>
            </a:r>
          </a:p>
          <a:p>
            <a:r>
              <a:rPr lang="en-GB" sz="2400" dirty="0"/>
              <a:t>Average booking time halved from 3min 47 sec to 1min 54 sec</a:t>
            </a:r>
          </a:p>
          <a:p>
            <a:r>
              <a:rPr lang="en-GB" sz="1400" i="1" dirty="0"/>
              <a:t>Source: Irish Times, 22 September 2018, https://www.irishtimes.com/culture/books/inside-ryanair-michael-o-leary-s-making-of-a-nicer-airline-1.3634667</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0" y="441960"/>
            <a:ext cx="2857500" cy="1600200"/>
          </a:xfrm>
          <a:prstGeom prst="rect">
            <a:avLst/>
          </a:prstGeom>
        </p:spPr>
      </p:pic>
      <p:pic>
        <p:nvPicPr>
          <p:cNvPr id="4" name="Picture 3">
            <a:extLst>
              <a:ext uri="{FF2B5EF4-FFF2-40B4-BE49-F238E27FC236}">
                <a16:creationId xmlns:a16="http://schemas.microsoft.com/office/drawing/2014/main" id="{617B8FCA-1F04-E748-BB05-E815A9D5256E}"/>
              </a:ext>
            </a:extLst>
          </p:cNvPr>
          <p:cNvPicPr>
            <a:picLocks noChangeAspect="1"/>
          </p:cNvPicPr>
          <p:nvPr/>
        </p:nvPicPr>
        <p:blipFill>
          <a:blip r:embed="rId3"/>
          <a:stretch>
            <a:fillRect/>
          </a:stretch>
        </p:blipFill>
        <p:spPr>
          <a:xfrm>
            <a:off x="0" y="0"/>
            <a:ext cx="9144000" cy="7284720"/>
          </a:xfrm>
          <a:prstGeom prst="rect">
            <a:avLst/>
          </a:prstGeom>
        </p:spPr>
      </p:pic>
    </p:spTree>
    <p:extLst>
      <p:ext uri="{BB962C8B-B14F-4D97-AF65-F5344CB8AC3E}">
        <p14:creationId xmlns:p14="http://schemas.microsoft.com/office/powerpoint/2010/main" val="1652376477"/>
      </p:ext>
    </p:extLst>
  </p:cSld>
  <p:clrMapOvr>
    <a:masterClrMapping/>
  </p:clrMapOvr>
  <mc:AlternateContent xmlns:mc="http://schemas.openxmlformats.org/markup-compatibility/2006" xmlns:p14="http://schemas.microsoft.com/office/powerpoint/2010/main">
    <mc:Choice Requires="p14">
      <p:transition spd="slow" p14:dur="2000" advTm="41979"/>
    </mc:Choice>
    <mc:Fallback xmlns="">
      <p:transition spd="slow" advTm="41979"/>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Example Ryanair</a:t>
            </a:r>
          </a:p>
        </p:txBody>
      </p:sp>
      <p:sp>
        <p:nvSpPr>
          <p:cNvPr id="3" name="Content Placeholder 2"/>
          <p:cNvSpPr>
            <a:spLocks noGrp="1"/>
          </p:cNvSpPr>
          <p:nvPr>
            <p:ph idx="1"/>
          </p:nvPr>
        </p:nvSpPr>
        <p:spPr>
          <a:xfrm>
            <a:off x="457200" y="1885200"/>
            <a:ext cx="7107382" cy="4693730"/>
          </a:xfrm>
          <a:solidFill>
            <a:schemeClr val="bg2">
              <a:lumMod val="20000"/>
              <a:lumOff val="80000"/>
            </a:schemeClr>
          </a:solidFill>
        </p:spPr>
        <p:txBody>
          <a:bodyPr/>
          <a:lstStyle/>
          <a:p>
            <a:r>
              <a:rPr lang="en-GB" sz="2400" dirty="0"/>
              <a:t>“The opportunity for ancillary revenue though mobile are enormous.” </a:t>
            </a:r>
            <a:r>
              <a:rPr lang="en-GB" sz="1800" i="1" dirty="0"/>
              <a:t>(Hurley, CTO, Ryanair)</a:t>
            </a:r>
            <a:r>
              <a:rPr lang="en-GB" dirty="0"/>
              <a:t>”</a:t>
            </a:r>
          </a:p>
          <a:p>
            <a:r>
              <a:rPr lang="en-GB" sz="2400" dirty="0"/>
              <a:t>All Ryanair customers would automatically become members</a:t>
            </a:r>
          </a:p>
          <a:p>
            <a:r>
              <a:rPr lang="en-GB" sz="2400" dirty="0"/>
              <a:t>Cabin crew given hand held android devices, which would provide data on stock control, and would have customer’s preferences on board</a:t>
            </a:r>
          </a:p>
          <a:p>
            <a:r>
              <a:rPr lang="en-GB" sz="2400" dirty="0"/>
              <a:t>“We see Ryanair becoming a kind of digital supermarket for everything that you need for travel.”</a:t>
            </a:r>
          </a:p>
        </p:txBody>
      </p:sp>
      <p:sp>
        <p:nvSpPr>
          <p:cNvPr id="6" name="Title 1"/>
          <p:cNvSpPr txBox="1">
            <a:spLocks/>
          </p:cNvSpPr>
          <p:nvPr/>
        </p:nvSpPr>
        <p:spPr bwMode="auto">
          <a:xfrm>
            <a:off x="457200" y="0"/>
            <a:ext cx="8229600" cy="1600200"/>
          </a:xfrm>
          <a:prstGeom prst="rect">
            <a:avLst/>
          </a:prstGeom>
          <a:solidFill>
            <a:srgbClr val="337F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rgbClr val="337FCC"/>
                </a:solidFill>
                <a:latin typeface="+mj-lt"/>
                <a:ea typeface="+mj-ea"/>
                <a:cs typeface="+mj-cs"/>
              </a:defRPr>
            </a:lvl1pPr>
            <a:lvl2pPr algn="ctr" rtl="0" eaLnBrk="0" fontAlgn="base" hangingPunct="0">
              <a:spcBef>
                <a:spcPct val="0"/>
              </a:spcBef>
              <a:spcAft>
                <a:spcPct val="0"/>
              </a:spcAft>
              <a:defRPr sz="3200">
                <a:solidFill>
                  <a:srgbClr val="337FCC"/>
                </a:solidFill>
                <a:latin typeface="Arial" charset="0"/>
              </a:defRPr>
            </a:lvl2pPr>
            <a:lvl3pPr algn="ctr" rtl="0" eaLnBrk="0" fontAlgn="base" hangingPunct="0">
              <a:spcBef>
                <a:spcPct val="0"/>
              </a:spcBef>
              <a:spcAft>
                <a:spcPct val="0"/>
              </a:spcAft>
              <a:defRPr sz="3200">
                <a:solidFill>
                  <a:srgbClr val="337FCC"/>
                </a:solidFill>
                <a:latin typeface="Arial" charset="0"/>
              </a:defRPr>
            </a:lvl3pPr>
            <a:lvl4pPr algn="ctr" rtl="0" eaLnBrk="0" fontAlgn="base" hangingPunct="0">
              <a:spcBef>
                <a:spcPct val="0"/>
              </a:spcBef>
              <a:spcAft>
                <a:spcPct val="0"/>
              </a:spcAft>
              <a:defRPr sz="3200">
                <a:solidFill>
                  <a:srgbClr val="337FCC"/>
                </a:solidFill>
                <a:latin typeface="Arial" charset="0"/>
              </a:defRPr>
            </a:lvl4pPr>
            <a:lvl5pPr algn="ctr" rtl="0" eaLnBrk="0" fontAlgn="base" hangingPunct="0">
              <a:spcBef>
                <a:spcPct val="0"/>
              </a:spcBef>
              <a:spcAft>
                <a:spcPct val="0"/>
              </a:spcAft>
              <a:defRPr sz="3200">
                <a:solidFill>
                  <a:srgbClr val="337FCC"/>
                </a:solidFill>
                <a:latin typeface="Arial" charset="0"/>
              </a:defRPr>
            </a:lvl5pPr>
            <a:lvl6pPr marL="457200" algn="ctr" rtl="0" fontAlgn="base">
              <a:spcBef>
                <a:spcPct val="0"/>
              </a:spcBef>
              <a:spcAft>
                <a:spcPct val="0"/>
              </a:spcAft>
              <a:defRPr sz="3200">
                <a:solidFill>
                  <a:srgbClr val="337FCC"/>
                </a:solidFill>
                <a:latin typeface="Arial" charset="0"/>
              </a:defRPr>
            </a:lvl6pPr>
            <a:lvl7pPr marL="914400" algn="ctr" rtl="0" fontAlgn="base">
              <a:spcBef>
                <a:spcPct val="0"/>
              </a:spcBef>
              <a:spcAft>
                <a:spcPct val="0"/>
              </a:spcAft>
              <a:defRPr sz="3200">
                <a:solidFill>
                  <a:srgbClr val="337FCC"/>
                </a:solidFill>
                <a:latin typeface="Arial" charset="0"/>
              </a:defRPr>
            </a:lvl7pPr>
            <a:lvl8pPr marL="1371600" algn="ctr" rtl="0" fontAlgn="base">
              <a:spcBef>
                <a:spcPct val="0"/>
              </a:spcBef>
              <a:spcAft>
                <a:spcPct val="0"/>
              </a:spcAft>
              <a:defRPr sz="3200">
                <a:solidFill>
                  <a:srgbClr val="337FCC"/>
                </a:solidFill>
                <a:latin typeface="Arial" charset="0"/>
              </a:defRPr>
            </a:lvl8pPr>
            <a:lvl9pPr marL="1828800" algn="ctr" rtl="0" fontAlgn="base">
              <a:spcBef>
                <a:spcPct val="0"/>
              </a:spcBef>
              <a:spcAft>
                <a:spcPct val="0"/>
              </a:spcAft>
              <a:defRPr sz="3200">
                <a:solidFill>
                  <a:srgbClr val="337FCC"/>
                </a:solidFill>
                <a:latin typeface="Arial" charset="0"/>
              </a:defRPr>
            </a:lvl9pPr>
          </a:lstStyle>
          <a:p>
            <a:pPr algn="l"/>
            <a:r>
              <a:rPr lang="en-GB" kern="0">
                <a:solidFill>
                  <a:schemeClr val="bg1"/>
                </a:solidFill>
              </a:rPr>
              <a:t>Example Ryanair</a:t>
            </a:r>
            <a:endParaRPr lang="en-GB" kern="0" dirty="0">
              <a:solidFill>
                <a:schemeClr val="bg1"/>
              </a:solidFill>
            </a:endParaRPr>
          </a:p>
        </p:txBody>
      </p:sp>
      <p:sp>
        <p:nvSpPr>
          <p:cNvPr id="7" name="Title 1"/>
          <p:cNvSpPr txBox="1">
            <a:spLocks/>
          </p:cNvSpPr>
          <p:nvPr/>
        </p:nvSpPr>
        <p:spPr bwMode="auto">
          <a:xfrm>
            <a:off x="457200" y="0"/>
            <a:ext cx="8382000" cy="1600200"/>
          </a:xfrm>
          <a:prstGeom prst="rect">
            <a:avLst/>
          </a:prstGeom>
          <a:gradFill flip="none" rotWithShape="1">
            <a:gsLst>
              <a:gs pos="0">
                <a:srgbClr val="337FCC">
                  <a:shade val="30000"/>
                  <a:satMod val="115000"/>
                </a:srgbClr>
              </a:gs>
              <a:gs pos="50000">
                <a:srgbClr val="337FCC">
                  <a:shade val="67500"/>
                  <a:satMod val="115000"/>
                </a:srgbClr>
              </a:gs>
              <a:gs pos="100000">
                <a:srgbClr val="337FCC">
                  <a:shade val="100000"/>
                  <a:satMod val="115000"/>
                </a:srgbClr>
              </a:gs>
            </a:gsLst>
            <a:lin ang="5400000" scaled="1"/>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rgbClr val="337FCC"/>
                </a:solidFill>
                <a:latin typeface="+mj-lt"/>
                <a:ea typeface="+mj-ea"/>
                <a:cs typeface="+mj-cs"/>
              </a:defRPr>
            </a:lvl1pPr>
            <a:lvl2pPr algn="ctr" rtl="0" eaLnBrk="0" fontAlgn="base" hangingPunct="0">
              <a:spcBef>
                <a:spcPct val="0"/>
              </a:spcBef>
              <a:spcAft>
                <a:spcPct val="0"/>
              </a:spcAft>
              <a:defRPr sz="3200">
                <a:solidFill>
                  <a:srgbClr val="337FCC"/>
                </a:solidFill>
                <a:latin typeface="Arial" charset="0"/>
              </a:defRPr>
            </a:lvl2pPr>
            <a:lvl3pPr algn="ctr" rtl="0" eaLnBrk="0" fontAlgn="base" hangingPunct="0">
              <a:spcBef>
                <a:spcPct val="0"/>
              </a:spcBef>
              <a:spcAft>
                <a:spcPct val="0"/>
              </a:spcAft>
              <a:defRPr sz="3200">
                <a:solidFill>
                  <a:srgbClr val="337FCC"/>
                </a:solidFill>
                <a:latin typeface="Arial" charset="0"/>
              </a:defRPr>
            </a:lvl3pPr>
            <a:lvl4pPr algn="ctr" rtl="0" eaLnBrk="0" fontAlgn="base" hangingPunct="0">
              <a:spcBef>
                <a:spcPct val="0"/>
              </a:spcBef>
              <a:spcAft>
                <a:spcPct val="0"/>
              </a:spcAft>
              <a:defRPr sz="3200">
                <a:solidFill>
                  <a:srgbClr val="337FCC"/>
                </a:solidFill>
                <a:latin typeface="Arial" charset="0"/>
              </a:defRPr>
            </a:lvl4pPr>
            <a:lvl5pPr algn="ctr" rtl="0" eaLnBrk="0" fontAlgn="base" hangingPunct="0">
              <a:spcBef>
                <a:spcPct val="0"/>
              </a:spcBef>
              <a:spcAft>
                <a:spcPct val="0"/>
              </a:spcAft>
              <a:defRPr sz="3200">
                <a:solidFill>
                  <a:srgbClr val="337FCC"/>
                </a:solidFill>
                <a:latin typeface="Arial" charset="0"/>
              </a:defRPr>
            </a:lvl5pPr>
            <a:lvl6pPr marL="457200" algn="ctr" rtl="0" fontAlgn="base">
              <a:spcBef>
                <a:spcPct val="0"/>
              </a:spcBef>
              <a:spcAft>
                <a:spcPct val="0"/>
              </a:spcAft>
              <a:defRPr sz="3200">
                <a:solidFill>
                  <a:srgbClr val="337FCC"/>
                </a:solidFill>
                <a:latin typeface="Arial" charset="0"/>
              </a:defRPr>
            </a:lvl6pPr>
            <a:lvl7pPr marL="914400" algn="ctr" rtl="0" fontAlgn="base">
              <a:spcBef>
                <a:spcPct val="0"/>
              </a:spcBef>
              <a:spcAft>
                <a:spcPct val="0"/>
              </a:spcAft>
              <a:defRPr sz="3200">
                <a:solidFill>
                  <a:srgbClr val="337FCC"/>
                </a:solidFill>
                <a:latin typeface="Arial" charset="0"/>
              </a:defRPr>
            </a:lvl7pPr>
            <a:lvl8pPr marL="1371600" algn="ctr" rtl="0" fontAlgn="base">
              <a:spcBef>
                <a:spcPct val="0"/>
              </a:spcBef>
              <a:spcAft>
                <a:spcPct val="0"/>
              </a:spcAft>
              <a:defRPr sz="3200">
                <a:solidFill>
                  <a:srgbClr val="337FCC"/>
                </a:solidFill>
                <a:latin typeface="Arial" charset="0"/>
              </a:defRPr>
            </a:lvl8pPr>
            <a:lvl9pPr marL="1828800" algn="ctr" rtl="0" fontAlgn="base">
              <a:spcBef>
                <a:spcPct val="0"/>
              </a:spcBef>
              <a:spcAft>
                <a:spcPct val="0"/>
              </a:spcAft>
              <a:defRPr sz="3200">
                <a:solidFill>
                  <a:srgbClr val="337FCC"/>
                </a:solidFill>
                <a:latin typeface="Arial" charset="0"/>
              </a:defRPr>
            </a:lvl9pPr>
          </a:lstStyle>
          <a:p>
            <a:pPr algn="l"/>
            <a:r>
              <a:rPr lang="en-GB" kern="0">
                <a:solidFill>
                  <a:schemeClr val="bg1"/>
                </a:solidFill>
              </a:rPr>
              <a:t>Example Ryanair</a:t>
            </a:r>
            <a:endParaRPr lang="en-GB" kern="0" dirty="0">
              <a:solidFill>
                <a:schemeClr val="bg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0" y="11879"/>
            <a:ext cx="2857500" cy="1600200"/>
          </a:xfrm>
          <a:prstGeom prst="rect">
            <a:avLst/>
          </a:prstGeom>
        </p:spPr>
      </p:pic>
    </p:spTree>
    <p:extLst>
      <p:ext uri="{BB962C8B-B14F-4D97-AF65-F5344CB8AC3E}">
        <p14:creationId xmlns:p14="http://schemas.microsoft.com/office/powerpoint/2010/main" val="2019453544"/>
      </p:ext>
    </p:extLst>
  </p:cSld>
  <p:clrMapOvr>
    <a:masterClrMapping/>
  </p:clrMapOvr>
  <mc:AlternateContent xmlns:mc="http://schemas.openxmlformats.org/markup-compatibility/2006" xmlns:p14="http://schemas.microsoft.com/office/powerpoint/2010/main">
    <mc:Choice Requires="p14">
      <p:transition spd="slow" p14:dur="2000" advTm="68866"/>
    </mc:Choice>
    <mc:Fallback xmlns="">
      <p:transition spd="slow" advTm="68866"/>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Ryanair</a:t>
            </a:r>
          </a:p>
        </p:txBody>
      </p:sp>
      <p:sp>
        <p:nvSpPr>
          <p:cNvPr id="3" name="Content Placeholder 2"/>
          <p:cNvSpPr>
            <a:spLocks noGrp="1"/>
          </p:cNvSpPr>
          <p:nvPr>
            <p:ph idx="1"/>
          </p:nvPr>
        </p:nvSpPr>
        <p:spPr/>
        <p:txBody>
          <a:bodyPr/>
          <a:lstStyle/>
          <a:p>
            <a:r>
              <a:rPr lang="en-GB" dirty="0">
                <a:hlinkClick r:id="rId2"/>
              </a:rPr>
              <a:t>https://aws.amazon.com/solutions/case-studies/innovators/ryanair/</a:t>
            </a:r>
            <a:endParaRPr lang="en-GB" dirty="0"/>
          </a:p>
          <a:p>
            <a:endParaRPr lang="en-GB" dirty="0"/>
          </a:p>
          <a:p>
            <a:br>
              <a:rPr lang="en-US" dirty="0"/>
            </a:br>
            <a:r>
              <a:rPr lang="en-US" dirty="0"/>
              <a:t>We built our employee app on Amazon Bedrock, and it’s been hugely successful for Ryanair and our growth.” </a:t>
            </a:r>
            <a:r>
              <a:rPr lang="en-US"/>
              <a:t>CEO Ryanair</a:t>
            </a:r>
            <a:endParaRPr lang="en-GB" dirty="0"/>
          </a:p>
        </p:txBody>
      </p:sp>
      <p:sp>
        <p:nvSpPr>
          <p:cNvPr id="5" name="Title 1"/>
          <p:cNvSpPr txBox="1">
            <a:spLocks/>
          </p:cNvSpPr>
          <p:nvPr/>
        </p:nvSpPr>
        <p:spPr bwMode="auto">
          <a:xfrm>
            <a:off x="457200" y="0"/>
            <a:ext cx="8229600" cy="1600200"/>
          </a:xfrm>
          <a:prstGeom prst="rect">
            <a:avLst/>
          </a:prstGeom>
          <a:solidFill>
            <a:srgbClr val="337F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rgbClr val="337FCC"/>
                </a:solidFill>
                <a:latin typeface="+mj-lt"/>
                <a:ea typeface="+mj-ea"/>
                <a:cs typeface="+mj-cs"/>
              </a:defRPr>
            </a:lvl1pPr>
            <a:lvl2pPr algn="ctr" rtl="0" eaLnBrk="0" fontAlgn="base" hangingPunct="0">
              <a:spcBef>
                <a:spcPct val="0"/>
              </a:spcBef>
              <a:spcAft>
                <a:spcPct val="0"/>
              </a:spcAft>
              <a:defRPr sz="3200">
                <a:solidFill>
                  <a:srgbClr val="337FCC"/>
                </a:solidFill>
                <a:latin typeface="Arial" charset="0"/>
              </a:defRPr>
            </a:lvl2pPr>
            <a:lvl3pPr algn="ctr" rtl="0" eaLnBrk="0" fontAlgn="base" hangingPunct="0">
              <a:spcBef>
                <a:spcPct val="0"/>
              </a:spcBef>
              <a:spcAft>
                <a:spcPct val="0"/>
              </a:spcAft>
              <a:defRPr sz="3200">
                <a:solidFill>
                  <a:srgbClr val="337FCC"/>
                </a:solidFill>
                <a:latin typeface="Arial" charset="0"/>
              </a:defRPr>
            </a:lvl3pPr>
            <a:lvl4pPr algn="ctr" rtl="0" eaLnBrk="0" fontAlgn="base" hangingPunct="0">
              <a:spcBef>
                <a:spcPct val="0"/>
              </a:spcBef>
              <a:spcAft>
                <a:spcPct val="0"/>
              </a:spcAft>
              <a:defRPr sz="3200">
                <a:solidFill>
                  <a:srgbClr val="337FCC"/>
                </a:solidFill>
                <a:latin typeface="Arial" charset="0"/>
              </a:defRPr>
            </a:lvl4pPr>
            <a:lvl5pPr algn="ctr" rtl="0" eaLnBrk="0" fontAlgn="base" hangingPunct="0">
              <a:spcBef>
                <a:spcPct val="0"/>
              </a:spcBef>
              <a:spcAft>
                <a:spcPct val="0"/>
              </a:spcAft>
              <a:defRPr sz="3200">
                <a:solidFill>
                  <a:srgbClr val="337FCC"/>
                </a:solidFill>
                <a:latin typeface="Arial" charset="0"/>
              </a:defRPr>
            </a:lvl5pPr>
            <a:lvl6pPr marL="457200" algn="ctr" rtl="0" fontAlgn="base">
              <a:spcBef>
                <a:spcPct val="0"/>
              </a:spcBef>
              <a:spcAft>
                <a:spcPct val="0"/>
              </a:spcAft>
              <a:defRPr sz="3200">
                <a:solidFill>
                  <a:srgbClr val="337FCC"/>
                </a:solidFill>
                <a:latin typeface="Arial" charset="0"/>
              </a:defRPr>
            </a:lvl6pPr>
            <a:lvl7pPr marL="914400" algn="ctr" rtl="0" fontAlgn="base">
              <a:spcBef>
                <a:spcPct val="0"/>
              </a:spcBef>
              <a:spcAft>
                <a:spcPct val="0"/>
              </a:spcAft>
              <a:defRPr sz="3200">
                <a:solidFill>
                  <a:srgbClr val="337FCC"/>
                </a:solidFill>
                <a:latin typeface="Arial" charset="0"/>
              </a:defRPr>
            </a:lvl7pPr>
            <a:lvl8pPr marL="1371600" algn="ctr" rtl="0" fontAlgn="base">
              <a:spcBef>
                <a:spcPct val="0"/>
              </a:spcBef>
              <a:spcAft>
                <a:spcPct val="0"/>
              </a:spcAft>
              <a:defRPr sz="3200">
                <a:solidFill>
                  <a:srgbClr val="337FCC"/>
                </a:solidFill>
                <a:latin typeface="Arial" charset="0"/>
              </a:defRPr>
            </a:lvl8pPr>
            <a:lvl9pPr marL="1828800" algn="ctr" rtl="0" fontAlgn="base">
              <a:spcBef>
                <a:spcPct val="0"/>
              </a:spcBef>
              <a:spcAft>
                <a:spcPct val="0"/>
              </a:spcAft>
              <a:defRPr sz="3200">
                <a:solidFill>
                  <a:srgbClr val="337FCC"/>
                </a:solidFill>
                <a:latin typeface="Arial" charset="0"/>
              </a:defRPr>
            </a:lvl9pPr>
          </a:lstStyle>
          <a:p>
            <a:pPr algn="l"/>
            <a:r>
              <a:rPr lang="en-GB" kern="0" dirty="0">
                <a:solidFill>
                  <a:schemeClr val="bg1"/>
                </a:solidFill>
              </a:rPr>
              <a:t>Example Ryanair and AWS</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0" y="11879"/>
            <a:ext cx="2857500" cy="1600200"/>
          </a:xfrm>
          <a:prstGeom prst="rect">
            <a:avLst/>
          </a:prstGeom>
        </p:spPr>
      </p:pic>
    </p:spTree>
    <p:extLst>
      <p:ext uri="{BB962C8B-B14F-4D97-AF65-F5344CB8AC3E}">
        <p14:creationId xmlns:p14="http://schemas.microsoft.com/office/powerpoint/2010/main" val="720121842"/>
      </p:ext>
    </p:extLst>
  </p:cSld>
  <p:clrMapOvr>
    <a:masterClrMapping/>
  </p:clrMapOvr>
  <mc:AlternateContent xmlns:mc="http://schemas.openxmlformats.org/markup-compatibility/2006" xmlns:p14="http://schemas.microsoft.com/office/powerpoint/2010/main">
    <mc:Choice Requires="p14">
      <p:transition spd="slow" p14:dur="2000" advTm="22827"/>
    </mc:Choice>
    <mc:Fallback xmlns="">
      <p:transition spd="slow" advTm="22827"/>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5"/>
</p:tagLst>
</file>

<file path=ppt/tags/tag2.xml><?xml version="1.0" encoding="utf-8"?>
<p:tagLst xmlns:a="http://schemas.openxmlformats.org/drawingml/2006/main" xmlns:r="http://schemas.openxmlformats.org/officeDocument/2006/relationships" xmlns:p="http://schemas.openxmlformats.org/presentationml/2006/main">
  <p:tag name="TIMING" val="|16.6|12.6"/>
</p:tagLst>
</file>

<file path=ppt/theme/theme1.xml><?xml version="1.0" encoding="utf-8"?>
<a:theme xmlns:a="http://schemas.openxmlformats.org/drawingml/2006/main" name="Quinn School Presentation Slide Template">
  <a:themeElements>
    <a:clrScheme name="Quinn School Presentation Slide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Quinn School Presentation Slide Templat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Quinn School Presentation Slide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Quinn School Presentation Slide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Quinn School Presentation Slide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Quinn School Presentation Slide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Quinn School Presentation Slide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Quinn School Presentation Slide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Quinn School Presentation Slide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Quinn School Presentation Slide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Quinn School Presentation Slide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Quinn School Presentation Slide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Quinn School Presentation Slide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Quinn School Presentation Slide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Settings\winnie\My Documents\Quinn School Presentation Slide Template.ppt</Template>
  <TotalTime>7412</TotalTime>
  <Words>4344</Words>
  <Application>Microsoft Macintosh PowerPoint</Application>
  <PresentationFormat>On-screen Show (4:3)</PresentationFormat>
  <Paragraphs>307</Paragraphs>
  <Slides>53</Slides>
  <Notes>30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Times</vt:lpstr>
      <vt:lpstr>Verdana</vt:lpstr>
      <vt:lpstr>Quinn School Presentation Slide Template</vt:lpstr>
      <vt:lpstr> </vt:lpstr>
      <vt:lpstr>Web analytics</vt:lpstr>
      <vt:lpstr>Definition</vt:lpstr>
      <vt:lpstr>Demystifying Web Analytics</vt:lpstr>
      <vt:lpstr>Basics</vt:lpstr>
      <vt:lpstr>Traffic Sources</vt:lpstr>
      <vt:lpstr>Reduce Bounce Rate</vt:lpstr>
      <vt:lpstr>Reduce Bounce Rate</vt:lpstr>
      <vt:lpstr>Focus on Outcomes</vt:lpstr>
      <vt:lpstr>Metrics</vt:lpstr>
      <vt:lpstr>Metrics</vt:lpstr>
      <vt:lpstr>Key Metrics</vt:lpstr>
      <vt:lpstr>Key Metrics Examples</vt:lpstr>
      <vt:lpstr>Know what you are measuring</vt:lpstr>
      <vt:lpstr>Break into Segments</vt:lpstr>
      <vt:lpstr>Know what you are measuring</vt:lpstr>
      <vt:lpstr>Get Continuous</vt:lpstr>
      <vt:lpstr> </vt:lpstr>
      <vt:lpstr>Heat Map</vt:lpstr>
      <vt:lpstr> </vt:lpstr>
      <vt:lpstr>Your Audience is not a Monolith</vt:lpstr>
      <vt:lpstr>Why come to Site?</vt:lpstr>
      <vt:lpstr>Why come to Site?</vt:lpstr>
      <vt:lpstr>You are not Alone</vt:lpstr>
      <vt:lpstr>You are not Alone</vt:lpstr>
      <vt:lpstr> </vt:lpstr>
      <vt:lpstr> </vt:lpstr>
      <vt:lpstr>Avinash Kaushik</vt:lpstr>
      <vt:lpstr>Digital Marketing &amp; Measurement Model.</vt:lpstr>
      <vt:lpstr> </vt:lpstr>
      <vt:lpstr> </vt:lpstr>
      <vt:lpstr>Context</vt:lpstr>
      <vt:lpstr> </vt:lpstr>
      <vt:lpstr> </vt:lpstr>
      <vt:lpstr> Compare trends over different time periods.</vt:lpstr>
      <vt:lpstr>Compare trends over different time periods.</vt:lpstr>
      <vt:lpstr>Multi-Channel Attribution</vt:lpstr>
      <vt:lpstr>FB and Analytics Example</vt:lpstr>
      <vt:lpstr>Correlation</vt:lpstr>
      <vt:lpstr>Correlations don't imply causality</vt:lpstr>
      <vt:lpstr>Google Tag Manager</vt:lpstr>
      <vt:lpstr>Tag Manager</vt:lpstr>
      <vt:lpstr>Tag Manager</vt:lpstr>
      <vt:lpstr> Digital Marketing Tips</vt:lpstr>
      <vt:lpstr>PowerPoint Presentation</vt:lpstr>
      <vt:lpstr>Customer Promotion Tips</vt:lpstr>
      <vt:lpstr>Customer Promotion Tips</vt:lpstr>
      <vt:lpstr>Customer Behaviour</vt:lpstr>
      <vt:lpstr>Past and Current Customer Behaviour</vt:lpstr>
      <vt:lpstr>Past and Current Customer Behaviour</vt:lpstr>
      <vt:lpstr>Example Ryanair</vt:lpstr>
      <vt:lpstr>Example Ryanair</vt:lpstr>
      <vt:lpstr>Example Ryanair</vt:lpstr>
    </vt:vector>
  </TitlesOfParts>
  <Company>Žꀀ]讘ղ龍뿿큠Ś樬]讘Ž뿿큐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dc:title>
  <dc:creator>Peter Peter</dc:creator>
  <cp:lastModifiedBy>Clare Branigan</cp:lastModifiedBy>
  <cp:revision>245</cp:revision>
  <dcterms:created xsi:type="dcterms:W3CDTF">2003-12-30T12:59:50Z</dcterms:created>
  <dcterms:modified xsi:type="dcterms:W3CDTF">2026-02-23T09:58:25Z</dcterms:modified>
</cp:coreProperties>
</file>