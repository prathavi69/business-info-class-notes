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0" r:id="rId5"/>
    <p:sldId id="272" r:id="rId6"/>
    <p:sldId id="264" r:id="rId7"/>
    <p:sldId id="273" r:id="rId8"/>
    <p:sldId id="267" r:id="rId9"/>
    <p:sldId id="269" r:id="rId10"/>
    <p:sldId id="274" r:id="rId11"/>
    <p:sldId id="270" r:id="rId12"/>
    <p:sldId id="266" r:id="rId13"/>
    <p:sldId id="271" r:id="rId14"/>
    <p:sldId id="265" r:id="rId15"/>
    <p:sldId id="275" r:id="rId16"/>
    <p:sldId id="276" r:id="rId17"/>
    <p:sldId id="26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1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1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C33C60-9D1D-4F99-9AA3-96FBFBAF0B7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2631AF-EAFB-4A11-8484-EA9363C74A2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 b="1" i="0" dirty="0"/>
            <a:t>Robotic-Assisted Surgery:</a:t>
          </a:r>
          <a:r>
            <a:rPr lang="en-GB" sz="1800" b="0" i="0" dirty="0"/>
            <a:t> The system provides a set of robotic arms controlled by a surgeon from a console.</a:t>
          </a:r>
          <a:endParaRPr lang="en-US" sz="1800" dirty="0"/>
        </a:p>
      </dgm:t>
    </dgm:pt>
    <dgm:pt modelId="{C21BDE29-0E74-4A9E-8EE1-61D859D39FC4}" type="parTrans" cxnId="{E84A66FB-4BB9-4209-BC0D-3CCF8B8C63B8}">
      <dgm:prSet/>
      <dgm:spPr/>
      <dgm:t>
        <a:bodyPr/>
        <a:lstStyle/>
        <a:p>
          <a:endParaRPr lang="en-US"/>
        </a:p>
      </dgm:t>
    </dgm:pt>
    <dgm:pt modelId="{902F57D7-BB66-472B-AD19-FDE2EA5D9E1F}" type="sibTrans" cxnId="{E84A66FB-4BB9-4209-BC0D-3CCF8B8C63B8}">
      <dgm:prSet/>
      <dgm:spPr/>
      <dgm:t>
        <a:bodyPr/>
        <a:lstStyle/>
        <a:p>
          <a:endParaRPr lang="en-US"/>
        </a:p>
      </dgm:t>
    </dgm:pt>
    <dgm:pt modelId="{C43696D3-03C3-4553-BEA9-52484B75A68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 b="1" i="0" dirty="0"/>
            <a:t>High Precision:</a:t>
          </a:r>
          <a:r>
            <a:rPr lang="en-GB" sz="1800" b="0" i="0" dirty="0"/>
            <a:t> It allows surgeons to perform complex procedures with increased precision, flexibility, and control compared to conventional techniques.</a:t>
          </a:r>
          <a:endParaRPr lang="en-US" sz="1800" dirty="0"/>
        </a:p>
      </dgm:t>
    </dgm:pt>
    <dgm:pt modelId="{909AF529-1CCC-439E-860F-A73E0E12C1B8}" type="parTrans" cxnId="{15C7806B-C3F9-4DDA-9795-6E5DC5F5D6CE}">
      <dgm:prSet/>
      <dgm:spPr/>
      <dgm:t>
        <a:bodyPr/>
        <a:lstStyle/>
        <a:p>
          <a:endParaRPr lang="en-US"/>
        </a:p>
      </dgm:t>
    </dgm:pt>
    <dgm:pt modelId="{7570922F-931A-4189-9757-1C35DC5E92B7}" type="sibTrans" cxnId="{15C7806B-C3F9-4DDA-9795-6E5DC5F5D6CE}">
      <dgm:prSet/>
      <dgm:spPr/>
      <dgm:t>
        <a:bodyPr/>
        <a:lstStyle/>
        <a:p>
          <a:endParaRPr lang="en-US"/>
        </a:p>
      </dgm:t>
    </dgm:pt>
    <dgm:pt modelId="{5E5A9FCF-CDD8-447B-BC63-DE83411925A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 b="1" i="0" dirty="0"/>
            <a:t>3D High-Definition Vision System:</a:t>
          </a:r>
          <a:r>
            <a:rPr lang="en-GB" sz="1800" b="0" i="0" dirty="0"/>
            <a:t> Offers surgeons a true-to-life 3D HD view inside the patient's body to enhance visibility.</a:t>
          </a:r>
          <a:endParaRPr lang="en-US" sz="1800" dirty="0"/>
        </a:p>
      </dgm:t>
    </dgm:pt>
    <dgm:pt modelId="{6DFE0731-A438-4E79-91F2-120566F44C69}" type="parTrans" cxnId="{5FEDE7A3-A068-4AFB-B041-BE1EEADE5679}">
      <dgm:prSet/>
      <dgm:spPr/>
      <dgm:t>
        <a:bodyPr/>
        <a:lstStyle/>
        <a:p>
          <a:endParaRPr lang="en-US"/>
        </a:p>
      </dgm:t>
    </dgm:pt>
    <dgm:pt modelId="{AEFB9601-DD72-490C-9C37-9E089BA9DD3B}" type="sibTrans" cxnId="{5FEDE7A3-A068-4AFB-B041-BE1EEADE5679}">
      <dgm:prSet/>
      <dgm:spPr/>
      <dgm:t>
        <a:bodyPr/>
        <a:lstStyle/>
        <a:p>
          <a:endParaRPr lang="en-US"/>
        </a:p>
      </dgm:t>
    </dgm:pt>
    <dgm:pt modelId="{03F19228-54F1-40C5-8853-2036F8324E7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 b="1" i="0" dirty="0"/>
            <a:t>Minimally Invasive:</a:t>
          </a:r>
          <a:r>
            <a:rPr lang="en-GB" sz="1800" b="0" i="0" dirty="0"/>
            <a:t> Designed to facilitate complex surgery using a minimally invasive approach, intended to reduce recovery time and potential complications.</a:t>
          </a:r>
          <a:endParaRPr lang="en-US" sz="1800" dirty="0"/>
        </a:p>
      </dgm:t>
    </dgm:pt>
    <dgm:pt modelId="{BA2795F5-9088-4FD2-BF7F-5D7E6E145FDB}" type="parTrans" cxnId="{23944BF2-5AF6-4378-8FF5-61F8906192AC}">
      <dgm:prSet/>
      <dgm:spPr/>
      <dgm:t>
        <a:bodyPr/>
        <a:lstStyle/>
        <a:p>
          <a:endParaRPr lang="en-US"/>
        </a:p>
      </dgm:t>
    </dgm:pt>
    <dgm:pt modelId="{CB43D851-4D10-4EC9-AE21-A044B7D41AA9}" type="sibTrans" cxnId="{23944BF2-5AF6-4378-8FF5-61F8906192AC}">
      <dgm:prSet/>
      <dgm:spPr/>
      <dgm:t>
        <a:bodyPr/>
        <a:lstStyle/>
        <a:p>
          <a:endParaRPr lang="en-US"/>
        </a:p>
      </dgm:t>
    </dgm:pt>
    <dgm:pt modelId="{E7E069A2-5495-4DC9-A8A2-E4066CE206A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 b="1" i="0" dirty="0"/>
            <a:t>Ergonomic Design:</a:t>
          </a:r>
          <a:r>
            <a:rPr lang="en-GB" sz="1800" b="0" i="0" dirty="0"/>
            <a:t> The surgeon's console is designed to provide comfort and to align the surgeon's eyes and hands with the instruments while providing a natural and intuitive experience.</a:t>
          </a:r>
          <a:endParaRPr lang="en-US" sz="1800" dirty="0"/>
        </a:p>
      </dgm:t>
    </dgm:pt>
    <dgm:pt modelId="{C74314B1-A12D-4AF5-8A1E-1644C40242AA}" type="parTrans" cxnId="{20C60F60-40C4-48A3-84A1-4C5E2D951BC2}">
      <dgm:prSet/>
      <dgm:spPr/>
      <dgm:t>
        <a:bodyPr/>
        <a:lstStyle/>
        <a:p>
          <a:endParaRPr lang="en-US"/>
        </a:p>
      </dgm:t>
    </dgm:pt>
    <dgm:pt modelId="{1EA775EA-784A-4C32-B122-7E4C0E6619C1}" type="sibTrans" cxnId="{20C60F60-40C4-48A3-84A1-4C5E2D951BC2}">
      <dgm:prSet/>
      <dgm:spPr/>
      <dgm:t>
        <a:bodyPr/>
        <a:lstStyle/>
        <a:p>
          <a:endParaRPr lang="en-US"/>
        </a:p>
      </dgm:t>
    </dgm:pt>
    <dgm:pt modelId="{01B3C433-57FC-4A83-B394-5D8B570A104F}" type="pres">
      <dgm:prSet presAssocID="{58C33C60-9D1D-4F99-9AA3-96FBFBAF0B7C}" presName="root" presStyleCnt="0">
        <dgm:presLayoutVars>
          <dgm:dir/>
          <dgm:resizeHandles val="exact"/>
        </dgm:presLayoutVars>
      </dgm:prSet>
      <dgm:spPr/>
    </dgm:pt>
    <dgm:pt modelId="{599279D5-2903-40CE-8CBE-7EE89D658366}" type="pres">
      <dgm:prSet presAssocID="{6B2631AF-EAFB-4A11-8484-EA9363C74A29}" presName="compNode" presStyleCnt="0"/>
      <dgm:spPr/>
    </dgm:pt>
    <dgm:pt modelId="{E82477FC-8D39-4629-B831-4F5D905D58F8}" type="pres">
      <dgm:prSet presAssocID="{6B2631AF-EAFB-4A11-8484-EA9363C74A29}" presName="bgRect" presStyleLbl="bgShp" presStyleIdx="0" presStyleCnt="5"/>
      <dgm:spPr/>
    </dgm:pt>
    <dgm:pt modelId="{E67362BF-DDF9-4C10-AAB0-DDC1BE33475A}" type="pres">
      <dgm:prSet presAssocID="{6B2631AF-EAFB-4A11-8484-EA9363C74A29}" presName="iconRect" presStyleLbl="node1" presStyleIdx="0" presStyleCnt="5"/>
      <dgm:spPr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17E5DDE-499C-4FA6-AB57-1D7539AF9F07}" type="pres">
      <dgm:prSet presAssocID="{6B2631AF-EAFB-4A11-8484-EA9363C74A29}" presName="spaceRect" presStyleCnt="0"/>
      <dgm:spPr/>
    </dgm:pt>
    <dgm:pt modelId="{867B7123-81D8-4115-B507-12F53F70D431}" type="pres">
      <dgm:prSet presAssocID="{6B2631AF-EAFB-4A11-8484-EA9363C74A29}" presName="parTx" presStyleLbl="revTx" presStyleIdx="0" presStyleCnt="5">
        <dgm:presLayoutVars>
          <dgm:chMax val="0"/>
          <dgm:chPref val="0"/>
        </dgm:presLayoutVars>
      </dgm:prSet>
      <dgm:spPr/>
    </dgm:pt>
    <dgm:pt modelId="{05DAA340-415B-4AF4-9EE9-5D4F13770EA4}" type="pres">
      <dgm:prSet presAssocID="{902F57D7-BB66-472B-AD19-FDE2EA5D9E1F}" presName="sibTrans" presStyleCnt="0"/>
      <dgm:spPr/>
    </dgm:pt>
    <dgm:pt modelId="{D9855B16-88AA-4DCA-BD10-67DB3C251707}" type="pres">
      <dgm:prSet presAssocID="{C43696D3-03C3-4553-BEA9-52484B75A686}" presName="compNode" presStyleCnt="0"/>
      <dgm:spPr/>
    </dgm:pt>
    <dgm:pt modelId="{923D3D77-56ED-4DC5-B1DD-E18B7FD5E574}" type="pres">
      <dgm:prSet presAssocID="{C43696D3-03C3-4553-BEA9-52484B75A686}" presName="bgRect" presStyleLbl="bgShp" presStyleIdx="1" presStyleCnt="5"/>
      <dgm:spPr/>
    </dgm:pt>
    <dgm:pt modelId="{D465E645-C442-48C5-B967-6885D27475E0}" type="pres">
      <dgm:prSet presAssocID="{C43696D3-03C3-4553-BEA9-52484B75A686}" presName="iconRect" presStyleLbl="node1" presStyleIdx="1" presStyleCnt="5"/>
      <dgm:spPr>
        <a:blipFill>
          <a:blip xmlns:r="http://schemas.openxmlformats.org/officeDocument/2006/relationships"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586C7B65-95D5-4D7B-BF6A-65FFDA8B8589}" type="pres">
      <dgm:prSet presAssocID="{C43696D3-03C3-4553-BEA9-52484B75A686}" presName="spaceRect" presStyleCnt="0"/>
      <dgm:spPr/>
    </dgm:pt>
    <dgm:pt modelId="{FF68A998-30A8-41E2-9A35-66C906A7EBFC}" type="pres">
      <dgm:prSet presAssocID="{C43696D3-03C3-4553-BEA9-52484B75A686}" presName="parTx" presStyleLbl="revTx" presStyleIdx="1" presStyleCnt="5">
        <dgm:presLayoutVars>
          <dgm:chMax val="0"/>
          <dgm:chPref val="0"/>
        </dgm:presLayoutVars>
      </dgm:prSet>
      <dgm:spPr/>
    </dgm:pt>
    <dgm:pt modelId="{C5E3A27E-241C-46CB-82CE-8BD77BEBE13D}" type="pres">
      <dgm:prSet presAssocID="{7570922F-931A-4189-9757-1C35DC5E92B7}" presName="sibTrans" presStyleCnt="0"/>
      <dgm:spPr/>
    </dgm:pt>
    <dgm:pt modelId="{EE163B25-E9C2-479F-AE71-12E5DE7A0168}" type="pres">
      <dgm:prSet presAssocID="{5E5A9FCF-CDD8-447B-BC63-DE83411925A8}" presName="compNode" presStyleCnt="0"/>
      <dgm:spPr/>
    </dgm:pt>
    <dgm:pt modelId="{6E4FE20A-7915-41B1-807E-BF4A8AA49F02}" type="pres">
      <dgm:prSet presAssocID="{5E5A9FCF-CDD8-447B-BC63-DE83411925A8}" presName="bgRect" presStyleLbl="bgShp" presStyleIdx="2" presStyleCnt="5"/>
      <dgm:spPr/>
    </dgm:pt>
    <dgm:pt modelId="{754FFC2A-287E-4FA7-922E-CDD4504A5EC3}" type="pres">
      <dgm:prSet presAssocID="{5E5A9FCF-CDD8-447B-BC63-DE83411925A8}" presName="iconRect" presStyleLbl="node1" presStyleIdx="2" presStyleCnt="5"/>
      <dgm:spPr>
        <a:blipFill>
          <a:blip xmlns:r="http://schemas.openxmlformats.org/officeDocument/2006/relationships"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F2F45FF8-7CE5-4A4E-9A11-EA01274DBD1A}" type="pres">
      <dgm:prSet presAssocID="{5E5A9FCF-CDD8-447B-BC63-DE83411925A8}" presName="spaceRect" presStyleCnt="0"/>
      <dgm:spPr/>
    </dgm:pt>
    <dgm:pt modelId="{0E62358E-9264-469B-A415-0CB9701BAF64}" type="pres">
      <dgm:prSet presAssocID="{5E5A9FCF-CDD8-447B-BC63-DE83411925A8}" presName="parTx" presStyleLbl="revTx" presStyleIdx="2" presStyleCnt="5">
        <dgm:presLayoutVars>
          <dgm:chMax val="0"/>
          <dgm:chPref val="0"/>
        </dgm:presLayoutVars>
      </dgm:prSet>
      <dgm:spPr/>
    </dgm:pt>
    <dgm:pt modelId="{FF7EFBD1-F585-4553-B445-823FCD627A32}" type="pres">
      <dgm:prSet presAssocID="{AEFB9601-DD72-490C-9C37-9E089BA9DD3B}" presName="sibTrans" presStyleCnt="0"/>
      <dgm:spPr/>
    </dgm:pt>
    <dgm:pt modelId="{3D2330FD-100F-4BE8-8779-394A10D18843}" type="pres">
      <dgm:prSet presAssocID="{03F19228-54F1-40C5-8853-2036F8324E78}" presName="compNode" presStyleCnt="0"/>
      <dgm:spPr/>
    </dgm:pt>
    <dgm:pt modelId="{8DFBF0A9-10EF-446A-908A-E4C56A98648A}" type="pres">
      <dgm:prSet presAssocID="{03F19228-54F1-40C5-8853-2036F8324E78}" presName="bgRect" presStyleLbl="bgShp" presStyleIdx="3" presStyleCnt="5"/>
      <dgm:spPr/>
    </dgm:pt>
    <dgm:pt modelId="{A21E560F-3B83-4BCF-8CBD-DC33C176D102}" type="pres">
      <dgm:prSet presAssocID="{03F19228-54F1-40C5-8853-2036F8324E78}" presName="iconRect" presStyleLbl="node1" presStyleIdx="3" presStyleCnt="5"/>
      <dgm:spPr>
        <a:blipFill>
          <a:blip xmlns:r="http://schemas.openxmlformats.org/officeDocument/2006/relationships"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8D708883-8D9E-4A44-81BD-F1EBC80890E6}" type="pres">
      <dgm:prSet presAssocID="{03F19228-54F1-40C5-8853-2036F8324E78}" presName="spaceRect" presStyleCnt="0"/>
      <dgm:spPr/>
    </dgm:pt>
    <dgm:pt modelId="{5B29179D-23FD-46EB-9721-848F9BF5E9D2}" type="pres">
      <dgm:prSet presAssocID="{03F19228-54F1-40C5-8853-2036F8324E78}" presName="parTx" presStyleLbl="revTx" presStyleIdx="3" presStyleCnt="5">
        <dgm:presLayoutVars>
          <dgm:chMax val="0"/>
          <dgm:chPref val="0"/>
        </dgm:presLayoutVars>
      </dgm:prSet>
      <dgm:spPr/>
    </dgm:pt>
    <dgm:pt modelId="{36B33250-39A3-41F5-B400-320E89740311}" type="pres">
      <dgm:prSet presAssocID="{CB43D851-4D10-4EC9-AE21-A044B7D41AA9}" presName="sibTrans" presStyleCnt="0"/>
      <dgm:spPr/>
    </dgm:pt>
    <dgm:pt modelId="{C2156040-ED94-4642-B8DD-2D216B47BC6F}" type="pres">
      <dgm:prSet presAssocID="{E7E069A2-5495-4DC9-A8A2-E4066CE206AF}" presName="compNode" presStyleCnt="0"/>
      <dgm:spPr/>
    </dgm:pt>
    <dgm:pt modelId="{C43C8699-42B9-4E43-A120-5BD416F5083D}" type="pres">
      <dgm:prSet presAssocID="{E7E069A2-5495-4DC9-A8A2-E4066CE206AF}" presName="bgRect" presStyleLbl="bgShp" presStyleIdx="4" presStyleCnt="5"/>
      <dgm:spPr/>
    </dgm:pt>
    <dgm:pt modelId="{53D606F1-A923-4B7F-8E54-1BE0E26E4259}" type="pres">
      <dgm:prSet presAssocID="{E7E069A2-5495-4DC9-A8A2-E4066CE206AF}" presName="iconRect" presStyleLbl="node1" presStyleIdx="4" presStyleCnt="5"/>
      <dgm:spPr>
        <a:blipFill>
          <a:blip xmlns:r="http://schemas.openxmlformats.org/officeDocument/2006/relationships"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2F2825FB-849E-40DA-B1FB-7A609347AD74}" type="pres">
      <dgm:prSet presAssocID="{E7E069A2-5495-4DC9-A8A2-E4066CE206AF}" presName="spaceRect" presStyleCnt="0"/>
      <dgm:spPr/>
    </dgm:pt>
    <dgm:pt modelId="{C3FBE54A-894B-41CE-95FE-6880D444217A}" type="pres">
      <dgm:prSet presAssocID="{E7E069A2-5495-4DC9-A8A2-E4066CE206A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05E1056-0321-48C5-BAAC-F20C86D46F72}" type="presOf" srcId="{58C33C60-9D1D-4F99-9AA3-96FBFBAF0B7C}" destId="{01B3C433-57FC-4A83-B394-5D8B570A104F}" srcOrd="0" destOrd="0" presId="urn:microsoft.com/office/officeart/2018/2/layout/IconVerticalSolidList"/>
    <dgm:cxn modelId="{2E7C8456-77F5-4987-B9E8-E88786EA6FC1}" type="presOf" srcId="{E7E069A2-5495-4DC9-A8A2-E4066CE206AF}" destId="{C3FBE54A-894B-41CE-95FE-6880D444217A}" srcOrd="0" destOrd="0" presId="urn:microsoft.com/office/officeart/2018/2/layout/IconVerticalSolidList"/>
    <dgm:cxn modelId="{20C60F60-40C4-48A3-84A1-4C5E2D951BC2}" srcId="{58C33C60-9D1D-4F99-9AA3-96FBFBAF0B7C}" destId="{E7E069A2-5495-4DC9-A8A2-E4066CE206AF}" srcOrd="4" destOrd="0" parTransId="{C74314B1-A12D-4AF5-8A1E-1644C40242AA}" sibTransId="{1EA775EA-784A-4C32-B122-7E4C0E6619C1}"/>
    <dgm:cxn modelId="{15C7806B-C3F9-4DDA-9795-6E5DC5F5D6CE}" srcId="{58C33C60-9D1D-4F99-9AA3-96FBFBAF0B7C}" destId="{C43696D3-03C3-4553-BEA9-52484B75A686}" srcOrd="1" destOrd="0" parTransId="{909AF529-1CCC-439E-860F-A73E0E12C1B8}" sibTransId="{7570922F-931A-4189-9757-1C35DC5E92B7}"/>
    <dgm:cxn modelId="{5FEDE7A3-A068-4AFB-B041-BE1EEADE5679}" srcId="{58C33C60-9D1D-4F99-9AA3-96FBFBAF0B7C}" destId="{5E5A9FCF-CDD8-447B-BC63-DE83411925A8}" srcOrd="2" destOrd="0" parTransId="{6DFE0731-A438-4E79-91F2-120566F44C69}" sibTransId="{AEFB9601-DD72-490C-9C37-9E089BA9DD3B}"/>
    <dgm:cxn modelId="{12ACC7C4-81A8-4759-B036-ED5352198754}" type="presOf" srcId="{03F19228-54F1-40C5-8853-2036F8324E78}" destId="{5B29179D-23FD-46EB-9721-848F9BF5E9D2}" srcOrd="0" destOrd="0" presId="urn:microsoft.com/office/officeart/2018/2/layout/IconVerticalSolidList"/>
    <dgm:cxn modelId="{00A496C5-A6F9-409E-AB4D-DCC7991070D4}" type="presOf" srcId="{6B2631AF-EAFB-4A11-8484-EA9363C74A29}" destId="{867B7123-81D8-4115-B507-12F53F70D431}" srcOrd="0" destOrd="0" presId="urn:microsoft.com/office/officeart/2018/2/layout/IconVerticalSolidList"/>
    <dgm:cxn modelId="{1FB6ACF0-0425-4309-870A-2BAB31337F12}" type="presOf" srcId="{C43696D3-03C3-4553-BEA9-52484B75A686}" destId="{FF68A998-30A8-41E2-9A35-66C906A7EBFC}" srcOrd="0" destOrd="0" presId="urn:microsoft.com/office/officeart/2018/2/layout/IconVerticalSolidList"/>
    <dgm:cxn modelId="{23944BF2-5AF6-4378-8FF5-61F8906192AC}" srcId="{58C33C60-9D1D-4F99-9AA3-96FBFBAF0B7C}" destId="{03F19228-54F1-40C5-8853-2036F8324E78}" srcOrd="3" destOrd="0" parTransId="{BA2795F5-9088-4FD2-BF7F-5D7E6E145FDB}" sibTransId="{CB43D851-4D10-4EC9-AE21-A044B7D41AA9}"/>
    <dgm:cxn modelId="{106FA5F3-3947-4F1B-AFA6-2BD4D1A52BFF}" type="presOf" srcId="{5E5A9FCF-CDD8-447B-BC63-DE83411925A8}" destId="{0E62358E-9264-469B-A415-0CB9701BAF64}" srcOrd="0" destOrd="0" presId="urn:microsoft.com/office/officeart/2018/2/layout/IconVerticalSolidList"/>
    <dgm:cxn modelId="{E84A66FB-4BB9-4209-BC0D-3CCF8B8C63B8}" srcId="{58C33C60-9D1D-4F99-9AA3-96FBFBAF0B7C}" destId="{6B2631AF-EAFB-4A11-8484-EA9363C74A29}" srcOrd="0" destOrd="0" parTransId="{C21BDE29-0E74-4A9E-8EE1-61D859D39FC4}" sibTransId="{902F57D7-BB66-472B-AD19-FDE2EA5D9E1F}"/>
    <dgm:cxn modelId="{BE426109-FFFF-4492-A3A8-B004E12A2E7F}" type="presParOf" srcId="{01B3C433-57FC-4A83-B394-5D8B570A104F}" destId="{599279D5-2903-40CE-8CBE-7EE89D658366}" srcOrd="0" destOrd="0" presId="urn:microsoft.com/office/officeart/2018/2/layout/IconVerticalSolidList"/>
    <dgm:cxn modelId="{51CBB6C3-4F6E-4806-ABDA-230B645FD88F}" type="presParOf" srcId="{599279D5-2903-40CE-8CBE-7EE89D658366}" destId="{E82477FC-8D39-4629-B831-4F5D905D58F8}" srcOrd="0" destOrd="0" presId="urn:microsoft.com/office/officeart/2018/2/layout/IconVerticalSolidList"/>
    <dgm:cxn modelId="{506D90CB-1803-4BC4-AE84-82525AA0294A}" type="presParOf" srcId="{599279D5-2903-40CE-8CBE-7EE89D658366}" destId="{E67362BF-DDF9-4C10-AAB0-DDC1BE33475A}" srcOrd="1" destOrd="0" presId="urn:microsoft.com/office/officeart/2018/2/layout/IconVerticalSolidList"/>
    <dgm:cxn modelId="{73D0B9AE-DB95-4390-9017-E5D225224A25}" type="presParOf" srcId="{599279D5-2903-40CE-8CBE-7EE89D658366}" destId="{017E5DDE-499C-4FA6-AB57-1D7539AF9F07}" srcOrd="2" destOrd="0" presId="urn:microsoft.com/office/officeart/2018/2/layout/IconVerticalSolidList"/>
    <dgm:cxn modelId="{F7273D29-4C02-40D1-B1E9-040B261F512E}" type="presParOf" srcId="{599279D5-2903-40CE-8CBE-7EE89D658366}" destId="{867B7123-81D8-4115-B507-12F53F70D431}" srcOrd="3" destOrd="0" presId="urn:microsoft.com/office/officeart/2018/2/layout/IconVerticalSolidList"/>
    <dgm:cxn modelId="{28BDE580-0D5A-4741-938C-6B7C0FC9C983}" type="presParOf" srcId="{01B3C433-57FC-4A83-B394-5D8B570A104F}" destId="{05DAA340-415B-4AF4-9EE9-5D4F13770EA4}" srcOrd="1" destOrd="0" presId="urn:microsoft.com/office/officeart/2018/2/layout/IconVerticalSolidList"/>
    <dgm:cxn modelId="{3BB15F1B-FFFC-4E98-868F-B626E1433888}" type="presParOf" srcId="{01B3C433-57FC-4A83-B394-5D8B570A104F}" destId="{D9855B16-88AA-4DCA-BD10-67DB3C251707}" srcOrd="2" destOrd="0" presId="urn:microsoft.com/office/officeart/2018/2/layout/IconVerticalSolidList"/>
    <dgm:cxn modelId="{472A16EA-49F6-4862-848D-18D5BCD1A370}" type="presParOf" srcId="{D9855B16-88AA-4DCA-BD10-67DB3C251707}" destId="{923D3D77-56ED-4DC5-B1DD-E18B7FD5E574}" srcOrd="0" destOrd="0" presId="urn:microsoft.com/office/officeart/2018/2/layout/IconVerticalSolidList"/>
    <dgm:cxn modelId="{B5B741FB-0A0F-4FEF-BED4-7ECB834EB333}" type="presParOf" srcId="{D9855B16-88AA-4DCA-BD10-67DB3C251707}" destId="{D465E645-C442-48C5-B967-6885D27475E0}" srcOrd="1" destOrd="0" presId="urn:microsoft.com/office/officeart/2018/2/layout/IconVerticalSolidList"/>
    <dgm:cxn modelId="{7F78E24B-0FB3-4177-9BD2-42B2DA098154}" type="presParOf" srcId="{D9855B16-88AA-4DCA-BD10-67DB3C251707}" destId="{586C7B65-95D5-4D7B-BF6A-65FFDA8B8589}" srcOrd="2" destOrd="0" presId="urn:microsoft.com/office/officeart/2018/2/layout/IconVerticalSolidList"/>
    <dgm:cxn modelId="{F7DA1430-F016-4BB5-B015-44E495980AB2}" type="presParOf" srcId="{D9855B16-88AA-4DCA-BD10-67DB3C251707}" destId="{FF68A998-30A8-41E2-9A35-66C906A7EBFC}" srcOrd="3" destOrd="0" presId="urn:microsoft.com/office/officeart/2018/2/layout/IconVerticalSolidList"/>
    <dgm:cxn modelId="{A759A032-D7AC-4BCD-8970-C7F6BFDCE829}" type="presParOf" srcId="{01B3C433-57FC-4A83-B394-5D8B570A104F}" destId="{C5E3A27E-241C-46CB-82CE-8BD77BEBE13D}" srcOrd="3" destOrd="0" presId="urn:microsoft.com/office/officeart/2018/2/layout/IconVerticalSolidList"/>
    <dgm:cxn modelId="{0B9A8CA7-93C1-4529-9DDF-7F23D7C66346}" type="presParOf" srcId="{01B3C433-57FC-4A83-B394-5D8B570A104F}" destId="{EE163B25-E9C2-479F-AE71-12E5DE7A0168}" srcOrd="4" destOrd="0" presId="urn:microsoft.com/office/officeart/2018/2/layout/IconVerticalSolidList"/>
    <dgm:cxn modelId="{F9FB8658-BC54-4207-8821-7CE199733659}" type="presParOf" srcId="{EE163B25-E9C2-479F-AE71-12E5DE7A0168}" destId="{6E4FE20A-7915-41B1-807E-BF4A8AA49F02}" srcOrd="0" destOrd="0" presId="urn:microsoft.com/office/officeart/2018/2/layout/IconVerticalSolidList"/>
    <dgm:cxn modelId="{49A25C4D-97CB-47CD-84B2-470F3C29B46B}" type="presParOf" srcId="{EE163B25-E9C2-479F-AE71-12E5DE7A0168}" destId="{754FFC2A-287E-4FA7-922E-CDD4504A5EC3}" srcOrd="1" destOrd="0" presId="urn:microsoft.com/office/officeart/2018/2/layout/IconVerticalSolidList"/>
    <dgm:cxn modelId="{AF487966-4794-44BD-A69A-23EF2D3AC96E}" type="presParOf" srcId="{EE163B25-E9C2-479F-AE71-12E5DE7A0168}" destId="{F2F45FF8-7CE5-4A4E-9A11-EA01274DBD1A}" srcOrd="2" destOrd="0" presId="urn:microsoft.com/office/officeart/2018/2/layout/IconVerticalSolidList"/>
    <dgm:cxn modelId="{BA4E66E4-96CA-4595-A742-4DB69ABE3BA7}" type="presParOf" srcId="{EE163B25-E9C2-479F-AE71-12E5DE7A0168}" destId="{0E62358E-9264-469B-A415-0CB9701BAF64}" srcOrd="3" destOrd="0" presId="urn:microsoft.com/office/officeart/2018/2/layout/IconVerticalSolidList"/>
    <dgm:cxn modelId="{4226D6B6-5BEB-4890-A6D6-8FF0007F5906}" type="presParOf" srcId="{01B3C433-57FC-4A83-B394-5D8B570A104F}" destId="{FF7EFBD1-F585-4553-B445-823FCD627A32}" srcOrd="5" destOrd="0" presId="urn:microsoft.com/office/officeart/2018/2/layout/IconVerticalSolidList"/>
    <dgm:cxn modelId="{66056BB9-A908-4020-9ED7-1245D3B01F4B}" type="presParOf" srcId="{01B3C433-57FC-4A83-B394-5D8B570A104F}" destId="{3D2330FD-100F-4BE8-8779-394A10D18843}" srcOrd="6" destOrd="0" presId="urn:microsoft.com/office/officeart/2018/2/layout/IconVerticalSolidList"/>
    <dgm:cxn modelId="{E8D9795E-FBB6-49BA-87CC-0AC233AEF85C}" type="presParOf" srcId="{3D2330FD-100F-4BE8-8779-394A10D18843}" destId="{8DFBF0A9-10EF-446A-908A-E4C56A98648A}" srcOrd="0" destOrd="0" presId="urn:microsoft.com/office/officeart/2018/2/layout/IconVerticalSolidList"/>
    <dgm:cxn modelId="{3C241105-949E-4D12-96BA-C2AE96AFAFAE}" type="presParOf" srcId="{3D2330FD-100F-4BE8-8779-394A10D18843}" destId="{A21E560F-3B83-4BCF-8CBD-DC33C176D102}" srcOrd="1" destOrd="0" presId="urn:microsoft.com/office/officeart/2018/2/layout/IconVerticalSolidList"/>
    <dgm:cxn modelId="{F48BD632-E69E-4740-8A20-206BA1951DCE}" type="presParOf" srcId="{3D2330FD-100F-4BE8-8779-394A10D18843}" destId="{8D708883-8D9E-4A44-81BD-F1EBC80890E6}" srcOrd="2" destOrd="0" presId="urn:microsoft.com/office/officeart/2018/2/layout/IconVerticalSolidList"/>
    <dgm:cxn modelId="{F42909CF-D76E-41F7-93B9-1C49B57BB625}" type="presParOf" srcId="{3D2330FD-100F-4BE8-8779-394A10D18843}" destId="{5B29179D-23FD-46EB-9721-848F9BF5E9D2}" srcOrd="3" destOrd="0" presId="urn:microsoft.com/office/officeart/2018/2/layout/IconVerticalSolidList"/>
    <dgm:cxn modelId="{3C9DC447-E068-4F40-B439-FED2D093D294}" type="presParOf" srcId="{01B3C433-57FC-4A83-B394-5D8B570A104F}" destId="{36B33250-39A3-41F5-B400-320E89740311}" srcOrd="7" destOrd="0" presId="urn:microsoft.com/office/officeart/2018/2/layout/IconVerticalSolidList"/>
    <dgm:cxn modelId="{F7C5D2D1-E379-4E4F-A910-A3EC4A5A6972}" type="presParOf" srcId="{01B3C433-57FC-4A83-B394-5D8B570A104F}" destId="{C2156040-ED94-4642-B8DD-2D216B47BC6F}" srcOrd="8" destOrd="0" presId="urn:microsoft.com/office/officeart/2018/2/layout/IconVerticalSolidList"/>
    <dgm:cxn modelId="{2FBE6D1C-41C1-4445-8859-6F3BB524EB43}" type="presParOf" srcId="{C2156040-ED94-4642-B8DD-2D216B47BC6F}" destId="{C43C8699-42B9-4E43-A120-5BD416F5083D}" srcOrd="0" destOrd="0" presId="urn:microsoft.com/office/officeart/2018/2/layout/IconVerticalSolidList"/>
    <dgm:cxn modelId="{22B5C35A-2F60-41F0-B3FE-2B6706A35EF1}" type="presParOf" srcId="{C2156040-ED94-4642-B8DD-2D216B47BC6F}" destId="{53D606F1-A923-4B7F-8E54-1BE0E26E4259}" srcOrd="1" destOrd="0" presId="urn:microsoft.com/office/officeart/2018/2/layout/IconVerticalSolidList"/>
    <dgm:cxn modelId="{7C438610-08AA-4381-90F2-B02621F9685A}" type="presParOf" srcId="{C2156040-ED94-4642-B8DD-2D216B47BC6F}" destId="{2F2825FB-849E-40DA-B1FB-7A609347AD74}" srcOrd="2" destOrd="0" presId="urn:microsoft.com/office/officeart/2018/2/layout/IconVerticalSolidList"/>
    <dgm:cxn modelId="{0270779E-3F35-4EE1-9A2C-E0426B59469A}" type="presParOf" srcId="{C2156040-ED94-4642-B8DD-2D216B47BC6F}" destId="{C3FBE54A-894B-41CE-95FE-6880D444217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2477FC-8D39-4629-B831-4F5D905D58F8}">
      <dsp:nvSpPr>
        <dsp:cNvPr id="0" name=""/>
        <dsp:cNvSpPr/>
      </dsp:nvSpPr>
      <dsp:spPr>
        <a:xfrm>
          <a:off x="0" y="7287"/>
          <a:ext cx="10515600" cy="8487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7362BF-DDF9-4C10-AAB0-DDC1BE33475A}">
      <dsp:nvSpPr>
        <dsp:cNvPr id="0" name=""/>
        <dsp:cNvSpPr/>
      </dsp:nvSpPr>
      <dsp:spPr>
        <a:xfrm>
          <a:off x="256744" y="198253"/>
          <a:ext cx="467263" cy="466807"/>
        </a:xfrm>
        <a:prstGeom prst="rect">
          <a:avLst/>
        </a:prstGeom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7B7123-81D8-4115-B507-12F53F70D431}">
      <dsp:nvSpPr>
        <dsp:cNvPr id="0" name=""/>
        <dsp:cNvSpPr/>
      </dsp:nvSpPr>
      <dsp:spPr>
        <a:xfrm>
          <a:off x="980751" y="7287"/>
          <a:ext cx="9475938" cy="954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053" tIns="101053" rIns="101053" bIns="10105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i="0" kern="1200" dirty="0"/>
            <a:t>Robotic-Assisted Surgery:</a:t>
          </a:r>
          <a:r>
            <a:rPr lang="en-GB" sz="1800" b="0" i="0" kern="1200" dirty="0"/>
            <a:t> The system provides a set of robotic arms controlled by a surgeon from a console.</a:t>
          </a:r>
          <a:endParaRPr lang="en-US" sz="1800" kern="1200" dirty="0"/>
        </a:p>
      </dsp:txBody>
      <dsp:txXfrm>
        <a:off x="980751" y="7287"/>
        <a:ext cx="9475938" cy="954833"/>
      </dsp:txXfrm>
    </dsp:sp>
    <dsp:sp modelId="{923D3D77-56ED-4DC5-B1DD-E18B7FD5E574}">
      <dsp:nvSpPr>
        <dsp:cNvPr id="0" name=""/>
        <dsp:cNvSpPr/>
      </dsp:nvSpPr>
      <dsp:spPr>
        <a:xfrm>
          <a:off x="0" y="1200829"/>
          <a:ext cx="10515600" cy="8487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65E645-C442-48C5-B967-6885D27475E0}">
      <dsp:nvSpPr>
        <dsp:cNvPr id="0" name=""/>
        <dsp:cNvSpPr/>
      </dsp:nvSpPr>
      <dsp:spPr>
        <a:xfrm>
          <a:off x="256744" y="1391795"/>
          <a:ext cx="467263" cy="466807"/>
        </a:xfrm>
        <a:prstGeom prst="rect">
          <a:avLst/>
        </a:prstGeom>
        <a:blipFill>
          <a:blip xmlns:r="http://schemas.openxmlformats.org/officeDocument/2006/relationships"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68A998-30A8-41E2-9A35-66C906A7EBFC}">
      <dsp:nvSpPr>
        <dsp:cNvPr id="0" name=""/>
        <dsp:cNvSpPr/>
      </dsp:nvSpPr>
      <dsp:spPr>
        <a:xfrm>
          <a:off x="980751" y="1200829"/>
          <a:ext cx="9475938" cy="954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053" tIns="101053" rIns="101053" bIns="10105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i="0" kern="1200" dirty="0"/>
            <a:t>High Precision:</a:t>
          </a:r>
          <a:r>
            <a:rPr lang="en-GB" sz="1800" b="0" i="0" kern="1200" dirty="0"/>
            <a:t> It allows surgeons to perform complex procedures with increased precision, flexibility, and control compared to conventional techniques.</a:t>
          </a:r>
          <a:endParaRPr lang="en-US" sz="1800" kern="1200" dirty="0"/>
        </a:p>
      </dsp:txBody>
      <dsp:txXfrm>
        <a:off x="980751" y="1200829"/>
        <a:ext cx="9475938" cy="954833"/>
      </dsp:txXfrm>
    </dsp:sp>
    <dsp:sp modelId="{6E4FE20A-7915-41B1-807E-BF4A8AA49F02}">
      <dsp:nvSpPr>
        <dsp:cNvPr id="0" name=""/>
        <dsp:cNvSpPr/>
      </dsp:nvSpPr>
      <dsp:spPr>
        <a:xfrm>
          <a:off x="0" y="2394370"/>
          <a:ext cx="10515600" cy="8487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4FFC2A-287E-4FA7-922E-CDD4504A5EC3}">
      <dsp:nvSpPr>
        <dsp:cNvPr id="0" name=""/>
        <dsp:cNvSpPr/>
      </dsp:nvSpPr>
      <dsp:spPr>
        <a:xfrm>
          <a:off x="256744" y="2585337"/>
          <a:ext cx="467263" cy="466807"/>
        </a:xfrm>
        <a:prstGeom prst="rect">
          <a:avLst/>
        </a:prstGeom>
        <a:blipFill>
          <a:blip xmlns:r="http://schemas.openxmlformats.org/officeDocument/2006/relationships"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62358E-9264-469B-A415-0CB9701BAF64}">
      <dsp:nvSpPr>
        <dsp:cNvPr id="0" name=""/>
        <dsp:cNvSpPr/>
      </dsp:nvSpPr>
      <dsp:spPr>
        <a:xfrm>
          <a:off x="980751" y="2394370"/>
          <a:ext cx="9475938" cy="954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053" tIns="101053" rIns="101053" bIns="10105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i="0" kern="1200" dirty="0"/>
            <a:t>3D High-Definition Vision System:</a:t>
          </a:r>
          <a:r>
            <a:rPr lang="en-GB" sz="1800" b="0" i="0" kern="1200" dirty="0"/>
            <a:t> Offers surgeons a true-to-life 3D HD view inside the patient's body to enhance visibility.</a:t>
          </a:r>
          <a:endParaRPr lang="en-US" sz="1800" kern="1200" dirty="0"/>
        </a:p>
      </dsp:txBody>
      <dsp:txXfrm>
        <a:off x="980751" y="2394370"/>
        <a:ext cx="9475938" cy="954833"/>
      </dsp:txXfrm>
    </dsp:sp>
    <dsp:sp modelId="{8DFBF0A9-10EF-446A-908A-E4C56A98648A}">
      <dsp:nvSpPr>
        <dsp:cNvPr id="0" name=""/>
        <dsp:cNvSpPr/>
      </dsp:nvSpPr>
      <dsp:spPr>
        <a:xfrm>
          <a:off x="0" y="3587912"/>
          <a:ext cx="10515600" cy="8487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1E560F-3B83-4BCF-8CBD-DC33C176D102}">
      <dsp:nvSpPr>
        <dsp:cNvPr id="0" name=""/>
        <dsp:cNvSpPr/>
      </dsp:nvSpPr>
      <dsp:spPr>
        <a:xfrm>
          <a:off x="256744" y="3778879"/>
          <a:ext cx="467263" cy="466807"/>
        </a:xfrm>
        <a:prstGeom prst="rect">
          <a:avLst/>
        </a:prstGeom>
        <a:blipFill>
          <a:blip xmlns:r="http://schemas.openxmlformats.org/officeDocument/2006/relationships"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29179D-23FD-46EB-9721-848F9BF5E9D2}">
      <dsp:nvSpPr>
        <dsp:cNvPr id="0" name=""/>
        <dsp:cNvSpPr/>
      </dsp:nvSpPr>
      <dsp:spPr>
        <a:xfrm>
          <a:off x="980751" y="3587912"/>
          <a:ext cx="9475938" cy="954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053" tIns="101053" rIns="101053" bIns="10105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i="0" kern="1200" dirty="0"/>
            <a:t>Minimally Invasive:</a:t>
          </a:r>
          <a:r>
            <a:rPr lang="en-GB" sz="1800" b="0" i="0" kern="1200" dirty="0"/>
            <a:t> Designed to facilitate complex surgery using a minimally invasive approach, intended to reduce recovery time and potential complications.</a:t>
          </a:r>
          <a:endParaRPr lang="en-US" sz="1800" kern="1200" dirty="0"/>
        </a:p>
      </dsp:txBody>
      <dsp:txXfrm>
        <a:off x="980751" y="3587912"/>
        <a:ext cx="9475938" cy="954833"/>
      </dsp:txXfrm>
    </dsp:sp>
    <dsp:sp modelId="{C43C8699-42B9-4E43-A120-5BD416F5083D}">
      <dsp:nvSpPr>
        <dsp:cNvPr id="0" name=""/>
        <dsp:cNvSpPr/>
      </dsp:nvSpPr>
      <dsp:spPr>
        <a:xfrm>
          <a:off x="0" y="4781454"/>
          <a:ext cx="10515600" cy="8487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D606F1-A923-4B7F-8E54-1BE0E26E4259}">
      <dsp:nvSpPr>
        <dsp:cNvPr id="0" name=""/>
        <dsp:cNvSpPr/>
      </dsp:nvSpPr>
      <dsp:spPr>
        <a:xfrm>
          <a:off x="256995" y="4972421"/>
          <a:ext cx="467263" cy="466807"/>
        </a:xfrm>
        <a:prstGeom prst="rect">
          <a:avLst/>
        </a:prstGeom>
        <a:blipFill>
          <a:blip xmlns:r="http://schemas.openxmlformats.org/officeDocument/2006/relationships"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FBE54A-894B-41CE-95FE-6880D444217A}">
      <dsp:nvSpPr>
        <dsp:cNvPr id="0" name=""/>
        <dsp:cNvSpPr/>
      </dsp:nvSpPr>
      <dsp:spPr>
        <a:xfrm>
          <a:off x="981253" y="4781454"/>
          <a:ext cx="9411689" cy="954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053" tIns="101053" rIns="101053" bIns="10105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i="0" kern="1200" dirty="0"/>
            <a:t>Ergonomic Design:</a:t>
          </a:r>
          <a:r>
            <a:rPr lang="en-GB" sz="1800" b="0" i="0" kern="1200" dirty="0"/>
            <a:t> The surgeon's console is designed to provide comfort and to align the surgeon's eyes and hands with the instruments while providing a natural and intuitive experience.</a:t>
          </a:r>
          <a:endParaRPr lang="en-US" sz="1800" kern="1200" dirty="0"/>
        </a:p>
      </dsp:txBody>
      <dsp:txXfrm>
        <a:off x="981253" y="4781454"/>
        <a:ext cx="9411689" cy="9548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BDEF7-F8A4-0DDD-EDDF-754977EA5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677652-306A-D6AB-CB4B-F73EA5D52E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BEB5C-1C06-6135-8CEF-BA64C51BE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60BFD-9D77-4ACD-9D50-32792F2B76D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7A5CA-E321-9A37-8934-52F98AAE3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714C9-0E32-7F0A-8C25-CF73E4131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98D9D-D974-4AC4-97D4-D7075EE47A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1091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F50BD-F97D-97CA-4D54-AFACD6665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73152-97D8-2F0D-FB61-81D30D414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ED0D5-2F57-AE55-8604-28F06C201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60BFD-9D77-4ACD-9D50-32792F2B76D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DC02A-0AD6-7C83-974C-B0E93D3AC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49CA5-22BE-1BCF-D6AB-FA067DB77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98D9D-D974-4AC4-97D4-D7075EE47A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333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B97E3-BE5A-20D4-C3A8-063D59AA0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5BB52-2ECB-32FC-6C31-C5EA65884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CA072-35E0-A1A3-B76E-C437A50E4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60BFD-9D77-4ACD-9D50-32792F2B76D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1D174-B313-C9E1-79BB-4907A7A76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47391-B3BA-D736-98C0-21A3CD6E6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98D9D-D974-4AC4-97D4-D7075EE47A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715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6C08-3A32-4175-E968-7285167CE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E7AD6-2710-E15E-E1A9-4DB84F6B8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C32B38-BAB0-55C9-3BF6-3C7447608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2D3AF-3BAA-D39B-63CE-62874261A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60BFD-9D77-4ACD-9D50-32792F2B76D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C235D-26F3-B0EA-3C3E-9A652F4DA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334FE-530E-5F90-E248-9E1CB4E23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98D9D-D974-4AC4-97D4-D7075EE47A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876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CE2AF-DD30-2960-1AED-8766F15A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EFED9-CB52-E6BD-7933-C388CE614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D9806-AB38-2772-A546-2E4986968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8BEB3-869A-8483-1861-5811C9626D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569B52-525C-F8EB-E333-60DA588537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CEC875-01B6-3BBE-7147-5649A6CDE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60BFD-9D77-4ACD-9D50-32792F2B76D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5B0F93-A913-5D78-0CAA-1EE839A7D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4D2209-8B34-A845-3D80-7ED294CB5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98D9D-D974-4AC4-97D4-D7075EE47A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0561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3B2ED-5945-0B04-E7AC-FD57D0A9A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FD429-C4B4-9462-10C8-4A3D02D59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60BFD-9D77-4ACD-9D50-32792F2B76D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1D8AA-3CC2-0BBB-9E7A-91A5AF5F4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58D0C-0273-E26C-EE31-B8226F3ED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98D9D-D974-4AC4-97D4-D7075EE47A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5167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03A3E7-BF51-F0B9-C9C0-EF5C45F34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60BFD-9D77-4ACD-9D50-32792F2B76D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252C5-BE4D-BFA6-1A0E-FB6BC564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E1FEC-6BEB-89C5-41E1-223A346A3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98D9D-D974-4AC4-97D4-D7075EE47A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3643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FA73E-711B-F907-D35F-CA57AF947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B93BA-F741-02E7-3C45-527EB4589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858775-F432-66F1-9E21-3E7C65558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68F27-6401-C291-F176-046606632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60BFD-9D77-4ACD-9D50-32792F2B76D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DA6B9-F09D-B1A6-C8F4-B93A08408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291CE-C889-3C03-412C-A663E23A0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98D9D-D974-4AC4-97D4-D7075EE47A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240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6C035-BDB9-4584-5B5F-4A8B60334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6CCDEB-B26D-F54B-E0D4-6E5317FE8B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2C1AE-C52A-8963-A9F6-E7D23B067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6DB8B-FCF1-0601-8D27-0A6A54003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60BFD-9D77-4ACD-9D50-32792F2B76D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AE951-2E22-F3E6-139C-7F91BCBA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17742-90CC-CDD7-E3C1-74348E706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98D9D-D974-4AC4-97D4-D7075EE47A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01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6355-9D7A-1CC4-6A0F-A4EB5BACE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817CCC-0FEC-D1DA-A0FF-71A26063D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24DEE-BCBA-9B30-EA85-3BD67B87D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60BFD-9D77-4ACD-9D50-32792F2B76D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1942D-AF0C-3901-25BA-4E4BEDF01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A968A-EA12-464C-6E1B-42BD7468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98D9D-D974-4AC4-97D4-D7075EE47A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097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B5CF9B-A9BB-ED14-C16E-973A27EB07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529A70-6223-6B11-6678-F0930A91D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B8C77-D8DA-3701-AB95-143406567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60BFD-9D77-4ACD-9D50-32792F2B76D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51816-6BDB-8721-7D27-34C82B0DC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A75CB-4722-3049-7597-173B161A2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98D9D-D974-4AC4-97D4-D7075EE47A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594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8620CC-2370-B630-9092-CC574000B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0178A-4FB6-C02E-F532-16F7E6205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A7761-EA84-2A96-F974-41865AD285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60BFD-9D77-4ACD-9D50-32792F2B76D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71241-1DE1-0CEC-26BB-A4E668020E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E99F1-3859-3EBA-40B8-EBA9A56A4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F98D9D-D974-4AC4-97D4-D7075EE47A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2649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CF41F8-FBC6-29EC-F921-AFBEAD725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GB" sz="2800" b="0" i="0" dirty="0">
                <a:solidFill>
                  <a:schemeClr val="tx2"/>
                </a:solidFill>
                <a:effectLst/>
                <a:latin typeface="Söhne"/>
              </a:rPr>
              <a:t>Robotics and Healthcare</a:t>
            </a:r>
            <a:br>
              <a:rPr lang="en-GB" sz="2800" b="0" i="0" dirty="0">
                <a:solidFill>
                  <a:schemeClr val="tx2"/>
                </a:solidFill>
                <a:effectLst/>
                <a:latin typeface="Söhne"/>
              </a:rPr>
            </a:br>
            <a:br>
              <a:rPr lang="en-GB" sz="2800" b="0" i="0" dirty="0">
                <a:solidFill>
                  <a:schemeClr val="tx2"/>
                </a:solidFill>
                <a:effectLst/>
                <a:latin typeface="Söhne"/>
              </a:rPr>
            </a:br>
            <a:endParaRPr lang="en-GB" sz="28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53F9D-BE33-C039-356B-37A9C764A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GB" sz="2000" b="0" i="0">
                <a:solidFill>
                  <a:schemeClr val="tx2"/>
                </a:solidFill>
                <a:effectLst/>
                <a:latin typeface="Söhne"/>
              </a:rPr>
              <a:t>Transforming Patient Care through Innovation</a:t>
            </a:r>
            <a:endParaRPr lang="en-GB" sz="2000">
              <a:solidFill>
                <a:schemeClr val="tx2"/>
              </a:solidFill>
            </a:endParaRPr>
          </a:p>
        </p:txBody>
      </p: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E5611C72-25B1-FE48-148D-369D38120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22699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robot in a room with a group of people in the background&#10;&#10;Description automatically generated">
            <a:extLst>
              <a:ext uri="{FF2B5EF4-FFF2-40B4-BE49-F238E27FC236}">
                <a16:creationId xmlns:a16="http://schemas.microsoft.com/office/drawing/2014/main" id="{CCB84E57-ED00-E7C4-2960-89017B5235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457200"/>
            <a:ext cx="5943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354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447CB9-6A3F-ED2F-B16D-D1E8540E9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3700" b="1" i="0">
                <a:effectLst/>
                <a:latin typeface="Söhne"/>
              </a:rPr>
              <a:t>Introduction to Robotics in Healthcare</a:t>
            </a:r>
            <a:br>
              <a:rPr lang="en-GB" sz="3700" b="1" i="0">
                <a:effectLst/>
                <a:latin typeface="Söhne"/>
              </a:rPr>
            </a:br>
            <a:endParaRPr lang="en-GB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D8AD2-3ED5-8CBC-3CA4-0647069AA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0" i="0" dirty="0">
                <a:effectLst/>
                <a:latin typeface="Söhne"/>
              </a:rPr>
              <a:t>Importance of robotics in modern medicine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0" i="0" dirty="0">
                <a:effectLst/>
                <a:latin typeface="Söhne"/>
              </a:rPr>
              <a:t>Key areas of impact: surgery, rehabilitation, patient care, and pharmacy automation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000" dirty="0"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400" b="0" i="0" dirty="0">
                <a:solidFill>
                  <a:schemeClr val="accent1">
                    <a:lumMod val="75000"/>
                  </a:schemeClr>
                </a:solidFill>
                <a:effectLst/>
                <a:latin typeface="Söhne"/>
              </a:rPr>
              <a:t>https://www.youtube.com/watch?v=2TcmjL6ZQzc</a:t>
            </a:r>
          </a:p>
          <a:p>
            <a:endParaRPr lang="en-GB" sz="2000" dirty="0"/>
          </a:p>
        </p:txBody>
      </p:sp>
      <p:pic>
        <p:nvPicPr>
          <p:cNvPr id="5" name="Picture 4" descr="A robot with a face">
            <a:extLst>
              <a:ext uri="{FF2B5EF4-FFF2-40B4-BE49-F238E27FC236}">
                <a16:creationId xmlns:a16="http://schemas.microsoft.com/office/drawing/2014/main" id="{63883DCE-F1B7-CE65-D8EF-91CC2E7E9D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258" r="1382" b="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928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Claw building a card house">
            <a:extLst>
              <a:ext uri="{FF2B5EF4-FFF2-40B4-BE49-F238E27FC236}">
                <a16:creationId xmlns:a16="http://schemas.microsoft.com/office/drawing/2014/main" id="{FD132147-51C3-4A1A-CB32-9196C88E37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3" b="15473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849114-38FB-EE4A-9ACD-A9CE3270A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GB" sz="3700" b="1" i="0">
                <a:effectLst/>
                <a:latin typeface="Söhne"/>
              </a:rPr>
              <a:t>Types of Robots in Healthcare</a:t>
            </a:r>
            <a:br>
              <a:rPr lang="en-GB" sz="3700" b="1" i="0">
                <a:effectLst/>
                <a:latin typeface="Söhne"/>
              </a:rPr>
            </a:br>
            <a:endParaRPr lang="en-GB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10DD3-E74B-3BAD-1686-A14E33E41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900" b="1" i="0" dirty="0">
                <a:effectLst/>
                <a:latin typeface="Söhne"/>
              </a:rPr>
              <a:t>Care Robots:</a:t>
            </a:r>
            <a:r>
              <a:rPr lang="en-GB" sz="1900" b="0" i="0" dirty="0">
                <a:effectLst/>
                <a:latin typeface="Söhne"/>
              </a:rPr>
              <a:t> Provide support in routine patient care, companionship, and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900" b="1" i="0" dirty="0">
                <a:effectLst/>
                <a:latin typeface="Söhne"/>
              </a:rPr>
              <a:t>Disinfection Robots:</a:t>
            </a:r>
            <a:r>
              <a:rPr lang="en-GB" sz="1900" b="0" i="0" dirty="0">
                <a:effectLst/>
                <a:latin typeface="Söhne"/>
              </a:rPr>
              <a:t> Use UV light or chemical methods to sterilize hospital environments</a:t>
            </a:r>
          </a:p>
          <a:p>
            <a:endParaRPr lang="en-GB" sz="1900" dirty="0"/>
          </a:p>
        </p:txBody>
      </p:sp>
    </p:spTree>
    <p:extLst>
      <p:ext uri="{BB962C8B-B14F-4D97-AF65-F5344CB8AC3E}">
        <p14:creationId xmlns:p14="http://schemas.microsoft.com/office/powerpoint/2010/main" val="1082341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D6ABB-E130-52C3-B574-43557CFB0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hat are the main types of robots used in healthcare?">
            <a:extLst>
              <a:ext uri="{FF2B5EF4-FFF2-40B4-BE49-F238E27FC236}">
                <a16:creationId xmlns:a16="http://schemas.microsoft.com/office/drawing/2014/main" id="{EDC90FB5-BDB5-44D1-186C-0677DF768E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79"/>
          <a:stretch/>
        </p:blipFill>
        <p:spPr bwMode="auto">
          <a:xfrm>
            <a:off x="20" y="10"/>
            <a:ext cx="12191979" cy="6857988"/>
          </a:xfrm>
          <a:prstGeom prst="rect">
            <a:avLst/>
          </a:prstGeom>
          <a:noFill/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3802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AD90-B5AC-3DC2-CA86-9C4C5D45C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Robots cleaning the office">
            <a:extLst>
              <a:ext uri="{FF2B5EF4-FFF2-40B4-BE49-F238E27FC236}">
                <a16:creationId xmlns:a16="http://schemas.microsoft.com/office/drawing/2014/main" id="{BDA419E3-9CB8-3194-2A53-803890F2B4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15" b="26245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25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FB9FE-EAD8-67E6-A0E7-813DAC60A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law building a card house">
            <a:extLst>
              <a:ext uri="{FF2B5EF4-FFF2-40B4-BE49-F238E27FC236}">
                <a16:creationId xmlns:a16="http://schemas.microsoft.com/office/drawing/2014/main" id="{6F0C7562-BFEB-80F2-2E28-0EF4E37BB5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3" b="15473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CFB351-DDA3-F939-DF3E-976F538CF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GB" sz="3700" b="1" i="0">
                <a:effectLst/>
                <a:latin typeface="Söhne"/>
              </a:rPr>
              <a:t>Types of Robots in Healthcare</a:t>
            </a:r>
            <a:br>
              <a:rPr lang="en-GB" sz="3700" b="1" i="0">
                <a:effectLst/>
                <a:latin typeface="Söhne"/>
              </a:rPr>
            </a:br>
            <a:endParaRPr lang="en-GB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85DBC-440C-5CFD-47D9-4D671D98F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/>
          </a:bodyPr>
          <a:lstStyle/>
          <a:p>
            <a:r>
              <a:rPr lang="en-GB" sz="1900" b="1" i="0" dirty="0">
                <a:effectLst/>
                <a:latin typeface="Söhne"/>
              </a:rPr>
              <a:t>Surgical Robots:</a:t>
            </a:r>
            <a:r>
              <a:rPr lang="en-GB" sz="1900" b="0" i="0" dirty="0">
                <a:effectLst/>
                <a:latin typeface="Söhne"/>
              </a:rPr>
              <a:t> Assist in performing precise surgeries, e.g., Da Vinci Surgical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900" b="1" i="0" dirty="0">
                <a:effectLst/>
                <a:latin typeface="Söhne"/>
              </a:rPr>
              <a:t>Rehabilitation Robots:</a:t>
            </a:r>
            <a:r>
              <a:rPr lang="en-GB" sz="1900" b="0" i="0" dirty="0">
                <a:effectLst/>
                <a:latin typeface="Söhne"/>
              </a:rPr>
              <a:t> Aid in patient recovery and mobility enhancement</a:t>
            </a:r>
          </a:p>
          <a:p>
            <a:endParaRPr lang="en-GB" sz="1900" dirty="0"/>
          </a:p>
        </p:txBody>
      </p:sp>
    </p:spTree>
    <p:extLst>
      <p:ext uri="{BB962C8B-B14F-4D97-AF65-F5344CB8AC3E}">
        <p14:creationId xmlns:p14="http://schemas.microsoft.com/office/powerpoint/2010/main" val="4087590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8179D-2560-C0B0-82C3-B0CD87492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Da Vinci Surgical System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58FC9-511C-2128-62AB-B29B8CED2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The Da Vinci Surgical System represents a significant advance in minimally invasive surgery, aiming to improve clinical outcomes and redefine the experience of surgery for patients.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2180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9B6DD-1780-5808-A6F6-CA282E02B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AD559-2968-BF0A-6AA2-5241B9876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36950B-FBC9-62D7-8937-2E5DBD5091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3034293"/>
              </p:ext>
            </p:extLst>
          </p:nvPr>
        </p:nvGraphicFramePr>
        <p:xfrm>
          <a:off x="838200" y="700088"/>
          <a:ext cx="10515600" cy="5743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8085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D9DD28-C8E5-532B-179D-41DFDBFDB8B3}"/>
              </a:ext>
            </a:extLst>
          </p:cNvPr>
          <p:cNvSpPr txBox="1"/>
          <p:nvPr/>
        </p:nvSpPr>
        <p:spPr>
          <a:xfrm>
            <a:off x="761800" y="1200150"/>
            <a:ext cx="9590349" cy="5062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Enhanced Dexterity: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The system's instruments offer a greater range of motion than the human hand.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Scaled Movements: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The system can scale the surgeon's hand movements, translating them into smaller, precise movements of tiny instruments inside the body.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Teaching Tool: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It can be used as an educational platform, providing an immersive experience for surgical trainees.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Widely Adopted: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Used worldwide in hundreds of thousands of surgeries, including cardiac, colorectal, gynecologic, head and neck, thoracic, and urologic procedures.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Continuous Innovation: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The platform is continually evolving, incorporating the latest in robotics and computer technologies.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EE9FD-3CD9-4194-EA8D-2F28CEB01D46}"/>
              </a:ext>
            </a:extLst>
          </p:cNvPr>
          <p:cNvSpPr>
            <a:spLocks/>
          </p:cNvSpPr>
          <p:nvPr/>
        </p:nvSpPr>
        <p:spPr>
          <a:xfrm>
            <a:off x="1120477" y="1416644"/>
            <a:ext cx="9951041" cy="4117725"/>
          </a:xfrm>
          <a:prstGeom prst="rect">
            <a:avLst/>
          </a:prstGeom>
        </p:spPr>
        <p:txBody>
          <a:bodyPr/>
          <a:lstStyle/>
          <a:p>
            <a:pPr defTabSz="859536">
              <a:spcAft>
                <a:spcPts val="600"/>
              </a:spcAft>
            </a:pPr>
            <a:r>
              <a:rPr lang="en-GB" sz="169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7121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AF255-8E7A-9EF7-BB06-B30C0BC0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Robots Are Redefining Health Care: 6 Recent Innovations |  RoboticsTomorrow">
            <a:extLst>
              <a:ext uri="{FF2B5EF4-FFF2-40B4-BE49-F238E27FC236}">
                <a16:creationId xmlns:a16="http://schemas.microsoft.com/office/drawing/2014/main" id="{B6A9B04A-3BCB-EE42-2681-B891159190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46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1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robots in a room&#10;&#10;Description automatically generated">
            <a:extLst>
              <a:ext uri="{FF2B5EF4-FFF2-40B4-BE49-F238E27FC236}">
                <a16:creationId xmlns:a16="http://schemas.microsoft.com/office/drawing/2014/main" id="{DEA3C332-D541-0FCD-3B50-C4722B4837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70" r="-2" b="15910"/>
          <a:stretch/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855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Robots are Transforming the Healthcare Industry | RobotShop Community">
            <a:extLst>
              <a:ext uri="{FF2B5EF4-FFF2-40B4-BE49-F238E27FC236}">
                <a16:creationId xmlns:a16="http://schemas.microsoft.com/office/drawing/2014/main" id="{9C405BF5-E5B6-63A2-D669-740C0456E9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68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9638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3B36-2F14-8DFB-6E75-D28790189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GB" sz="3200" dirty="0"/>
              <a:t> </a:t>
            </a:r>
          </a:p>
        </p:txBody>
      </p:sp>
      <p:pic>
        <p:nvPicPr>
          <p:cNvPr id="13" name="Picture 12" descr="A robot illustration of a family">
            <a:extLst>
              <a:ext uri="{FF2B5EF4-FFF2-40B4-BE49-F238E27FC236}">
                <a16:creationId xmlns:a16="http://schemas.microsoft.com/office/drawing/2014/main" id="{B7A9A940-0F01-CF61-F21C-7263E2A04F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52" r="44398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EC3F0-2A11-961D-5FCC-FF350B997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r>
              <a:rPr lang="en-GB" sz="2400" b="0" i="0" dirty="0">
                <a:effectLst/>
                <a:latin typeface="Söhne"/>
              </a:rPr>
              <a:t>These robots are equipped with features to aid in walking, balance, and strength exercises, highlighting the integration of robotics in enhancing rehabilitation techniques and providing personalized support.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552354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E106-00AB-4C26-24FF-6360F4D64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OpenEvidence</a:t>
            </a:r>
            <a:endParaRPr lang="en-GB" dirty="0"/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A413927-8609-9FBB-0021-648C468481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00" b="1388"/>
          <a:stretch/>
        </p:blipFill>
        <p:spPr>
          <a:xfrm>
            <a:off x="2543598" y="2621563"/>
            <a:ext cx="5801784" cy="2412000"/>
          </a:xfrm>
        </p:spPr>
      </p:pic>
    </p:spTree>
    <p:extLst>
      <p:ext uri="{BB962C8B-B14F-4D97-AF65-F5344CB8AC3E}">
        <p14:creationId xmlns:p14="http://schemas.microsoft.com/office/powerpoint/2010/main" val="2064071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49D7F1-B9B3-F291-0AF0-1DE3B8913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IE" sz="3400"/>
              <a:t>South Korean team develops ‘Iron Man’ robot that helps paraplegics walk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9352F-441F-97C3-48B3-BC6DBE774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en-IE" sz="1700" dirty="0"/>
              <a:t>Korean (Reuters) researchers have developed a lightweight wearable robot that can walk up to paraplegic users and lock itself onto them, enabling them to walk, manoeuvre obstacles and climb staircases.</a:t>
            </a:r>
          </a:p>
          <a:p>
            <a:r>
              <a:rPr lang="en-IE" sz="1700" dirty="0"/>
              <a:t>The Exoskeleton Laboratory team at the Korea Advanced Institute of Science and Technology (KAIST) said their goal is to create a robot that seamlessly integrates into the daily lives of individuals with disabilities.</a:t>
            </a:r>
          </a:p>
          <a:p>
            <a:endParaRPr lang="en-IE" sz="1700" dirty="0"/>
          </a:p>
          <a:p>
            <a:r>
              <a:rPr lang="en-US" sz="1700" i="1" dirty="0">
                <a:solidFill>
                  <a:schemeClr val="bg2">
                    <a:lumMod val="75000"/>
                  </a:schemeClr>
                </a:solidFill>
              </a:rPr>
              <a:t>https://</a:t>
            </a:r>
            <a:r>
              <a:rPr lang="en-US" sz="1700" i="1" dirty="0" err="1">
                <a:solidFill>
                  <a:schemeClr val="bg2">
                    <a:lumMod val="75000"/>
                  </a:schemeClr>
                </a:solidFill>
              </a:rPr>
              <a:t>www.reuters.com</a:t>
            </a:r>
            <a:r>
              <a:rPr lang="en-US" sz="1700" i="1" dirty="0">
                <a:solidFill>
                  <a:schemeClr val="bg2">
                    <a:lumMod val="75000"/>
                  </a:schemeClr>
                </a:solidFill>
              </a:rPr>
              <a:t>/technology/south-korean-team-develops-iron-man-robot-that-helps-paraplegics-walk-2024-12-23/</a:t>
            </a:r>
          </a:p>
        </p:txBody>
      </p:sp>
      <p:pic>
        <p:nvPicPr>
          <p:cNvPr id="4" name="Picture 3" descr="South Korean team develops 'Iron Man' robot that helps paraplegics walk |  Reuters">
            <a:extLst>
              <a:ext uri="{FF2B5EF4-FFF2-40B4-BE49-F238E27FC236}">
                <a16:creationId xmlns:a16="http://schemas.microsoft.com/office/drawing/2014/main" id="{B041F1B6-27D4-386E-44CA-470C5E0BB9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82" r="18481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13097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B421D-FA27-3CA9-EF20-5F4E3F1CB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GB" sz="3000" b="1" i="0" dirty="0">
                <a:effectLst/>
                <a:latin typeface="Söhne"/>
              </a:rPr>
              <a:t>Video</a:t>
            </a:r>
            <a:br>
              <a:rPr lang="en-GB" sz="3000" b="1" i="0" dirty="0">
                <a:effectLst/>
                <a:latin typeface="Söhne"/>
              </a:rPr>
            </a:br>
            <a:endParaRPr lang="en-GB" sz="3000" dirty="0"/>
          </a:p>
        </p:txBody>
      </p:sp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90676A94-7D22-499A-3286-D03BB2AA6B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137" r="20216" b="1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A3B05-F985-8B1F-7A9D-6A66F0572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GB" sz="2000" dirty="0"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400" b="0" i="0" dirty="0">
                <a:solidFill>
                  <a:schemeClr val="accent1">
                    <a:lumMod val="75000"/>
                  </a:schemeClr>
                </a:solidFill>
                <a:effectLst/>
                <a:latin typeface="Söhne"/>
              </a:rPr>
              <a:t>https://www.youtube.com/watch?v=GO0YYp5xT4o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603075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519</Words>
  <Application>Microsoft Macintosh PowerPoint</Application>
  <PresentationFormat>Widescreen</PresentationFormat>
  <Paragraphs>38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Söhne</vt:lpstr>
      <vt:lpstr>Office Theme</vt:lpstr>
      <vt:lpstr>Robotics and Healthcare  </vt:lpstr>
      <vt:lpstr>PowerPoint Presentation</vt:lpstr>
      <vt:lpstr>Introduction to Robotics in Healthcare </vt:lpstr>
      <vt:lpstr>Types of Robots in Healthcare </vt:lpstr>
      <vt:lpstr>PowerPoint Presentation</vt:lpstr>
      <vt:lpstr>PowerPoint Presentation</vt:lpstr>
      <vt:lpstr>Types of Robots in Healthcare </vt:lpstr>
      <vt:lpstr>Da Vinci Surgical System</vt:lpstr>
      <vt:lpstr> </vt:lpstr>
      <vt:lpstr>PowerPoint Presentation</vt:lpstr>
      <vt:lpstr>PowerPoint Presentation</vt:lpstr>
      <vt:lpstr>PowerPoint Presentation</vt:lpstr>
      <vt:lpstr>PowerPoint Presentation</vt:lpstr>
      <vt:lpstr> </vt:lpstr>
      <vt:lpstr>OpenEvidence</vt:lpstr>
      <vt:lpstr>South Korean team develops ‘Iron Man’ robot that helps paraplegics walk</vt:lpstr>
      <vt:lpstr>Video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Clare Branigan</dc:creator>
  <cp:lastModifiedBy>Clare Branigan</cp:lastModifiedBy>
  <cp:revision>16</cp:revision>
  <dcterms:created xsi:type="dcterms:W3CDTF">2024-02-16T08:27:55Z</dcterms:created>
  <dcterms:modified xsi:type="dcterms:W3CDTF">2026-02-21T13:20:46Z</dcterms:modified>
</cp:coreProperties>
</file>