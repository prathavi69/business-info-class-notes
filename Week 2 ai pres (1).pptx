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notesMasterIdLst>
    <p:notesMasterId r:id="rId45"/>
  </p:notesMasterIdLst>
  <p:sldIdLst>
    <p:sldId id="256" r:id="rId2"/>
    <p:sldId id="450" r:id="rId3"/>
    <p:sldId id="276" r:id="rId4"/>
    <p:sldId id="257" r:id="rId5"/>
    <p:sldId id="277" r:id="rId6"/>
    <p:sldId id="470" r:id="rId7"/>
    <p:sldId id="452" r:id="rId8"/>
    <p:sldId id="461" r:id="rId9"/>
    <p:sldId id="447" r:id="rId10"/>
    <p:sldId id="453" r:id="rId11"/>
    <p:sldId id="439" r:id="rId12"/>
    <p:sldId id="444" r:id="rId13"/>
    <p:sldId id="445" r:id="rId14"/>
    <p:sldId id="484" r:id="rId15"/>
    <p:sldId id="485" r:id="rId16"/>
    <p:sldId id="488" r:id="rId17"/>
    <p:sldId id="487" r:id="rId18"/>
    <p:sldId id="486" r:id="rId19"/>
    <p:sldId id="289" r:id="rId20"/>
    <p:sldId id="270" r:id="rId21"/>
    <p:sldId id="271" r:id="rId22"/>
    <p:sldId id="272" r:id="rId23"/>
    <p:sldId id="489" r:id="rId24"/>
    <p:sldId id="490" r:id="rId25"/>
    <p:sldId id="295" r:id="rId26"/>
    <p:sldId id="292" r:id="rId27"/>
    <p:sldId id="280" r:id="rId28"/>
    <p:sldId id="262" r:id="rId29"/>
    <p:sldId id="267" r:id="rId30"/>
    <p:sldId id="281" r:id="rId31"/>
    <p:sldId id="286" r:id="rId32"/>
    <p:sldId id="283" r:id="rId33"/>
    <p:sldId id="284" r:id="rId34"/>
    <p:sldId id="285" r:id="rId35"/>
    <p:sldId id="491" r:id="rId36"/>
    <p:sldId id="287" r:id="rId37"/>
    <p:sldId id="296" r:id="rId38"/>
    <p:sldId id="297" r:id="rId39"/>
    <p:sldId id="298" r:id="rId40"/>
    <p:sldId id="299" r:id="rId41"/>
    <p:sldId id="300" r:id="rId42"/>
    <p:sldId id="302" r:id="rId43"/>
    <p:sldId id="303"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607" autoAdjust="0"/>
  </p:normalViewPr>
  <p:slideViewPr>
    <p:cSldViewPr snapToGrid="0" snapToObjects="1">
      <p:cViewPr varScale="1">
        <p:scale>
          <a:sx n="87" d="100"/>
          <a:sy n="87" d="100"/>
        </p:scale>
        <p:origin x="1560" y="1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icontext_accent5_2">
  <dgm:title val=""/>
  <dgm:desc val=""/>
  <dgm:catLst>
    <dgm:cat type="accent5" pri="15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dgm:fillClrLst>
    <dgm:linClrLst meth="repeat">
      <a:schemeClr val="lt1">
        <a:alpha val="0"/>
      </a:schemeClr>
    </dgm:linClrLst>
    <dgm:effectClrLst/>
    <dgm:txLinClrLst/>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972AC1A-0D88-4E00-B71A-C99C42397D1B}" type="doc">
      <dgm:prSet loTypeId="urn:microsoft.com/office/officeart/2018/2/layout/IconVerticalSolidList" loCatId="icon" qsTypeId="urn:microsoft.com/office/officeart/2005/8/quickstyle/simple1" qsCatId="simple" csTypeId="urn:microsoft.com/office/officeart/2018/5/colors/Iconchunking_neutralicontext_accent5_2" csCatId="accent5" phldr="1"/>
      <dgm:spPr/>
      <dgm:t>
        <a:bodyPr/>
        <a:lstStyle/>
        <a:p>
          <a:endParaRPr lang="en-US"/>
        </a:p>
      </dgm:t>
    </dgm:pt>
    <dgm:pt modelId="{ABC2B7DE-D294-4033-93F0-9829BAA9C42D}">
      <dgm:prSet/>
      <dgm:spPr/>
      <dgm:t>
        <a:bodyPr/>
        <a:lstStyle/>
        <a:p>
          <a:pPr>
            <a:lnSpc>
              <a:spcPct val="100000"/>
            </a:lnSpc>
          </a:pPr>
          <a:r>
            <a:rPr lang="en-US"/>
            <a:t>Huge spectrum, from Quantum computing with </a:t>
          </a:r>
          <a:r>
            <a:rPr lang="en-GB"/>
            <a:t>autonomous </a:t>
          </a:r>
          <a:r>
            <a:rPr lang="en-US"/>
            <a:t>thinking to evolved search.</a:t>
          </a:r>
        </a:p>
      </dgm:t>
    </dgm:pt>
    <dgm:pt modelId="{91177302-90C2-4F0C-BD27-C073D5AF2376}" type="parTrans" cxnId="{9E9BFF5D-CF3D-4B49-8E09-FE1D871A058A}">
      <dgm:prSet/>
      <dgm:spPr/>
      <dgm:t>
        <a:bodyPr/>
        <a:lstStyle/>
        <a:p>
          <a:endParaRPr lang="en-US"/>
        </a:p>
      </dgm:t>
    </dgm:pt>
    <dgm:pt modelId="{71E8FC47-FF18-4374-BFB1-5E8008B02F08}" type="sibTrans" cxnId="{9E9BFF5D-CF3D-4B49-8E09-FE1D871A058A}">
      <dgm:prSet/>
      <dgm:spPr/>
      <dgm:t>
        <a:bodyPr/>
        <a:lstStyle/>
        <a:p>
          <a:endParaRPr lang="en-US"/>
        </a:p>
      </dgm:t>
    </dgm:pt>
    <dgm:pt modelId="{A9F83226-A921-4E2F-8637-D577891E4883}">
      <dgm:prSet/>
      <dgm:spPr/>
      <dgm:t>
        <a:bodyPr/>
        <a:lstStyle/>
        <a:p>
          <a:pPr>
            <a:lnSpc>
              <a:spcPct val="100000"/>
            </a:lnSpc>
          </a:pPr>
          <a:r>
            <a:rPr lang="en-US"/>
            <a:t>AI is a tough term</a:t>
          </a:r>
        </a:p>
      </dgm:t>
    </dgm:pt>
    <dgm:pt modelId="{FEB15C91-17F6-4A43-8BC9-288F878A62FD}" type="parTrans" cxnId="{755BB168-9DCB-442B-982D-74B98ABE747B}">
      <dgm:prSet/>
      <dgm:spPr/>
      <dgm:t>
        <a:bodyPr/>
        <a:lstStyle/>
        <a:p>
          <a:endParaRPr lang="en-US"/>
        </a:p>
      </dgm:t>
    </dgm:pt>
    <dgm:pt modelId="{04C85B5D-213C-4BF0-8FBE-E421BE812E94}" type="sibTrans" cxnId="{755BB168-9DCB-442B-982D-74B98ABE747B}">
      <dgm:prSet/>
      <dgm:spPr/>
      <dgm:t>
        <a:bodyPr/>
        <a:lstStyle/>
        <a:p>
          <a:endParaRPr lang="en-US"/>
        </a:p>
      </dgm:t>
    </dgm:pt>
    <dgm:pt modelId="{3BE8A848-BD62-42CB-973B-94DE3259CF01}">
      <dgm:prSet/>
      <dgm:spPr/>
      <dgm:t>
        <a:bodyPr/>
        <a:lstStyle/>
        <a:p>
          <a:pPr>
            <a:lnSpc>
              <a:spcPct val="100000"/>
            </a:lnSpc>
          </a:pPr>
          <a:r>
            <a:rPr lang="en-US" dirty="0" err="1"/>
            <a:t>ChapGPT</a:t>
          </a:r>
          <a:r>
            <a:rPr lang="en-US" dirty="0"/>
            <a:t> is evolved search, but has many issues, from privacy, security to IP issues, to how people are using this</a:t>
          </a:r>
        </a:p>
      </dgm:t>
    </dgm:pt>
    <dgm:pt modelId="{0F91AC64-2517-4028-A3D2-EA462D2C09C8}" type="parTrans" cxnId="{89DA1B1D-814D-465A-A7CA-7343F7A486AE}">
      <dgm:prSet/>
      <dgm:spPr/>
      <dgm:t>
        <a:bodyPr/>
        <a:lstStyle/>
        <a:p>
          <a:endParaRPr lang="en-US"/>
        </a:p>
      </dgm:t>
    </dgm:pt>
    <dgm:pt modelId="{D51E1A10-37C3-4C1A-9FB9-F65A29BC9BC3}" type="sibTrans" cxnId="{89DA1B1D-814D-465A-A7CA-7343F7A486AE}">
      <dgm:prSet/>
      <dgm:spPr/>
      <dgm:t>
        <a:bodyPr/>
        <a:lstStyle/>
        <a:p>
          <a:endParaRPr lang="en-US"/>
        </a:p>
      </dgm:t>
    </dgm:pt>
    <dgm:pt modelId="{359DC693-11FA-4C3D-99FC-E397DF2EF3ED}" type="pres">
      <dgm:prSet presAssocID="{1972AC1A-0D88-4E00-B71A-C99C42397D1B}" presName="root" presStyleCnt="0">
        <dgm:presLayoutVars>
          <dgm:dir/>
          <dgm:resizeHandles val="exact"/>
        </dgm:presLayoutVars>
      </dgm:prSet>
      <dgm:spPr/>
    </dgm:pt>
    <dgm:pt modelId="{A1BEE2BB-E5B7-4685-9B44-A2679ED92B0D}" type="pres">
      <dgm:prSet presAssocID="{ABC2B7DE-D294-4033-93F0-9829BAA9C42D}" presName="compNode" presStyleCnt="0"/>
      <dgm:spPr/>
    </dgm:pt>
    <dgm:pt modelId="{7E8B78CE-256A-4FE6-8BCA-80D0E56DD96A}" type="pres">
      <dgm:prSet presAssocID="{ABC2B7DE-D294-4033-93F0-9829BAA9C42D}" presName="bgRect" presStyleLbl="bgShp" presStyleIdx="0" presStyleCnt="3"/>
      <dgm:spPr/>
    </dgm:pt>
    <dgm:pt modelId="{E9FB6A28-1D82-485A-B485-EB0C5350D9D3}" type="pres">
      <dgm:prSet presAssocID="{ABC2B7DE-D294-4033-93F0-9829BAA9C42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stronaut"/>
        </a:ext>
      </dgm:extLst>
    </dgm:pt>
    <dgm:pt modelId="{D50F2013-B373-406F-B49D-99EFF7276A1A}" type="pres">
      <dgm:prSet presAssocID="{ABC2B7DE-D294-4033-93F0-9829BAA9C42D}" presName="spaceRect" presStyleCnt="0"/>
      <dgm:spPr/>
    </dgm:pt>
    <dgm:pt modelId="{B37146F3-8A8F-4924-9A0B-61C6E08E43C8}" type="pres">
      <dgm:prSet presAssocID="{ABC2B7DE-D294-4033-93F0-9829BAA9C42D}" presName="parTx" presStyleLbl="revTx" presStyleIdx="0" presStyleCnt="3">
        <dgm:presLayoutVars>
          <dgm:chMax val="0"/>
          <dgm:chPref val="0"/>
        </dgm:presLayoutVars>
      </dgm:prSet>
      <dgm:spPr/>
    </dgm:pt>
    <dgm:pt modelId="{2E1F46CC-83E2-4B56-A995-8B6BA264B55C}" type="pres">
      <dgm:prSet presAssocID="{71E8FC47-FF18-4374-BFB1-5E8008B02F08}" presName="sibTrans" presStyleCnt="0"/>
      <dgm:spPr/>
    </dgm:pt>
    <dgm:pt modelId="{D4E5841D-1803-4D54-A17F-D8646D9DCC55}" type="pres">
      <dgm:prSet presAssocID="{A9F83226-A921-4E2F-8637-D577891E4883}" presName="compNode" presStyleCnt="0"/>
      <dgm:spPr/>
    </dgm:pt>
    <dgm:pt modelId="{59C04E70-C7D0-4D3F-B894-3692B7F455F7}" type="pres">
      <dgm:prSet presAssocID="{A9F83226-A921-4E2F-8637-D577891E4883}" presName="bgRect" presStyleLbl="bgShp" presStyleIdx="1" presStyleCnt="3"/>
      <dgm:spPr/>
    </dgm:pt>
    <dgm:pt modelId="{CEE08D3D-C7C3-4C0E-B82B-ACC8F74798D3}" type="pres">
      <dgm:prSet presAssocID="{A9F83226-A921-4E2F-8637-D577891E4883}"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21AC353D-306F-4A31-984A-CB0A13C1657D}" type="pres">
      <dgm:prSet presAssocID="{A9F83226-A921-4E2F-8637-D577891E4883}" presName="spaceRect" presStyleCnt="0"/>
      <dgm:spPr/>
    </dgm:pt>
    <dgm:pt modelId="{CFC5720E-4E2D-4CE2-BFB6-476582BEA551}" type="pres">
      <dgm:prSet presAssocID="{A9F83226-A921-4E2F-8637-D577891E4883}" presName="parTx" presStyleLbl="revTx" presStyleIdx="1" presStyleCnt="3">
        <dgm:presLayoutVars>
          <dgm:chMax val="0"/>
          <dgm:chPref val="0"/>
        </dgm:presLayoutVars>
      </dgm:prSet>
      <dgm:spPr/>
    </dgm:pt>
    <dgm:pt modelId="{1DE8EC75-6F45-4EDD-B942-60A381FCD49F}" type="pres">
      <dgm:prSet presAssocID="{04C85B5D-213C-4BF0-8FBE-E421BE812E94}" presName="sibTrans" presStyleCnt="0"/>
      <dgm:spPr/>
    </dgm:pt>
    <dgm:pt modelId="{408FEFE4-B27B-45A7-AB94-AD77DD63280B}" type="pres">
      <dgm:prSet presAssocID="{3BE8A848-BD62-42CB-973B-94DE3259CF01}" presName="compNode" presStyleCnt="0"/>
      <dgm:spPr/>
    </dgm:pt>
    <dgm:pt modelId="{336DC9D1-3AAB-4021-AB06-3FA178C2C18B}" type="pres">
      <dgm:prSet presAssocID="{3BE8A848-BD62-42CB-973B-94DE3259CF01}" presName="bgRect" presStyleLbl="bgShp" presStyleIdx="2" presStyleCnt="3"/>
      <dgm:spPr/>
    </dgm:pt>
    <dgm:pt modelId="{D58A2352-EC43-4AAE-8768-FB651E1A5463}" type="pres">
      <dgm:prSet presAssocID="{3BE8A848-BD62-42CB-973B-94DE3259CF0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curity Camera Sign"/>
        </a:ext>
      </dgm:extLst>
    </dgm:pt>
    <dgm:pt modelId="{2DA9B008-9C4D-460B-9F47-4DB551277EBA}" type="pres">
      <dgm:prSet presAssocID="{3BE8A848-BD62-42CB-973B-94DE3259CF01}" presName="spaceRect" presStyleCnt="0"/>
      <dgm:spPr/>
    </dgm:pt>
    <dgm:pt modelId="{3B0729B7-7D0F-4E0F-9BEA-6827B8B60C28}" type="pres">
      <dgm:prSet presAssocID="{3BE8A848-BD62-42CB-973B-94DE3259CF01}" presName="parTx" presStyleLbl="revTx" presStyleIdx="2" presStyleCnt="3">
        <dgm:presLayoutVars>
          <dgm:chMax val="0"/>
          <dgm:chPref val="0"/>
        </dgm:presLayoutVars>
      </dgm:prSet>
      <dgm:spPr/>
    </dgm:pt>
  </dgm:ptLst>
  <dgm:cxnLst>
    <dgm:cxn modelId="{B588EE16-5C88-49B9-906F-6BCE81C74FDF}" type="presOf" srcId="{ABC2B7DE-D294-4033-93F0-9829BAA9C42D}" destId="{B37146F3-8A8F-4924-9A0B-61C6E08E43C8}" srcOrd="0" destOrd="0" presId="urn:microsoft.com/office/officeart/2018/2/layout/IconVerticalSolidList"/>
    <dgm:cxn modelId="{4F954918-2F67-40C0-9496-70FAF892F884}" type="presOf" srcId="{1972AC1A-0D88-4E00-B71A-C99C42397D1B}" destId="{359DC693-11FA-4C3D-99FC-E397DF2EF3ED}" srcOrd="0" destOrd="0" presId="urn:microsoft.com/office/officeart/2018/2/layout/IconVerticalSolidList"/>
    <dgm:cxn modelId="{89DA1B1D-814D-465A-A7CA-7343F7A486AE}" srcId="{1972AC1A-0D88-4E00-B71A-C99C42397D1B}" destId="{3BE8A848-BD62-42CB-973B-94DE3259CF01}" srcOrd="2" destOrd="0" parTransId="{0F91AC64-2517-4028-A3D2-EA462D2C09C8}" sibTransId="{D51E1A10-37C3-4C1A-9FB9-F65A29BC9BC3}"/>
    <dgm:cxn modelId="{0D0F4C51-939B-48E6-9AB6-352B2A9B6A0A}" type="presOf" srcId="{A9F83226-A921-4E2F-8637-D577891E4883}" destId="{CFC5720E-4E2D-4CE2-BFB6-476582BEA551}" srcOrd="0" destOrd="0" presId="urn:microsoft.com/office/officeart/2018/2/layout/IconVerticalSolidList"/>
    <dgm:cxn modelId="{9E9BFF5D-CF3D-4B49-8E09-FE1D871A058A}" srcId="{1972AC1A-0D88-4E00-B71A-C99C42397D1B}" destId="{ABC2B7DE-D294-4033-93F0-9829BAA9C42D}" srcOrd="0" destOrd="0" parTransId="{91177302-90C2-4F0C-BD27-C073D5AF2376}" sibTransId="{71E8FC47-FF18-4374-BFB1-5E8008B02F08}"/>
    <dgm:cxn modelId="{755BB168-9DCB-442B-982D-74B98ABE747B}" srcId="{1972AC1A-0D88-4E00-B71A-C99C42397D1B}" destId="{A9F83226-A921-4E2F-8637-D577891E4883}" srcOrd="1" destOrd="0" parTransId="{FEB15C91-17F6-4A43-8BC9-288F878A62FD}" sibTransId="{04C85B5D-213C-4BF0-8FBE-E421BE812E94}"/>
    <dgm:cxn modelId="{1A242FD4-19FD-4E12-999A-567ADD2160D1}" type="presOf" srcId="{3BE8A848-BD62-42CB-973B-94DE3259CF01}" destId="{3B0729B7-7D0F-4E0F-9BEA-6827B8B60C28}" srcOrd="0" destOrd="0" presId="urn:microsoft.com/office/officeart/2018/2/layout/IconVerticalSolidList"/>
    <dgm:cxn modelId="{C33DC725-453F-4BEB-8A7D-6958A693FA63}" type="presParOf" srcId="{359DC693-11FA-4C3D-99FC-E397DF2EF3ED}" destId="{A1BEE2BB-E5B7-4685-9B44-A2679ED92B0D}" srcOrd="0" destOrd="0" presId="urn:microsoft.com/office/officeart/2018/2/layout/IconVerticalSolidList"/>
    <dgm:cxn modelId="{5B5CB99E-4DE6-4634-9E8C-96C09904E212}" type="presParOf" srcId="{A1BEE2BB-E5B7-4685-9B44-A2679ED92B0D}" destId="{7E8B78CE-256A-4FE6-8BCA-80D0E56DD96A}" srcOrd="0" destOrd="0" presId="urn:microsoft.com/office/officeart/2018/2/layout/IconVerticalSolidList"/>
    <dgm:cxn modelId="{5DAF6F4B-F62C-478B-8F5D-207297EB2574}" type="presParOf" srcId="{A1BEE2BB-E5B7-4685-9B44-A2679ED92B0D}" destId="{E9FB6A28-1D82-485A-B485-EB0C5350D9D3}" srcOrd="1" destOrd="0" presId="urn:microsoft.com/office/officeart/2018/2/layout/IconVerticalSolidList"/>
    <dgm:cxn modelId="{563B867B-09C6-438C-89B4-44D74353E344}" type="presParOf" srcId="{A1BEE2BB-E5B7-4685-9B44-A2679ED92B0D}" destId="{D50F2013-B373-406F-B49D-99EFF7276A1A}" srcOrd="2" destOrd="0" presId="urn:microsoft.com/office/officeart/2018/2/layout/IconVerticalSolidList"/>
    <dgm:cxn modelId="{6ED2031B-4194-4746-9B02-D4C1B99AC587}" type="presParOf" srcId="{A1BEE2BB-E5B7-4685-9B44-A2679ED92B0D}" destId="{B37146F3-8A8F-4924-9A0B-61C6E08E43C8}" srcOrd="3" destOrd="0" presId="urn:microsoft.com/office/officeart/2018/2/layout/IconVerticalSolidList"/>
    <dgm:cxn modelId="{70F8AAB9-B25F-4EDF-B074-13914963DB58}" type="presParOf" srcId="{359DC693-11FA-4C3D-99FC-E397DF2EF3ED}" destId="{2E1F46CC-83E2-4B56-A995-8B6BA264B55C}" srcOrd="1" destOrd="0" presId="urn:microsoft.com/office/officeart/2018/2/layout/IconVerticalSolidList"/>
    <dgm:cxn modelId="{B2B7424C-9F84-4C76-B8C1-E7C08D9719B2}" type="presParOf" srcId="{359DC693-11FA-4C3D-99FC-E397DF2EF3ED}" destId="{D4E5841D-1803-4D54-A17F-D8646D9DCC55}" srcOrd="2" destOrd="0" presId="urn:microsoft.com/office/officeart/2018/2/layout/IconVerticalSolidList"/>
    <dgm:cxn modelId="{B3F9FDBD-B269-453C-B130-BF5F6BDA3D7A}" type="presParOf" srcId="{D4E5841D-1803-4D54-A17F-D8646D9DCC55}" destId="{59C04E70-C7D0-4D3F-B894-3692B7F455F7}" srcOrd="0" destOrd="0" presId="urn:microsoft.com/office/officeart/2018/2/layout/IconVerticalSolidList"/>
    <dgm:cxn modelId="{A0357E30-11BA-4A26-9B7A-F0E385C661C1}" type="presParOf" srcId="{D4E5841D-1803-4D54-A17F-D8646D9DCC55}" destId="{CEE08D3D-C7C3-4C0E-B82B-ACC8F74798D3}" srcOrd="1" destOrd="0" presId="urn:microsoft.com/office/officeart/2018/2/layout/IconVerticalSolidList"/>
    <dgm:cxn modelId="{82061F7D-2432-412B-A26F-1926AF7BEAD1}" type="presParOf" srcId="{D4E5841D-1803-4D54-A17F-D8646D9DCC55}" destId="{21AC353D-306F-4A31-984A-CB0A13C1657D}" srcOrd="2" destOrd="0" presId="urn:microsoft.com/office/officeart/2018/2/layout/IconVerticalSolidList"/>
    <dgm:cxn modelId="{671CD670-156F-4D7B-9C8F-F33B09F0E0E2}" type="presParOf" srcId="{D4E5841D-1803-4D54-A17F-D8646D9DCC55}" destId="{CFC5720E-4E2D-4CE2-BFB6-476582BEA551}" srcOrd="3" destOrd="0" presId="urn:microsoft.com/office/officeart/2018/2/layout/IconVerticalSolidList"/>
    <dgm:cxn modelId="{4339D0B8-C31C-4D02-9E53-76EBD629E9CA}" type="presParOf" srcId="{359DC693-11FA-4C3D-99FC-E397DF2EF3ED}" destId="{1DE8EC75-6F45-4EDD-B942-60A381FCD49F}" srcOrd="3" destOrd="0" presId="urn:microsoft.com/office/officeart/2018/2/layout/IconVerticalSolidList"/>
    <dgm:cxn modelId="{F770760F-CFF0-4469-BA41-1A534E57282D}" type="presParOf" srcId="{359DC693-11FA-4C3D-99FC-E397DF2EF3ED}" destId="{408FEFE4-B27B-45A7-AB94-AD77DD63280B}" srcOrd="4" destOrd="0" presId="urn:microsoft.com/office/officeart/2018/2/layout/IconVerticalSolidList"/>
    <dgm:cxn modelId="{FF536211-9AE5-425D-92EE-CBBBC47B9F8C}" type="presParOf" srcId="{408FEFE4-B27B-45A7-AB94-AD77DD63280B}" destId="{336DC9D1-3AAB-4021-AB06-3FA178C2C18B}" srcOrd="0" destOrd="0" presId="urn:microsoft.com/office/officeart/2018/2/layout/IconVerticalSolidList"/>
    <dgm:cxn modelId="{57BC13C3-D32D-4757-BCCE-A518344F0C58}" type="presParOf" srcId="{408FEFE4-B27B-45A7-AB94-AD77DD63280B}" destId="{D58A2352-EC43-4AAE-8768-FB651E1A5463}" srcOrd="1" destOrd="0" presId="urn:microsoft.com/office/officeart/2018/2/layout/IconVerticalSolidList"/>
    <dgm:cxn modelId="{AC9AF759-BE0D-41F1-BAF9-E14DF7B317FC}" type="presParOf" srcId="{408FEFE4-B27B-45A7-AB94-AD77DD63280B}" destId="{2DA9B008-9C4D-460B-9F47-4DB551277EBA}" srcOrd="2" destOrd="0" presId="urn:microsoft.com/office/officeart/2018/2/layout/IconVerticalSolidList"/>
    <dgm:cxn modelId="{9A64145A-E72A-4436-9C8E-69FCF2BFDB83}" type="presParOf" srcId="{408FEFE4-B27B-45A7-AB94-AD77DD63280B}" destId="{3B0729B7-7D0F-4E0F-9BEA-6827B8B60C2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8B78CE-256A-4FE6-8BCA-80D0E56DD96A}">
      <dsp:nvSpPr>
        <dsp:cNvPr id="0" name=""/>
        <dsp:cNvSpPr/>
      </dsp:nvSpPr>
      <dsp:spPr>
        <a:xfrm>
          <a:off x="0" y="531"/>
          <a:ext cx="10515600" cy="124328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FB6A28-1D82-485A-B485-EB0C5350D9D3}">
      <dsp:nvSpPr>
        <dsp:cNvPr id="0" name=""/>
        <dsp:cNvSpPr/>
      </dsp:nvSpPr>
      <dsp:spPr>
        <a:xfrm>
          <a:off x="376092" y="280269"/>
          <a:ext cx="683804" cy="6838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37146F3-8A8F-4924-9A0B-61C6E08E43C8}">
      <dsp:nvSpPr>
        <dsp:cNvPr id="0" name=""/>
        <dsp:cNvSpPr/>
      </dsp:nvSpPr>
      <dsp:spPr>
        <a:xfrm>
          <a:off x="1435988" y="5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111250">
            <a:lnSpc>
              <a:spcPct val="100000"/>
            </a:lnSpc>
            <a:spcBef>
              <a:spcPct val="0"/>
            </a:spcBef>
            <a:spcAft>
              <a:spcPct val="35000"/>
            </a:spcAft>
            <a:buNone/>
          </a:pPr>
          <a:r>
            <a:rPr lang="en-US" sz="2500" kern="1200"/>
            <a:t>Huge spectrum, from Quantum computing with </a:t>
          </a:r>
          <a:r>
            <a:rPr lang="en-GB" sz="2500" kern="1200"/>
            <a:t>autonomous </a:t>
          </a:r>
          <a:r>
            <a:rPr lang="en-US" sz="2500" kern="1200"/>
            <a:t>thinking to evolved search.</a:t>
          </a:r>
        </a:p>
      </dsp:txBody>
      <dsp:txXfrm>
        <a:off x="1435988" y="531"/>
        <a:ext cx="9079611" cy="1243280"/>
      </dsp:txXfrm>
    </dsp:sp>
    <dsp:sp modelId="{59C04E70-C7D0-4D3F-B894-3692B7F455F7}">
      <dsp:nvSpPr>
        <dsp:cNvPr id="0" name=""/>
        <dsp:cNvSpPr/>
      </dsp:nvSpPr>
      <dsp:spPr>
        <a:xfrm>
          <a:off x="0" y="1554631"/>
          <a:ext cx="10515600" cy="124328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E08D3D-C7C3-4C0E-B82B-ACC8F74798D3}">
      <dsp:nvSpPr>
        <dsp:cNvPr id="0" name=""/>
        <dsp:cNvSpPr/>
      </dsp:nvSpPr>
      <dsp:spPr>
        <a:xfrm>
          <a:off x="376092" y="1834369"/>
          <a:ext cx="683804" cy="6838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C5720E-4E2D-4CE2-BFB6-476582BEA551}">
      <dsp:nvSpPr>
        <dsp:cNvPr id="0" name=""/>
        <dsp:cNvSpPr/>
      </dsp:nvSpPr>
      <dsp:spPr>
        <a:xfrm>
          <a:off x="1435988" y="1554631"/>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111250">
            <a:lnSpc>
              <a:spcPct val="100000"/>
            </a:lnSpc>
            <a:spcBef>
              <a:spcPct val="0"/>
            </a:spcBef>
            <a:spcAft>
              <a:spcPct val="35000"/>
            </a:spcAft>
            <a:buNone/>
          </a:pPr>
          <a:r>
            <a:rPr lang="en-US" sz="2500" kern="1200"/>
            <a:t>AI is a tough term</a:t>
          </a:r>
        </a:p>
      </dsp:txBody>
      <dsp:txXfrm>
        <a:off x="1435988" y="1554631"/>
        <a:ext cx="9079611" cy="1243280"/>
      </dsp:txXfrm>
    </dsp:sp>
    <dsp:sp modelId="{336DC9D1-3AAB-4021-AB06-3FA178C2C18B}">
      <dsp:nvSpPr>
        <dsp:cNvPr id="0" name=""/>
        <dsp:cNvSpPr/>
      </dsp:nvSpPr>
      <dsp:spPr>
        <a:xfrm>
          <a:off x="0" y="3108732"/>
          <a:ext cx="10515600" cy="124328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8A2352-EC43-4AAE-8768-FB651E1A5463}">
      <dsp:nvSpPr>
        <dsp:cNvPr id="0" name=""/>
        <dsp:cNvSpPr/>
      </dsp:nvSpPr>
      <dsp:spPr>
        <a:xfrm>
          <a:off x="376092" y="3388470"/>
          <a:ext cx="683804" cy="6838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0729B7-7D0F-4E0F-9BEA-6827B8B60C28}">
      <dsp:nvSpPr>
        <dsp:cNvPr id="0" name=""/>
        <dsp:cNvSpPr/>
      </dsp:nvSpPr>
      <dsp:spPr>
        <a:xfrm>
          <a:off x="1435988" y="3108732"/>
          <a:ext cx="9079611" cy="12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81" tIns="131581" rIns="131581" bIns="131581" numCol="1" spcCol="1270" anchor="ctr" anchorCtr="0">
          <a:noAutofit/>
        </a:bodyPr>
        <a:lstStyle/>
        <a:p>
          <a:pPr marL="0" lvl="0" indent="0" algn="l" defTabSz="1111250">
            <a:lnSpc>
              <a:spcPct val="100000"/>
            </a:lnSpc>
            <a:spcBef>
              <a:spcPct val="0"/>
            </a:spcBef>
            <a:spcAft>
              <a:spcPct val="35000"/>
            </a:spcAft>
            <a:buNone/>
          </a:pPr>
          <a:r>
            <a:rPr lang="en-US" sz="2500" kern="1200" dirty="0" err="1"/>
            <a:t>ChapGPT</a:t>
          </a:r>
          <a:r>
            <a:rPr lang="en-US" sz="2500" kern="1200" dirty="0"/>
            <a:t> is evolved search, but has many issues, from privacy, security to IP issues, to how people are using this</a:t>
          </a:r>
        </a:p>
      </dsp:txBody>
      <dsp:txXfrm>
        <a:off x="1435988" y="3108732"/>
        <a:ext cx="9079611" cy="124328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060022D-2644-47F0-A56A-E904BCA7CEB8}" type="datetimeFigureOut">
              <a:rPr lang="en-GB" smtClean="0"/>
              <a:t>27/01/2026</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D0F6A6F-3B01-4D55-A9F9-D30D79A2B988}" type="slidenum">
              <a:rPr lang="en-GB" smtClean="0"/>
              <a:t>‹#›</a:t>
            </a:fld>
            <a:endParaRPr lang="en-GB"/>
          </a:p>
        </p:txBody>
      </p:sp>
    </p:spTree>
    <p:extLst>
      <p:ext uri="{BB962C8B-B14F-4D97-AF65-F5344CB8AC3E}">
        <p14:creationId xmlns:p14="http://schemas.microsoft.com/office/powerpoint/2010/main" val="2413153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4BE88-9945-D518-52D4-FF7A0D9D1F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2BCCEC-AEA6-F32D-2ECC-0AC1B959AC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1CFE24-1C92-6FEF-6E4D-1E859219F45D}"/>
              </a:ext>
            </a:extLst>
          </p:cNvPr>
          <p:cNvSpPr>
            <a:spLocks noGrp="1"/>
          </p:cNvSpPr>
          <p:nvPr>
            <p:ph type="body" idx="1"/>
          </p:nvPr>
        </p:nvSpPr>
        <p:spPr/>
        <p:txBody>
          <a:bodyPr/>
          <a:lstStyle/>
          <a:p>
            <a:r>
              <a:rPr lang="en-IE" dirty="0"/>
              <a:t>Others, google analytics</a:t>
            </a:r>
          </a:p>
          <a:p>
            <a:r>
              <a:rPr lang="en-IE" dirty="0"/>
              <a:t>Predictive analytics for machine repair</a:t>
            </a:r>
          </a:p>
        </p:txBody>
      </p:sp>
      <p:sp>
        <p:nvSpPr>
          <p:cNvPr id="4" name="Slide Number Placeholder 3">
            <a:extLst>
              <a:ext uri="{FF2B5EF4-FFF2-40B4-BE49-F238E27FC236}">
                <a16:creationId xmlns:a16="http://schemas.microsoft.com/office/drawing/2014/main" id="{66277258-7711-4923-22E1-C7666A1EBCF7}"/>
              </a:ext>
            </a:extLst>
          </p:cNvPr>
          <p:cNvSpPr>
            <a:spLocks noGrp="1"/>
          </p:cNvSpPr>
          <p:nvPr>
            <p:ph type="sldNum" sz="quarter" idx="10"/>
          </p:nvPr>
        </p:nvSpPr>
        <p:spPr/>
        <p:txBody>
          <a:bodyPr/>
          <a:lstStyle/>
          <a:p>
            <a:pPr>
              <a:defRPr/>
            </a:pPr>
            <a:fld id="{B43CB94C-3CDE-484C-8648-813781B57553}" type="slidenum">
              <a:rPr lang="en-GB" smtClean="0"/>
              <a:pPr>
                <a:defRPr/>
              </a:pPr>
              <a:t>12</a:t>
            </a:fld>
            <a:endParaRPr lang="en-GB"/>
          </a:p>
        </p:txBody>
      </p:sp>
    </p:spTree>
    <p:extLst>
      <p:ext uri="{BB962C8B-B14F-4D97-AF65-F5344CB8AC3E}">
        <p14:creationId xmlns:p14="http://schemas.microsoft.com/office/powerpoint/2010/main" val="894602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9EF1B-BB6C-B6EE-2A21-0B8586CCB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AC5ED-203F-CA56-724C-C1CA44BA3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73FE2E-8A5B-DC6D-570B-9DDFD9D0C10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DAA811F-A56C-AF71-ED04-F09E2E45C386}"/>
              </a:ext>
            </a:extLst>
          </p:cNvPr>
          <p:cNvSpPr>
            <a:spLocks noGrp="1"/>
          </p:cNvSpPr>
          <p:nvPr>
            <p:ph type="sldNum" sz="quarter" idx="10"/>
          </p:nvPr>
        </p:nvSpPr>
        <p:spPr/>
        <p:txBody>
          <a:bodyPr/>
          <a:lstStyle/>
          <a:p>
            <a:pPr>
              <a:defRPr/>
            </a:pPr>
            <a:fld id="{B43CB94C-3CDE-484C-8648-813781B57553}" type="slidenum">
              <a:rPr lang="en-GB" smtClean="0"/>
              <a:pPr>
                <a:defRPr/>
              </a:pPr>
              <a:t>13</a:t>
            </a:fld>
            <a:endParaRPr lang="en-GB"/>
          </a:p>
        </p:txBody>
      </p:sp>
    </p:spTree>
    <p:extLst>
      <p:ext uri="{BB962C8B-B14F-4D97-AF65-F5344CB8AC3E}">
        <p14:creationId xmlns:p14="http://schemas.microsoft.com/office/powerpoint/2010/main" val="1229298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D0D0D"/>
                </a:solidFill>
                <a:effectLst/>
                <a:latin typeface="MiloTE"/>
              </a:rPr>
              <a:t>, </a:t>
            </a:r>
            <a:endParaRPr lang="en-GB" dirty="0"/>
          </a:p>
        </p:txBody>
      </p:sp>
      <p:sp>
        <p:nvSpPr>
          <p:cNvPr id="4" name="Slide Number Placeholder 3"/>
          <p:cNvSpPr>
            <a:spLocks noGrp="1"/>
          </p:cNvSpPr>
          <p:nvPr>
            <p:ph type="sldNum" sz="quarter" idx="5"/>
          </p:nvPr>
        </p:nvSpPr>
        <p:spPr/>
        <p:txBody>
          <a:bodyPr/>
          <a:lstStyle/>
          <a:p>
            <a:fld id="{0D0F6A6F-3B01-4D55-A9F9-D30D79A2B988}" type="slidenum">
              <a:rPr lang="en-GB" smtClean="0"/>
              <a:t>19</a:t>
            </a:fld>
            <a:endParaRPr lang="en-GB"/>
          </a:p>
        </p:txBody>
      </p:sp>
    </p:spTree>
    <p:extLst>
      <p:ext uri="{BB962C8B-B14F-4D97-AF65-F5344CB8AC3E}">
        <p14:creationId xmlns:p14="http://schemas.microsoft.com/office/powerpoint/2010/main" val="916508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D0D0D"/>
                </a:solidFill>
                <a:effectLst/>
                <a:latin typeface="MiloTE"/>
              </a:rPr>
              <a:t>, </a:t>
            </a:r>
            <a:endParaRPr lang="en-GB" dirty="0"/>
          </a:p>
        </p:txBody>
      </p:sp>
      <p:sp>
        <p:nvSpPr>
          <p:cNvPr id="4" name="Slide Number Placeholder 3"/>
          <p:cNvSpPr>
            <a:spLocks noGrp="1"/>
          </p:cNvSpPr>
          <p:nvPr>
            <p:ph type="sldNum" sz="quarter" idx="5"/>
          </p:nvPr>
        </p:nvSpPr>
        <p:spPr/>
        <p:txBody>
          <a:bodyPr/>
          <a:lstStyle/>
          <a:p>
            <a:fld id="{0D0F6A6F-3B01-4D55-A9F9-D30D79A2B988}" type="slidenum">
              <a:rPr lang="en-GB" smtClean="0"/>
              <a:t>21</a:t>
            </a:fld>
            <a:endParaRPr lang="en-GB"/>
          </a:p>
        </p:txBody>
      </p:sp>
    </p:spTree>
    <p:extLst>
      <p:ext uri="{BB962C8B-B14F-4D97-AF65-F5344CB8AC3E}">
        <p14:creationId xmlns:p14="http://schemas.microsoft.com/office/powerpoint/2010/main" val="2562793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D0F6A6F-3B01-4D55-A9F9-D30D79A2B988}" type="slidenum">
              <a:rPr lang="en-GB" smtClean="0"/>
              <a:t>27</a:t>
            </a:fld>
            <a:endParaRPr lang="en-GB"/>
          </a:p>
        </p:txBody>
      </p:sp>
    </p:spTree>
    <p:extLst>
      <p:ext uri="{BB962C8B-B14F-4D97-AF65-F5344CB8AC3E}">
        <p14:creationId xmlns:p14="http://schemas.microsoft.com/office/powerpoint/2010/main" val="1999172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D0D0D"/>
                </a:solidFill>
                <a:effectLst/>
                <a:latin typeface="MiloTE"/>
              </a:rPr>
              <a:t>It can converse cogently about mineral extraction in Papua New Guinea, or about </a:t>
            </a:r>
            <a:r>
              <a:rPr lang="en-GB" dirty="0" err="1"/>
              <a:t>tsmc</a:t>
            </a:r>
            <a:r>
              <a:rPr lang="en-GB" b="0" i="0" dirty="0">
                <a:solidFill>
                  <a:srgbClr val="0D0D0D"/>
                </a:solidFill>
                <a:effectLst/>
                <a:latin typeface="MiloTE"/>
              </a:rPr>
              <a:t>, a Taiwanese semiconductor firm that finds itself in the geopolitical crosshairs. </a:t>
            </a:r>
            <a:r>
              <a:rPr lang="en-GB" dirty="0"/>
              <a:t>gpt</a:t>
            </a:r>
            <a:r>
              <a:rPr lang="en-GB" b="0" i="0" dirty="0">
                <a:solidFill>
                  <a:srgbClr val="0D0D0D"/>
                </a:solidFill>
                <a:effectLst/>
                <a:latin typeface="MiloTE"/>
              </a:rPr>
              <a:t>-4, the artificial neural network which powers </a:t>
            </a:r>
            <a:r>
              <a:rPr lang="en-GB" b="0" i="0" dirty="0" err="1">
                <a:solidFill>
                  <a:srgbClr val="0D0D0D"/>
                </a:solidFill>
                <a:effectLst/>
                <a:latin typeface="MiloTE"/>
              </a:rPr>
              <a:t>Chat</a:t>
            </a:r>
            <a:r>
              <a:rPr lang="en-GB" dirty="0" err="1"/>
              <a:t>gpt</a:t>
            </a:r>
            <a:r>
              <a:rPr lang="en-GB" b="0" i="0" dirty="0">
                <a:solidFill>
                  <a:srgbClr val="0D0D0D"/>
                </a:solidFill>
                <a:effectLst/>
                <a:latin typeface="MiloTE"/>
              </a:rPr>
              <a:t>, has aced exams that serve as gateways for people to enter careers in law and medicine in America. It can generate songs, poems and essays. Other “generative </a:t>
            </a:r>
            <a:r>
              <a:rPr lang="en-GB" dirty="0"/>
              <a:t>ai</a:t>
            </a:r>
            <a:r>
              <a:rPr lang="en-GB" b="0" i="0" dirty="0">
                <a:solidFill>
                  <a:srgbClr val="0D0D0D"/>
                </a:solidFill>
                <a:effectLst/>
                <a:latin typeface="MiloTE"/>
              </a:rPr>
              <a:t>” models can churn out digital photos, drawings and animations.</a:t>
            </a:r>
          </a:p>
          <a:p>
            <a:r>
              <a:rPr lang="en-GB" b="0" i="0" dirty="0">
                <a:solidFill>
                  <a:srgbClr val="0D0D0D"/>
                </a:solidFill>
                <a:effectLst/>
                <a:latin typeface="MiloTE"/>
              </a:rPr>
              <a:t> </a:t>
            </a:r>
          </a:p>
          <a:p>
            <a:r>
              <a:rPr lang="en-GB" b="0" i="0" dirty="0">
                <a:solidFill>
                  <a:srgbClr val="0D0D0D"/>
                </a:solidFill>
                <a:effectLst/>
                <a:latin typeface="MiloTE"/>
              </a:rPr>
              <a:t>The contemporary explosion of the capabilities of </a:t>
            </a:r>
            <a:r>
              <a:rPr lang="en-GB" dirty="0"/>
              <a:t>ai</a:t>
            </a:r>
            <a:r>
              <a:rPr lang="en-GB" b="0" i="0" dirty="0">
                <a:solidFill>
                  <a:srgbClr val="0D0D0D"/>
                </a:solidFill>
                <a:effectLst/>
                <a:latin typeface="MiloTE"/>
              </a:rPr>
              <a:t> software began in the early 2010s, when a software technique called “deep learning” became popular. Using the magic mix of vast datasets and powerful computers running neural networks on Graphics Processing Units (</a:t>
            </a:r>
            <a:r>
              <a:rPr lang="en-GB" dirty="0" err="1"/>
              <a:t>gpu</a:t>
            </a:r>
            <a:r>
              <a:rPr lang="en-GB" b="0" i="0" dirty="0" err="1">
                <a:solidFill>
                  <a:srgbClr val="0D0D0D"/>
                </a:solidFill>
                <a:effectLst/>
                <a:latin typeface="MiloTE"/>
              </a:rPr>
              <a:t>s</a:t>
            </a:r>
            <a:r>
              <a:rPr lang="en-GB" b="0" i="0" dirty="0">
                <a:solidFill>
                  <a:srgbClr val="0D0D0D"/>
                </a:solidFill>
                <a:effectLst/>
                <a:latin typeface="MiloTE"/>
              </a:rPr>
              <a:t>), deep learning dramatically improved computers’ abilities to recognise images, process audio and play games. By the late 2010s computers could do many of these tasks better than any human.</a:t>
            </a:r>
            <a:endParaRPr lang="en-GB" dirty="0"/>
          </a:p>
        </p:txBody>
      </p:sp>
      <p:sp>
        <p:nvSpPr>
          <p:cNvPr id="4" name="Slide Number Placeholder 3"/>
          <p:cNvSpPr>
            <a:spLocks noGrp="1"/>
          </p:cNvSpPr>
          <p:nvPr>
            <p:ph type="sldNum" sz="quarter" idx="5"/>
          </p:nvPr>
        </p:nvSpPr>
        <p:spPr/>
        <p:txBody>
          <a:bodyPr/>
          <a:lstStyle/>
          <a:p>
            <a:fld id="{0D0F6A6F-3B01-4D55-A9F9-D30D79A2B988}" type="slidenum">
              <a:rPr lang="en-GB" smtClean="0"/>
              <a:t>29</a:t>
            </a:fld>
            <a:endParaRPr lang="en-GB"/>
          </a:p>
        </p:txBody>
      </p:sp>
    </p:spTree>
    <p:extLst>
      <p:ext uri="{BB962C8B-B14F-4D97-AF65-F5344CB8AC3E}">
        <p14:creationId xmlns:p14="http://schemas.microsoft.com/office/powerpoint/2010/main" val="302706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gpt</a:t>
            </a:r>
            <a:r>
              <a:rPr lang="en-GB" b="0" i="0" dirty="0">
                <a:solidFill>
                  <a:srgbClr val="0D0D0D"/>
                </a:solidFill>
                <a:effectLst/>
                <a:latin typeface="MiloTE"/>
              </a:rPr>
              <a:t>-3, which powered an earlier version of </a:t>
            </a:r>
            <a:r>
              <a:rPr lang="en-GB" b="0" i="0" dirty="0" err="1">
                <a:solidFill>
                  <a:srgbClr val="0D0D0D"/>
                </a:solidFill>
                <a:effectLst/>
                <a:latin typeface="MiloTE"/>
              </a:rPr>
              <a:t>Chat</a:t>
            </a:r>
            <a:r>
              <a:rPr lang="en-GB" dirty="0" err="1"/>
              <a:t>gpt</a:t>
            </a:r>
            <a:r>
              <a:rPr lang="en-GB" b="0" i="0" dirty="0">
                <a:solidFill>
                  <a:srgbClr val="0D0D0D"/>
                </a:solidFill>
                <a:effectLst/>
                <a:latin typeface="MiloTE"/>
              </a:rPr>
              <a:t>, does this by splitting text into chunks of characters, called tokens, which commonly occur together. These tokens can be words, like “love” or “are”, affixes, like “dis” or “</a:t>
            </a:r>
            <a:r>
              <a:rPr lang="en-GB" b="0" i="0" dirty="0" err="1">
                <a:solidFill>
                  <a:srgbClr val="0D0D0D"/>
                </a:solidFill>
                <a:effectLst/>
                <a:latin typeface="MiloTE"/>
              </a:rPr>
              <a:t>ised</a:t>
            </a:r>
            <a:r>
              <a:rPr lang="en-GB" b="0" i="0" dirty="0">
                <a:solidFill>
                  <a:srgbClr val="0D0D0D"/>
                </a:solidFill>
                <a:effectLst/>
                <a:latin typeface="MiloTE"/>
              </a:rPr>
              <a:t>”, and punctuation, like “?”. </a:t>
            </a:r>
            <a:r>
              <a:rPr lang="en-GB" dirty="0"/>
              <a:t>gpt</a:t>
            </a:r>
            <a:r>
              <a:rPr lang="en-GB" b="0" i="0" dirty="0">
                <a:solidFill>
                  <a:srgbClr val="0D0D0D"/>
                </a:solidFill>
                <a:effectLst/>
                <a:latin typeface="MiloTE"/>
              </a:rPr>
              <a:t>-3’s dictionary contains details of 50,257 tokens.</a:t>
            </a:r>
            <a:endParaRPr lang="en-GB" dirty="0"/>
          </a:p>
        </p:txBody>
      </p:sp>
      <p:sp>
        <p:nvSpPr>
          <p:cNvPr id="4" name="Slide Number Placeholder 3"/>
          <p:cNvSpPr>
            <a:spLocks noGrp="1"/>
          </p:cNvSpPr>
          <p:nvPr>
            <p:ph type="sldNum" sz="quarter" idx="5"/>
          </p:nvPr>
        </p:nvSpPr>
        <p:spPr/>
        <p:txBody>
          <a:bodyPr/>
          <a:lstStyle/>
          <a:p>
            <a:fld id="{0D0F6A6F-3B01-4D55-A9F9-D30D79A2B988}" type="slidenum">
              <a:rPr lang="en-GB" smtClean="0"/>
              <a:t>30</a:t>
            </a:fld>
            <a:endParaRPr lang="en-GB"/>
          </a:p>
        </p:txBody>
      </p:sp>
    </p:spTree>
    <p:extLst>
      <p:ext uri="{BB962C8B-B14F-4D97-AF65-F5344CB8AC3E}">
        <p14:creationId xmlns:p14="http://schemas.microsoft.com/office/powerpoint/2010/main" val="523627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GB" b="0" i="0" dirty="0">
                <a:effectLst/>
                <a:latin typeface="var(--ds-type-system-serif)"/>
              </a:rPr>
              <a:t>From “the Economist,” April 2023, </a:t>
            </a:r>
          </a:p>
          <a:p>
            <a:pPr algn="l" fontAlgn="base"/>
            <a:r>
              <a:rPr lang="en-GB" b="0" i="0" dirty="0">
                <a:effectLst/>
                <a:latin typeface="var(--ds-type-system-serif)"/>
              </a:rPr>
              <a:t>To train, the LLM quizzes itself on the text it is given. It takes a chunk, covers up some words at the end, and tries to guess what might go there. Then the LLM uncovers the answer and compares it to its guess. Because the answers are in the data itself, these models can be trained in a “self-supervised” manner on massive datasets without requiring human labellers.</a:t>
            </a:r>
          </a:p>
          <a:p>
            <a:pPr algn="l" fontAlgn="base"/>
            <a:r>
              <a:rPr lang="en-GB" b="0" i="0" dirty="0">
                <a:effectLst/>
                <a:latin typeface="var(--ds-type-system-serif)"/>
              </a:rPr>
              <a:t>The model’s goal is to make its guesses as good as possible by making as few errors as possible. Not all errors are equal, though. If the original text is “I love ice cream”, guessing “I love ice hockey” is better than “I love ice are”. How bad a guess  is turned into a number called the loss. After a few guesses, the loss is sent back into the neural network and used to nudge the weights in a direction that will produce better answers.</a:t>
            </a:r>
          </a:p>
          <a:p>
            <a:pPr algn="l" fontAlgn="base"/>
            <a:r>
              <a:rPr lang="en-GB" b="1" i="0" dirty="0">
                <a:effectLst/>
                <a:latin typeface="var(--ds-type-system-serif)"/>
              </a:rPr>
              <a:t>Trailblazing a daze</a:t>
            </a:r>
          </a:p>
          <a:p>
            <a:pPr algn="l" fontAlgn="base"/>
            <a:r>
              <a:rPr lang="en-GB" b="0" i="0" dirty="0">
                <a:effectLst/>
                <a:latin typeface="var(--ds-type-system-serif)"/>
              </a:rPr>
              <a:t>The LLM’s attention network is key to learning from such vast amounts of data. It builds into the model a way to learn and use associations between words and concepts even when they appear at a distance from each other within a text, and it allows it to process reams of data in a reasonable amount of time. Many different attention networks operate in parallel within a typical LLM and this parallelisation allows the process to be run across multiple </a:t>
            </a:r>
            <a:r>
              <a:rPr lang="en-GB" b="0" i="0" dirty="0" err="1">
                <a:effectLst/>
                <a:latin typeface="var(--ds-type-system-serif)"/>
              </a:rPr>
              <a:t>trys</a:t>
            </a:r>
            <a:r>
              <a:rPr lang="en-GB" b="0" i="0" dirty="0">
                <a:effectLst/>
                <a:latin typeface="var(--ds-type-system-serif)"/>
              </a:rPr>
              <a:t>. Older, non-attention-based versions of language models would not have been able to process such a quantity of data in a reasonable amount of time. “Without attention, the scaling would not be computationally tractable,” says </a:t>
            </a:r>
            <a:r>
              <a:rPr lang="en-GB" b="0" i="0" dirty="0" err="1">
                <a:effectLst/>
                <a:latin typeface="var(--ds-type-system-serif)"/>
              </a:rPr>
              <a:t>Yoshua</a:t>
            </a:r>
            <a:r>
              <a:rPr lang="en-GB" b="0" i="0" dirty="0">
                <a:effectLst/>
                <a:latin typeface="var(--ds-type-system-serif)"/>
              </a:rPr>
              <a:t> </a:t>
            </a:r>
            <a:r>
              <a:rPr lang="en-GB" b="0" i="0" dirty="0" err="1">
                <a:effectLst/>
                <a:latin typeface="var(--ds-type-system-serif)"/>
              </a:rPr>
              <a:t>Bengio</a:t>
            </a:r>
            <a:r>
              <a:rPr lang="en-GB" b="0" i="0" dirty="0">
                <a:effectLst/>
                <a:latin typeface="var(--ds-type-system-serif)"/>
              </a:rPr>
              <a:t>, scientific director of Mila, a prominent AI research institute in Quebec.</a:t>
            </a:r>
          </a:p>
          <a:p>
            <a:pPr algn="l" fontAlgn="base"/>
            <a:r>
              <a:rPr lang="en-GB" b="0" i="0" dirty="0">
                <a:effectLst/>
                <a:latin typeface="var(--ds-type-system-serif)"/>
              </a:rPr>
              <a:t>The sheer scale at which LLMs can process data has been driving their recent growth. gpt-3 has hundreds of layers, billions of weights, and was trained on hundreds of billions of words. By contrast, the first version of </a:t>
            </a:r>
            <a:r>
              <a:rPr lang="en-GB" b="0" i="0" dirty="0" err="1">
                <a:effectLst/>
                <a:latin typeface="var(--ds-type-system-serif)"/>
              </a:rPr>
              <a:t>gpt</a:t>
            </a:r>
            <a:r>
              <a:rPr lang="en-GB" b="0" i="0" dirty="0">
                <a:effectLst/>
                <a:latin typeface="var(--ds-type-system-serif)"/>
              </a:rPr>
              <a:t>, created five years ago, was just one ten-thousandth of the size.</a:t>
            </a:r>
          </a:p>
          <a:p>
            <a:pPr algn="l" fontAlgn="base"/>
            <a:r>
              <a:rPr lang="en-GB" b="0" i="0" dirty="0">
                <a:effectLst/>
                <a:latin typeface="var(--ds-type-system-serif)"/>
              </a:rPr>
              <a:t>But there are good reasons, says Dr </a:t>
            </a:r>
            <a:r>
              <a:rPr lang="en-GB" b="0" i="0" dirty="0" err="1">
                <a:effectLst/>
                <a:latin typeface="var(--ds-type-system-serif)"/>
              </a:rPr>
              <a:t>Bengio</a:t>
            </a:r>
            <a:r>
              <a:rPr lang="en-GB" b="0" i="0" dirty="0">
                <a:effectLst/>
                <a:latin typeface="var(--ds-type-system-serif)"/>
              </a:rPr>
              <a:t>, to think that this growth cannot continue indefinitely. The inputs of LLMs—data, computing power, electricity, skilled labour—cost money. Training GPT-3, for example, used 1.3 gigawatt-hours of electricity (enough to power 121 homes in America for a year), and cost </a:t>
            </a:r>
            <a:r>
              <a:rPr lang="en-GB" b="0" i="0" dirty="0" err="1">
                <a:effectLst/>
                <a:latin typeface="var(--ds-type-system-serif)"/>
              </a:rPr>
              <a:t>OpenAI</a:t>
            </a:r>
            <a:r>
              <a:rPr lang="en-GB" b="0" i="0" dirty="0">
                <a:effectLst/>
                <a:latin typeface="var(--ds-type-system-serif)"/>
              </a:rPr>
              <a:t> an estimated $4.6m.</a:t>
            </a:r>
          </a:p>
          <a:p>
            <a:pPr algn="l" fontAlgn="base"/>
            <a:r>
              <a:rPr lang="en-GB" b="0" i="0" dirty="0">
                <a:effectLst/>
                <a:latin typeface="var(--ds-type-system-serif)"/>
              </a:rPr>
              <a:t> GPT-4, which is a much larger model, will have cost disproportionately more (in the realm of $100m) to train. Since computing-power requirements scale up dramatically faster than the input data, training LLMs gets expensive faster than it gets better. Indeed, Sam Altman, the boss of </a:t>
            </a:r>
            <a:r>
              <a:rPr lang="en-GB" b="0" i="0" dirty="0" err="1">
                <a:effectLst/>
                <a:latin typeface="var(--ds-type-system-serif)"/>
              </a:rPr>
              <a:t>OpenAI</a:t>
            </a:r>
            <a:r>
              <a:rPr lang="en-GB" b="0" i="0" dirty="0">
                <a:effectLst/>
                <a:latin typeface="var(--ds-type-system-serif)"/>
              </a:rPr>
              <a:t>, seems to think an inflection point has already arrived. On April 13th he told an audience at the MIT: “I think we’re at the end of the era where it’s going to be these giant models. We’ll make them better in other ways.”</a:t>
            </a:r>
          </a:p>
          <a:p>
            <a:pPr algn="l" fontAlgn="base"/>
            <a:r>
              <a:rPr lang="en-GB" b="0" i="0" dirty="0">
                <a:effectLst/>
                <a:latin typeface="var(--ds-type-system-serif)"/>
              </a:rPr>
              <a:t>But the most important limit to the continued improvement of LLMs is the amount of training data available. GPT-3 has already been trained on what amounts to all of the high-quality text that is available to download from the internet. </a:t>
            </a:r>
          </a:p>
          <a:p>
            <a:pPr algn="l" fontAlgn="base"/>
            <a:r>
              <a:rPr lang="en-GB" b="0" i="0" dirty="0">
                <a:effectLst/>
                <a:latin typeface="var(--ds-type-system-serif)"/>
              </a:rPr>
              <a:t>A paper published in October 2022 concluded that “the stock of high-quality language data will be exhausted soon; likely before 2026.” There is certainly more text available, but it is locked away in small amounts in corporate databases or on personal devices, inaccessible at the scale and low cost that Common Crawl allows.</a:t>
            </a:r>
          </a:p>
          <a:p>
            <a:pPr algn="l" fontAlgn="base"/>
            <a:r>
              <a:rPr lang="en-GB" b="0" i="0" dirty="0">
                <a:effectLst/>
                <a:latin typeface="var(--ds-type-system-serif)"/>
              </a:rPr>
              <a:t>Computers will get more powerful over time, but there is no new hardware forthcoming which offers a leap in performance as large as that which came from using GPUs in the early 2010s, so training larger models will probably be increasingly expensive—perhaps why Mr Altman is not enthused by the idea. </a:t>
            </a:r>
          </a:p>
          <a:p>
            <a:pPr algn="l" fontAlgn="base"/>
            <a:r>
              <a:rPr lang="en-GB" b="0" i="0" dirty="0">
                <a:effectLst/>
                <a:latin typeface="var(--ds-type-system-serif)"/>
              </a:rPr>
              <a:t>Improvements are possible, including new kinds of chips such as Google’s Tensor Processing Unit, but the manufacturing of chips is no longer improving exponentially through Moore’s law and shrinking circuits.</a:t>
            </a:r>
          </a:p>
          <a:p>
            <a:pPr algn="l" fontAlgn="base"/>
            <a:r>
              <a:rPr lang="en-GB" b="0" i="0" dirty="0">
                <a:effectLst/>
                <a:latin typeface="var(--ds-type-system-serif)"/>
              </a:rPr>
              <a:t>There will also be legal issues. Stability AI, a company which produces an image-generation model called Stable Diffusion, has been sued by Getty Images, a photography agency. </a:t>
            </a:r>
          </a:p>
          <a:p>
            <a:pPr algn="l" fontAlgn="base"/>
            <a:r>
              <a:rPr lang="en-GB" b="0" i="0" dirty="0">
                <a:effectLst/>
                <a:latin typeface="var(--ds-type-system-serif)"/>
              </a:rPr>
              <a:t>Stable Diffusion’s training data comes from the same place as GPT-3 and GPT-4, Common Crawl, and it processes it in very similar ways, using attention networks. Some of the most striking examples of AI’s generative prowess have been images. People on the internet are now regularly getting caught up in excitement about apparent photos of scenes that never took place: e.g., Donald Trump being arrested.</a:t>
            </a:r>
          </a:p>
          <a:p>
            <a:pPr algn="l" fontAlgn="base"/>
            <a:r>
              <a:rPr lang="en-GB" b="0" i="0" dirty="0">
                <a:effectLst/>
                <a:latin typeface="var(--ds-type-system-serif)"/>
              </a:rPr>
              <a:t>Getty points to images produced by Stable Diffusion which contain its copyright watermark, suggesting that Stable Diffusion has ingested and is reproducing copyrighted material without permission (Stability AI has not yet commented publicly on the lawsuit). The same level of evidence is harder to come by when examining </a:t>
            </a:r>
            <a:r>
              <a:rPr lang="en-GB" b="0" i="0" dirty="0" err="1">
                <a:effectLst/>
                <a:latin typeface="var(--ds-type-system-serif)"/>
              </a:rPr>
              <a:t>ChatGPT’s</a:t>
            </a:r>
            <a:r>
              <a:rPr lang="en-GB" b="0" i="0" dirty="0">
                <a:effectLst/>
                <a:latin typeface="var(--ds-type-system-serif)"/>
              </a:rPr>
              <a:t> text output, but there is no doubt that it has been trained on copyrighted material. </a:t>
            </a:r>
            <a:r>
              <a:rPr lang="en-GB" b="0" i="0" dirty="0" err="1">
                <a:effectLst/>
                <a:latin typeface="var(--ds-type-system-serif)"/>
              </a:rPr>
              <a:t>OpenAI</a:t>
            </a:r>
            <a:r>
              <a:rPr lang="en-GB" b="0" i="0" dirty="0">
                <a:effectLst/>
                <a:latin typeface="var(--ds-type-system-serif)"/>
              </a:rPr>
              <a:t> will be hoping that its text generation is covered by “fair use”, a provision in copyright law that allows limited use of copyrighted material for “transformative” purposes. That idea will probably one day be tested in court.</a:t>
            </a:r>
          </a:p>
          <a:p>
            <a:pPr algn="l" fontAlgn="base"/>
            <a:r>
              <a:rPr lang="en-GB" b="1" i="0" dirty="0">
                <a:effectLst/>
                <a:latin typeface="var(--ds-type-system-serif)"/>
              </a:rPr>
              <a:t>A major appliance</a:t>
            </a:r>
          </a:p>
          <a:p>
            <a:pPr algn="l" fontAlgn="base"/>
            <a:r>
              <a:rPr lang="en-GB" b="0" i="0" dirty="0">
                <a:effectLst/>
                <a:latin typeface="var(--ds-type-system-serif)"/>
              </a:rPr>
              <a:t>But even in a scenario where LLMs stopped improving this year, and a blockbuster lawsuit drove </a:t>
            </a:r>
            <a:r>
              <a:rPr lang="en-GB" b="0" i="0" dirty="0" err="1">
                <a:effectLst/>
                <a:latin typeface="var(--ds-type-system-serif)"/>
              </a:rPr>
              <a:t>OpenAI</a:t>
            </a:r>
            <a:r>
              <a:rPr lang="en-GB" b="0" i="0" dirty="0">
                <a:effectLst/>
                <a:latin typeface="var(--ds-type-system-serif)"/>
              </a:rPr>
              <a:t> to bankruptcy, the power of large language models would remain. The data and the tools to process it are widely available, even if the sheer scale achieved by </a:t>
            </a:r>
            <a:r>
              <a:rPr lang="en-GB" b="0" i="0" dirty="0" err="1">
                <a:effectLst/>
                <a:latin typeface="var(--ds-type-system-serif)"/>
              </a:rPr>
              <a:t>OpenAI</a:t>
            </a:r>
            <a:r>
              <a:rPr lang="en-GB" b="0" i="0" dirty="0">
                <a:effectLst/>
                <a:latin typeface="var(--ds-type-system-serif)"/>
              </a:rPr>
              <a:t> remains expensive.</a:t>
            </a:r>
          </a:p>
          <a:p>
            <a:pPr algn="l" fontAlgn="base"/>
            <a:r>
              <a:rPr lang="en-GB" b="0" i="0" dirty="0">
                <a:effectLst/>
                <a:latin typeface="var(--ds-type-system-serif)"/>
              </a:rPr>
              <a:t>Open-source implementations, when trained carefully and selectively, are already aping the performance of GPT-4. This is a good thing: having the power of LLMs in many hands means that many minds can come up with innovative new applications, improving everything from medicine to the law.</a:t>
            </a:r>
          </a:p>
          <a:p>
            <a:pPr algn="l" fontAlgn="base"/>
            <a:r>
              <a:rPr lang="en-GB" b="0" i="0" dirty="0">
                <a:effectLst/>
                <a:latin typeface="var(--ds-type-system-serif)"/>
              </a:rPr>
              <a:t>But it also means that the catastrophic risk which keeps the tech elite up at night has become more imaginable. LLMs are already incredibly powerful and have improved so quickly that many of those working on them have taken fright. The capabilities of the biggest models have outrun their creators’ understanding and control. That creates risks, of all kinds. </a:t>
            </a:r>
          </a:p>
          <a:p>
            <a:endParaRPr lang="en-GB" dirty="0"/>
          </a:p>
        </p:txBody>
      </p:sp>
      <p:sp>
        <p:nvSpPr>
          <p:cNvPr id="4" name="Slide Number Placeholder 3"/>
          <p:cNvSpPr>
            <a:spLocks noGrp="1"/>
          </p:cNvSpPr>
          <p:nvPr>
            <p:ph type="sldNum" sz="quarter" idx="5"/>
          </p:nvPr>
        </p:nvSpPr>
        <p:spPr/>
        <p:txBody>
          <a:bodyPr/>
          <a:lstStyle/>
          <a:p>
            <a:fld id="{0D0F6A6F-3B01-4D55-A9F9-D30D79A2B988}" type="slidenum">
              <a:rPr lang="en-GB" smtClean="0"/>
              <a:t>31</a:t>
            </a:fld>
            <a:endParaRPr lang="en-GB"/>
          </a:p>
        </p:txBody>
      </p:sp>
    </p:spTree>
    <p:extLst>
      <p:ext uri="{BB962C8B-B14F-4D97-AF65-F5344CB8AC3E}">
        <p14:creationId xmlns:p14="http://schemas.microsoft.com/office/powerpoint/2010/main" val="3966739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D0D0D"/>
                </a:solidFill>
                <a:effectLst/>
                <a:latin typeface="MiloTE"/>
              </a:rPr>
              <a:t>The </a:t>
            </a:r>
            <a:r>
              <a:rPr lang="en-GB" dirty="0" err="1"/>
              <a:t>llm</a:t>
            </a:r>
            <a:r>
              <a:rPr lang="en-GB" b="0" i="0" dirty="0">
                <a:solidFill>
                  <a:srgbClr val="0D0D0D"/>
                </a:solidFill>
                <a:effectLst/>
                <a:latin typeface="MiloTE"/>
              </a:rPr>
              <a:t> then deploys its “attention network” to make connections between different parts of the prompt. Someone reading our prompt, “the promise of large language models is that they…”, would know how English grammar works and understand the concepts behind the words in the sentence. It would be obvious to them which words relate to each other—it is the model that is large, for example. An </a:t>
            </a:r>
            <a:r>
              <a:rPr lang="en-GB" dirty="0" err="1"/>
              <a:t>llm</a:t>
            </a:r>
            <a:r>
              <a:rPr lang="en-GB" b="0" i="0" dirty="0">
                <a:solidFill>
                  <a:srgbClr val="0D0D0D"/>
                </a:solidFill>
                <a:effectLst/>
                <a:latin typeface="MiloTE"/>
              </a:rPr>
              <a:t>, however, must learn these associations from scratch during its training phase—over billions of training runs, its </a:t>
            </a:r>
            <a:r>
              <a:rPr lang="en-GB" b="1" i="0" dirty="0">
                <a:solidFill>
                  <a:srgbClr val="0D0D0D"/>
                </a:solidFill>
                <a:effectLst/>
                <a:latin typeface="MiloTE"/>
              </a:rPr>
              <a:t>attention network slowly encodes the structure of the language it sees as numbers (called “weights”)</a:t>
            </a:r>
            <a:r>
              <a:rPr lang="en-GB" b="0" i="0" dirty="0">
                <a:solidFill>
                  <a:srgbClr val="0D0D0D"/>
                </a:solidFill>
                <a:effectLst/>
                <a:latin typeface="MiloTE"/>
              </a:rPr>
              <a:t> within its neural network. If it understands language at all, </a:t>
            </a:r>
            <a:r>
              <a:rPr lang="en-GB" b="0" i="0">
                <a:solidFill>
                  <a:srgbClr val="0D0D0D"/>
                </a:solidFill>
                <a:effectLst/>
                <a:latin typeface="MiloTE"/>
              </a:rPr>
              <a:t>an </a:t>
            </a:r>
            <a:r>
              <a:rPr lang="en-GB"/>
              <a:t>LLM</a:t>
            </a:r>
            <a:r>
              <a:rPr lang="en-GB" b="0" i="0">
                <a:solidFill>
                  <a:srgbClr val="0D0D0D"/>
                </a:solidFill>
                <a:effectLst/>
                <a:latin typeface="MiloTE"/>
              </a:rPr>
              <a:t> </a:t>
            </a:r>
            <a:r>
              <a:rPr lang="en-GB" b="0" i="0" dirty="0">
                <a:solidFill>
                  <a:srgbClr val="0D0D0D"/>
                </a:solidFill>
                <a:effectLst/>
                <a:latin typeface="MiloTE"/>
              </a:rPr>
              <a:t>only does so in a statistical, rather than a grammatical, way. It is much more like an abacus than it is like a mind.</a:t>
            </a:r>
            <a:endParaRPr lang="en-GB" dirty="0"/>
          </a:p>
        </p:txBody>
      </p:sp>
      <p:sp>
        <p:nvSpPr>
          <p:cNvPr id="4" name="Slide Number Placeholder 3"/>
          <p:cNvSpPr>
            <a:spLocks noGrp="1"/>
          </p:cNvSpPr>
          <p:nvPr>
            <p:ph type="sldNum" sz="quarter" idx="5"/>
          </p:nvPr>
        </p:nvSpPr>
        <p:spPr/>
        <p:txBody>
          <a:bodyPr/>
          <a:lstStyle/>
          <a:p>
            <a:fld id="{0D0F6A6F-3B01-4D55-A9F9-D30D79A2B988}" type="slidenum">
              <a:rPr lang="en-GB" smtClean="0"/>
              <a:t>32</a:t>
            </a:fld>
            <a:endParaRPr lang="en-GB"/>
          </a:p>
        </p:txBody>
      </p:sp>
    </p:spTree>
    <p:extLst>
      <p:ext uri="{BB962C8B-B14F-4D97-AF65-F5344CB8AC3E}">
        <p14:creationId xmlns:p14="http://schemas.microsoft.com/office/powerpoint/2010/main" val="5642746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en-GB" b="1" i="0" dirty="0">
                <a:effectLst/>
                <a:latin typeface="var(--ds-type-system-serif)"/>
              </a:rPr>
              <a:t>Process the data</a:t>
            </a:r>
          </a:p>
          <a:p>
            <a:pPr algn="l" fontAlgn="base"/>
            <a:r>
              <a:rPr lang="en-GB" b="0" i="0" dirty="0">
                <a:effectLst/>
                <a:latin typeface="var(--ds-type-system-serif)"/>
              </a:rPr>
              <a:t>The recent success of </a:t>
            </a:r>
            <a:r>
              <a:rPr lang="en-GB" b="0" i="0" dirty="0" err="1">
                <a:effectLst/>
                <a:latin typeface="var(--ds-type-system-serif)"/>
              </a:rPr>
              <a:t>llms</a:t>
            </a:r>
            <a:r>
              <a:rPr lang="en-GB" b="0" i="0" dirty="0">
                <a:effectLst/>
                <a:latin typeface="var(--ds-type-system-serif)"/>
              </a:rPr>
              <a:t> in generating convincing text, as well as their startling emergent abilities, is due to the coalescence of three things: gobsmacking quantities of data, algorithms capable of learning from them and the computational power to do so (see chart). </a:t>
            </a:r>
            <a:endParaRPr lang="en-GB" dirty="0"/>
          </a:p>
        </p:txBody>
      </p:sp>
      <p:sp>
        <p:nvSpPr>
          <p:cNvPr id="4" name="Slide Number Placeholder 3"/>
          <p:cNvSpPr>
            <a:spLocks noGrp="1"/>
          </p:cNvSpPr>
          <p:nvPr>
            <p:ph type="sldNum" sz="quarter" idx="5"/>
          </p:nvPr>
        </p:nvSpPr>
        <p:spPr/>
        <p:txBody>
          <a:bodyPr/>
          <a:lstStyle/>
          <a:p>
            <a:fld id="{0D0F6A6F-3B01-4D55-A9F9-D30D79A2B988}" type="slidenum">
              <a:rPr lang="en-GB" smtClean="0"/>
              <a:t>33</a:t>
            </a:fld>
            <a:endParaRPr lang="en-GB"/>
          </a:p>
        </p:txBody>
      </p:sp>
    </p:spTree>
    <p:extLst>
      <p:ext uri="{BB962C8B-B14F-4D97-AF65-F5344CB8AC3E}">
        <p14:creationId xmlns:p14="http://schemas.microsoft.com/office/powerpoint/2010/main" val="569962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D0D0D"/>
                </a:solidFill>
                <a:effectLst/>
                <a:latin typeface="MiloTE"/>
              </a:rPr>
              <a:t>There’s a lot of junk text on the internet, so the initial 45 terabytes were filtered using a different machine-learning model to select just the high-quality text: 570 gigabytes of it, a dataset that could fit on a modern laptop. In addition, </a:t>
            </a:r>
            <a:r>
              <a:rPr lang="en-GB" dirty="0"/>
              <a:t>gpt</a:t>
            </a:r>
            <a:r>
              <a:rPr lang="en-GB" b="0" i="0" dirty="0">
                <a:solidFill>
                  <a:srgbClr val="0D0D0D"/>
                </a:solidFill>
                <a:effectLst/>
                <a:latin typeface="MiloTE"/>
              </a:rPr>
              <a:t>-4 was trained on an unknown quantity of images, probably several terabytes. By comparison </a:t>
            </a:r>
            <a:r>
              <a:rPr lang="en-GB" b="0" i="0" dirty="0" err="1">
                <a:solidFill>
                  <a:srgbClr val="0D0D0D"/>
                </a:solidFill>
                <a:effectLst/>
                <a:latin typeface="MiloTE"/>
              </a:rPr>
              <a:t>AlexNet</a:t>
            </a:r>
            <a:r>
              <a:rPr lang="en-GB" b="0" i="0" dirty="0">
                <a:solidFill>
                  <a:srgbClr val="0D0D0D"/>
                </a:solidFill>
                <a:effectLst/>
                <a:latin typeface="MiloTE"/>
              </a:rPr>
              <a:t>, a neural network that reignited image-processing excitement in the 2010s, was trained on a dataset of 1.2m labelled images, a total of 126 gigabytes—less than a tenth of the size of </a:t>
            </a:r>
            <a:r>
              <a:rPr lang="en-GB" dirty="0"/>
              <a:t>gpt</a:t>
            </a:r>
            <a:r>
              <a:rPr lang="en-GB" b="0" i="0" dirty="0">
                <a:solidFill>
                  <a:srgbClr val="0D0D0D"/>
                </a:solidFill>
                <a:effectLst/>
                <a:latin typeface="MiloTE"/>
              </a:rPr>
              <a:t>-4’s  dataset.</a:t>
            </a:r>
            <a:endParaRPr lang="en-GB" dirty="0"/>
          </a:p>
        </p:txBody>
      </p:sp>
      <p:sp>
        <p:nvSpPr>
          <p:cNvPr id="4" name="Slide Number Placeholder 3"/>
          <p:cNvSpPr>
            <a:spLocks noGrp="1"/>
          </p:cNvSpPr>
          <p:nvPr>
            <p:ph type="sldNum" sz="quarter" idx="5"/>
          </p:nvPr>
        </p:nvSpPr>
        <p:spPr/>
        <p:txBody>
          <a:bodyPr/>
          <a:lstStyle/>
          <a:p>
            <a:fld id="{0D0F6A6F-3B01-4D55-A9F9-D30D79A2B988}" type="slidenum">
              <a:rPr lang="en-GB" smtClean="0"/>
              <a:t>34</a:t>
            </a:fld>
            <a:endParaRPr lang="en-GB"/>
          </a:p>
        </p:txBody>
      </p:sp>
    </p:spTree>
    <p:extLst>
      <p:ext uri="{BB962C8B-B14F-4D97-AF65-F5344CB8AC3E}">
        <p14:creationId xmlns:p14="http://schemas.microsoft.com/office/powerpoint/2010/main" val="8054383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D0F6A6F-3B01-4D55-A9F9-D30D79A2B988}" type="slidenum">
              <a:rPr lang="en-GB" smtClean="0"/>
              <a:t>36</a:t>
            </a:fld>
            <a:endParaRPr lang="en-GB"/>
          </a:p>
        </p:txBody>
      </p:sp>
    </p:spTree>
    <p:extLst>
      <p:ext uri="{BB962C8B-B14F-4D97-AF65-F5344CB8AC3E}">
        <p14:creationId xmlns:p14="http://schemas.microsoft.com/office/powerpoint/2010/main" val="33586271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milestone highlights how </a:t>
            </a:r>
            <a:r>
              <a:rPr lang="en-US" dirty="0" err="1"/>
              <a:t>DeepSeek</a:t>
            </a:r>
            <a:r>
              <a:rPr lang="en-US" dirty="0"/>
              <a:t> has left a deep impression on Silicon Valley, upending widely held views about U.S. primacy in AI </a:t>
            </a:r>
          </a:p>
          <a:p>
            <a:endParaRPr lang="en-IE" dirty="0"/>
          </a:p>
        </p:txBody>
      </p:sp>
      <p:sp>
        <p:nvSpPr>
          <p:cNvPr id="4" name="Slide Number Placeholder 3"/>
          <p:cNvSpPr>
            <a:spLocks noGrp="1"/>
          </p:cNvSpPr>
          <p:nvPr>
            <p:ph type="sldNum" sz="quarter" idx="10"/>
          </p:nvPr>
        </p:nvSpPr>
        <p:spPr/>
        <p:txBody>
          <a:bodyPr/>
          <a:lstStyle/>
          <a:p>
            <a:fld id="{0D0F6A6F-3B01-4D55-A9F9-D30D79A2B988}" type="slidenum">
              <a:rPr lang="en-GB" smtClean="0"/>
              <a:t>37</a:t>
            </a:fld>
            <a:endParaRPr lang="en-GB"/>
          </a:p>
        </p:txBody>
      </p:sp>
    </p:spTree>
    <p:extLst>
      <p:ext uri="{BB962C8B-B14F-4D97-AF65-F5344CB8AC3E}">
        <p14:creationId xmlns:p14="http://schemas.microsoft.com/office/powerpoint/2010/main" val="39452088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Although this detail has since been disputed, the claim that the chips used were less powerful than the most advanced </a:t>
            </a:r>
            <a:r>
              <a:rPr lang="en-US" dirty="0" err="1"/>
              <a:t>Nvidia</a:t>
            </a:r>
            <a:r>
              <a:rPr lang="en-US" dirty="0"/>
              <a:t> products Washington has sought to keep out of China, as well as the relatively cheap training costs, has prompted U.S. tech executives to question the effectiveness of tech export controls</a:t>
            </a:r>
            <a:endParaRPr lang="en-IE" dirty="0"/>
          </a:p>
        </p:txBody>
      </p:sp>
      <p:sp>
        <p:nvSpPr>
          <p:cNvPr id="4" name="Slide Number Placeholder 3"/>
          <p:cNvSpPr>
            <a:spLocks noGrp="1"/>
          </p:cNvSpPr>
          <p:nvPr>
            <p:ph type="sldNum" sz="quarter" idx="10"/>
          </p:nvPr>
        </p:nvSpPr>
        <p:spPr/>
        <p:txBody>
          <a:bodyPr/>
          <a:lstStyle/>
          <a:p>
            <a:fld id="{0D0F6A6F-3B01-4D55-A9F9-D30D79A2B988}" type="slidenum">
              <a:rPr lang="en-GB" smtClean="0"/>
              <a:t>38</a:t>
            </a:fld>
            <a:endParaRPr lang="en-GB"/>
          </a:p>
        </p:txBody>
      </p:sp>
    </p:spTree>
    <p:extLst>
      <p:ext uri="{BB962C8B-B14F-4D97-AF65-F5344CB8AC3E}">
        <p14:creationId xmlns:p14="http://schemas.microsoft.com/office/powerpoint/2010/main" val="10960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6D831-66E4-0DAC-5583-C3DFC3E5BF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DBFD7AB-02AA-1030-DDDD-F820C869AA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0F841DF-F595-F662-319C-55512A346122}"/>
              </a:ext>
            </a:extLst>
          </p:cNvPr>
          <p:cNvSpPr>
            <a:spLocks noGrp="1"/>
          </p:cNvSpPr>
          <p:nvPr>
            <p:ph type="dt" sz="half" idx="10"/>
          </p:nvPr>
        </p:nvSpPr>
        <p:spPr/>
        <p:txBody>
          <a:bodyPr/>
          <a:lstStyle/>
          <a:p>
            <a:fld id="{88BC5950-EC6B-544F-9911-31E5450228EA}" type="datetimeFigureOut">
              <a:rPr lang="en-US" smtClean="0"/>
              <a:t>1/27/26</a:t>
            </a:fld>
            <a:endParaRPr lang="en-US"/>
          </a:p>
        </p:txBody>
      </p:sp>
      <p:sp>
        <p:nvSpPr>
          <p:cNvPr id="5" name="Footer Placeholder 4">
            <a:extLst>
              <a:ext uri="{FF2B5EF4-FFF2-40B4-BE49-F238E27FC236}">
                <a16:creationId xmlns:a16="http://schemas.microsoft.com/office/drawing/2014/main" id="{8DC401BC-303C-E9DE-65E0-10E9A72AA9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B1AED2-96C5-BC80-3ECC-377546214926}"/>
              </a:ext>
            </a:extLst>
          </p:cNvPr>
          <p:cNvSpPr>
            <a:spLocks noGrp="1"/>
          </p:cNvSpPr>
          <p:nvPr>
            <p:ph type="sldNum" sz="quarter" idx="12"/>
          </p:nvPr>
        </p:nvSpPr>
        <p:spPr/>
        <p:txBody>
          <a:bodyPr/>
          <a:lstStyle/>
          <a:p>
            <a:fld id="{0A3F228A-8A5E-4A4B-9722-9140A1B4EA75}" type="slidenum">
              <a:rPr lang="en-US" smtClean="0"/>
              <a:t>‹#›</a:t>
            </a:fld>
            <a:endParaRPr lang="en-US"/>
          </a:p>
        </p:txBody>
      </p:sp>
    </p:spTree>
    <p:extLst>
      <p:ext uri="{BB962C8B-B14F-4D97-AF65-F5344CB8AC3E}">
        <p14:creationId xmlns:p14="http://schemas.microsoft.com/office/powerpoint/2010/main" val="3088513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D32DE-D44F-EAD5-D516-E8778B1A2D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DEF097F-AAFA-9F74-6599-7BB089AF15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BF23B35-5F6F-E0B1-883E-37E49E8FA68E}"/>
              </a:ext>
            </a:extLst>
          </p:cNvPr>
          <p:cNvSpPr>
            <a:spLocks noGrp="1"/>
          </p:cNvSpPr>
          <p:nvPr>
            <p:ph type="dt" sz="half" idx="10"/>
          </p:nvPr>
        </p:nvSpPr>
        <p:spPr/>
        <p:txBody>
          <a:bodyPr/>
          <a:lstStyle/>
          <a:p>
            <a:fld id="{88BC5950-EC6B-544F-9911-31E5450228EA}" type="datetimeFigureOut">
              <a:rPr lang="en-US" smtClean="0"/>
              <a:t>1/27/26</a:t>
            </a:fld>
            <a:endParaRPr lang="en-US"/>
          </a:p>
        </p:txBody>
      </p:sp>
      <p:sp>
        <p:nvSpPr>
          <p:cNvPr id="5" name="Footer Placeholder 4">
            <a:extLst>
              <a:ext uri="{FF2B5EF4-FFF2-40B4-BE49-F238E27FC236}">
                <a16:creationId xmlns:a16="http://schemas.microsoft.com/office/drawing/2014/main" id="{5475E9E6-D8F3-EBEC-712A-2F23CB6B27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AC208E-0D76-D74E-17C4-3A01FC868CD0}"/>
              </a:ext>
            </a:extLst>
          </p:cNvPr>
          <p:cNvSpPr>
            <a:spLocks noGrp="1"/>
          </p:cNvSpPr>
          <p:nvPr>
            <p:ph type="sldNum" sz="quarter" idx="12"/>
          </p:nvPr>
        </p:nvSpPr>
        <p:spPr/>
        <p:txBody>
          <a:bodyPr/>
          <a:lstStyle/>
          <a:p>
            <a:fld id="{0A3F228A-8A5E-4A4B-9722-9140A1B4EA75}" type="slidenum">
              <a:rPr lang="en-US" smtClean="0"/>
              <a:t>‹#›</a:t>
            </a:fld>
            <a:endParaRPr lang="en-US"/>
          </a:p>
        </p:txBody>
      </p:sp>
    </p:spTree>
    <p:extLst>
      <p:ext uri="{BB962C8B-B14F-4D97-AF65-F5344CB8AC3E}">
        <p14:creationId xmlns:p14="http://schemas.microsoft.com/office/powerpoint/2010/main" val="4163934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19DB5-74B7-6DDE-75EC-766E2268B9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7105942-79ED-6626-0D8B-A04D814CEE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CFA0A1-DD9C-6D6E-88A0-715E26EAE80B}"/>
              </a:ext>
            </a:extLst>
          </p:cNvPr>
          <p:cNvSpPr>
            <a:spLocks noGrp="1"/>
          </p:cNvSpPr>
          <p:nvPr>
            <p:ph type="dt" sz="half" idx="10"/>
          </p:nvPr>
        </p:nvSpPr>
        <p:spPr/>
        <p:txBody>
          <a:bodyPr/>
          <a:lstStyle/>
          <a:p>
            <a:fld id="{88BC5950-EC6B-544F-9911-31E5450228EA}" type="datetimeFigureOut">
              <a:rPr lang="en-US" smtClean="0"/>
              <a:t>1/27/26</a:t>
            </a:fld>
            <a:endParaRPr lang="en-US"/>
          </a:p>
        </p:txBody>
      </p:sp>
      <p:sp>
        <p:nvSpPr>
          <p:cNvPr id="5" name="Footer Placeholder 4">
            <a:extLst>
              <a:ext uri="{FF2B5EF4-FFF2-40B4-BE49-F238E27FC236}">
                <a16:creationId xmlns:a16="http://schemas.microsoft.com/office/drawing/2014/main" id="{9FC26817-2867-EF69-DDE7-912DA18D32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D1EAEB-DFD7-B31A-A86C-CF4A1BD6CF80}"/>
              </a:ext>
            </a:extLst>
          </p:cNvPr>
          <p:cNvSpPr>
            <a:spLocks noGrp="1"/>
          </p:cNvSpPr>
          <p:nvPr>
            <p:ph type="sldNum" sz="quarter" idx="12"/>
          </p:nvPr>
        </p:nvSpPr>
        <p:spPr/>
        <p:txBody>
          <a:bodyPr/>
          <a:lstStyle/>
          <a:p>
            <a:fld id="{0A3F228A-8A5E-4A4B-9722-9140A1B4EA75}" type="slidenum">
              <a:rPr lang="en-US" smtClean="0"/>
              <a:t>‹#›</a:t>
            </a:fld>
            <a:endParaRPr lang="en-US"/>
          </a:p>
        </p:txBody>
      </p:sp>
    </p:spTree>
    <p:extLst>
      <p:ext uri="{BB962C8B-B14F-4D97-AF65-F5344CB8AC3E}">
        <p14:creationId xmlns:p14="http://schemas.microsoft.com/office/powerpoint/2010/main" val="2144585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6B86C-F8AE-EA95-CCB8-3BCBA7B631C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D8742DE-E051-7410-2A35-52D473F953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D733E4E-1EB4-529F-FE55-52F8C97C35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355B73D-26E0-CDF0-349A-A77C0B513ACD}"/>
              </a:ext>
            </a:extLst>
          </p:cNvPr>
          <p:cNvSpPr>
            <a:spLocks noGrp="1"/>
          </p:cNvSpPr>
          <p:nvPr>
            <p:ph type="dt" sz="half" idx="10"/>
          </p:nvPr>
        </p:nvSpPr>
        <p:spPr/>
        <p:txBody>
          <a:bodyPr/>
          <a:lstStyle/>
          <a:p>
            <a:fld id="{88BC5950-EC6B-544F-9911-31E5450228EA}" type="datetimeFigureOut">
              <a:rPr lang="en-US" smtClean="0"/>
              <a:t>1/27/26</a:t>
            </a:fld>
            <a:endParaRPr lang="en-US"/>
          </a:p>
        </p:txBody>
      </p:sp>
      <p:sp>
        <p:nvSpPr>
          <p:cNvPr id="6" name="Footer Placeholder 5">
            <a:extLst>
              <a:ext uri="{FF2B5EF4-FFF2-40B4-BE49-F238E27FC236}">
                <a16:creationId xmlns:a16="http://schemas.microsoft.com/office/drawing/2014/main" id="{F1288A5C-8FDA-B242-F41C-02CC447EE7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862BD3-78C8-835B-3751-035C3AA4DCFB}"/>
              </a:ext>
            </a:extLst>
          </p:cNvPr>
          <p:cNvSpPr>
            <a:spLocks noGrp="1"/>
          </p:cNvSpPr>
          <p:nvPr>
            <p:ph type="sldNum" sz="quarter" idx="12"/>
          </p:nvPr>
        </p:nvSpPr>
        <p:spPr/>
        <p:txBody>
          <a:bodyPr/>
          <a:lstStyle/>
          <a:p>
            <a:fld id="{0A3F228A-8A5E-4A4B-9722-9140A1B4EA75}" type="slidenum">
              <a:rPr lang="en-US" smtClean="0"/>
              <a:t>‹#›</a:t>
            </a:fld>
            <a:endParaRPr lang="en-US"/>
          </a:p>
        </p:txBody>
      </p:sp>
    </p:spTree>
    <p:extLst>
      <p:ext uri="{BB962C8B-B14F-4D97-AF65-F5344CB8AC3E}">
        <p14:creationId xmlns:p14="http://schemas.microsoft.com/office/powerpoint/2010/main" val="606482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A8885-960A-03F3-70D5-9EC16806C25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A3E321F-A382-51E8-288F-F43D35BB75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6A0C6F-76F7-7784-2B9C-507944FF2D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9398923-78A7-F937-1454-C3C0B87A06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CAA652-A026-3CA6-725B-260A09D7AF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6D2510F-2B96-95E9-BE68-C94BBF07FE7E}"/>
              </a:ext>
            </a:extLst>
          </p:cNvPr>
          <p:cNvSpPr>
            <a:spLocks noGrp="1"/>
          </p:cNvSpPr>
          <p:nvPr>
            <p:ph type="dt" sz="half" idx="10"/>
          </p:nvPr>
        </p:nvSpPr>
        <p:spPr/>
        <p:txBody>
          <a:bodyPr/>
          <a:lstStyle/>
          <a:p>
            <a:fld id="{88BC5950-EC6B-544F-9911-31E5450228EA}" type="datetimeFigureOut">
              <a:rPr lang="en-US" smtClean="0"/>
              <a:t>1/27/26</a:t>
            </a:fld>
            <a:endParaRPr lang="en-US"/>
          </a:p>
        </p:txBody>
      </p:sp>
      <p:sp>
        <p:nvSpPr>
          <p:cNvPr id="8" name="Footer Placeholder 7">
            <a:extLst>
              <a:ext uri="{FF2B5EF4-FFF2-40B4-BE49-F238E27FC236}">
                <a16:creationId xmlns:a16="http://schemas.microsoft.com/office/drawing/2014/main" id="{F7AA5339-F5D6-504C-8BEA-0C0E9FF192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F20E1C-EDB4-12B7-206E-61E2212413BC}"/>
              </a:ext>
            </a:extLst>
          </p:cNvPr>
          <p:cNvSpPr>
            <a:spLocks noGrp="1"/>
          </p:cNvSpPr>
          <p:nvPr>
            <p:ph type="sldNum" sz="quarter" idx="12"/>
          </p:nvPr>
        </p:nvSpPr>
        <p:spPr/>
        <p:txBody>
          <a:bodyPr/>
          <a:lstStyle/>
          <a:p>
            <a:fld id="{0A3F228A-8A5E-4A4B-9722-9140A1B4EA75}" type="slidenum">
              <a:rPr lang="en-US" smtClean="0"/>
              <a:t>‹#›</a:t>
            </a:fld>
            <a:endParaRPr lang="en-US"/>
          </a:p>
        </p:txBody>
      </p:sp>
    </p:spTree>
    <p:extLst>
      <p:ext uri="{BB962C8B-B14F-4D97-AF65-F5344CB8AC3E}">
        <p14:creationId xmlns:p14="http://schemas.microsoft.com/office/powerpoint/2010/main" val="4222181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E2340-A259-707C-9A83-6861B05C6B5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125FD70-AB44-2680-B666-ECCF58751C3E}"/>
              </a:ext>
            </a:extLst>
          </p:cNvPr>
          <p:cNvSpPr>
            <a:spLocks noGrp="1"/>
          </p:cNvSpPr>
          <p:nvPr>
            <p:ph type="dt" sz="half" idx="10"/>
          </p:nvPr>
        </p:nvSpPr>
        <p:spPr/>
        <p:txBody>
          <a:bodyPr/>
          <a:lstStyle/>
          <a:p>
            <a:fld id="{88BC5950-EC6B-544F-9911-31E5450228EA}" type="datetimeFigureOut">
              <a:rPr lang="en-US" smtClean="0"/>
              <a:t>1/27/26</a:t>
            </a:fld>
            <a:endParaRPr lang="en-US"/>
          </a:p>
        </p:txBody>
      </p:sp>
      <p:sp>
        <p:nvSpPr>
          <p:cNvPr id="4" name="Footer Placeholder 3">
            <a:extLst>
              <a:ext uri="{FF2B5EF4-FFF2-40B4-BE49-F238E27FC236}">
                <a16:creationId xmlns:a16="http://schemas.microsoft.com/office/drawing/2014/main" id="{F9179BFE-4D4B-D39A-949A-139CA85ED5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672322-297E-6E17-E8FA-E94749EFC703}"/>
              </a:ext>
            </a:extLst>
          </p:cNvPr>
          <p:cNvSpPr>
            <a:spLocks noGrp="1"/>
          </p:cNvSpPr>
          <p:nvPr>
            <p:ph type="sldNum" sz="quarter" idx="12"/>
          </p:nvPr>
        </p:nvSpPr>
        <p:spPr/>
        <p:txBody>
          <a:bodyPr/>
          <a:lstStyle/>
          <a:p>
            <a:fld id="{0A3F228A-8A5E-4A4B-9722-9140A1B4EA75}" type="slidenum">
              <a:rPr lang="en-US" smtClean="0"/>
              <a:t>‹#›</a:t>
            </a:fld>
            <a:endParaRPr lang="en-US"/>
          </a:p>
        </p:txBody>
      </p:sp>
    </p:spTree>
    <p:extLst>
      <p:ext uri="{BB962C8B-B14F-4D97-AF65-F5344CB8AC3E}">
        <p14:creationId xmlns:p14="http://schemas.microsoft.com/office/powerpoint/2010/main" val="811626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2B0CA9-9EF1-15A8-0094-350EB8F7D9F9}"/>
              </a:ext>
            </a:extLst>
          </p:cNvPr>
          <p:cNvSpPr>
            <a:spLocks noGrp="1"/>
          </p:cNvSpPr>
          <p:nvPr>
            <p:ph type="dt" sz="half" idx="10"/>
          </p:nvPr>
        </p:nvSpPr>
        <p:spPr/>
        <p:txBody>
          <a:bodyPr/>
          <a:lstStyle/>
          <a:p>
            <a:fld id="{88BC5950-EC6B-544F-9911-31E5450228EA}" type="datetimeFigureOut">
              <a:rPr lang="en-US" smtClean="0"/>
              <a:t>1/27/26</a:t>
            </a:fld>
            <a:endParaRPr lang="en-US"/>
          </a:p>
        </p:txBody>
      </p:sp>
      <p:sp>
        <p:nvSpPr>
          <p:cNvPr id="3" name="Footer Placeholder 2">
            <a:extLst>
              <a:ext uri="{FF2B5EF4-FFF2-40B4-BE49-F238E27FC236}">
                <a16:creationId xmlns:a16="http://schemas.microsoft.com/office/drawing/2014/main" id="{A06EA23A-CF75-E01B-9F0F-C02DBD6D099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6BD691-5368-65D1-9FE1-D9AAE1C18A1A}"/>
              </a:ext>
            </a:extLst>
          </p:cNvPr>
          <p:cNvSpPr>
            <a:spLocks noGrp="1"/>
          </p:cNvSpPr>
          <p:nvPr>
            <p:ph type="sldNum" sz="quarter" idx="12"/>
          </p:nvPr>
        </p:nvSpPr>
        <p:spPr/>
        <p:txBody>
          <a:bodyPr/>
          <a:lstStyle/>
          <a:p>
            <a:fld id="{0A3F228A-8A5E-4A4B-9722-9140A1B4EA75}" type="slidenum">
              <a:rPr lang="en-US" smtClean="0"/>
              <a:t>‹#›</a:t>
            </a:fld>
            <a:endParaRPr lang="en-US"/>
          </a:p>
        </p:txBody>
      </p:sp>
    </p:spTree>
    <p:extLst>
      <p:ext uri="{BB962C8B-B14F-4D97-AF65-F5344CB8AC3E}">
        <p14:creationId xmlns:p14="http://schemas.microsoft.com/office/powerpoint/2010/main" val="1793850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D8487-1A5F-941F-07CF-36F2AC1A6E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48A3D43-9034-3897-275A-B604D71330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302B7A0-22C1-33C7-3CF7-2485ADC23E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A23448-8F1A-09B3-8F8A-53F4923ABAE8}"/>
              </a:ext>
            </a:extLst>
          </p:cNvPr>
          <p:cNvSpPr>
            <a:spLocks noGrp="1"/>
          </p:cNvSpPr>
          <p:nvPr>
            <p:ph type="dt" sz="half" idx="10"/>
          </p:nvPr>
        </p:nvSpPr>
        <p:spPr/>
        <p:txBody>
          <a:bodyPr/>
          <a:lstStyle/>
          <a:p>
            <a:fld id="{88BC5950-EC6B-544F-9911-31E5450228EA}" type="datetimeFigureOut">
              <a:rPr lang="en-US" smtClean="0"/>
              <a:t>1/27/26</a:t>
            </a:fld>
            <a:endParaRPr lang="en-US"/>
          </a:p>
        </p:txBody>
      </p:sp>
      <p:sp>
        <p:nvSpPr>
          <p:cNvPr id="6" name="Footer Placeholder 5">
            <a:extLst>
              <a:ext uri="{FF2B5EF4-FFF2-40B4-BE49-F238E27FC236}">
                <a16:creationId xmlns:a16="http://schemas.microsoft.com/office/drawing/2014/main" id="{99C6705B-BBC9-D11A-BF07-2AE4FAFEC1A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2AC148-3F35-06AA-FABD-AE795BA9E711}"/>
              </a:ext>
            </a:extLst>
          </p:cNvPr>
          <p:cNvSpPr>
            <a:spLocks noGrp="1"/>
          </p:cNvSpPr>
          <p:nvPr>
            <p:ph type="sldNum" sz="quarter" idx="12"/>
          </p:nvPr>
        </p:nvSpPr>
        <p:spPr/>
        <p:txBody>
          <a:bodyPr/>
          <a:lstStyle/>
          <a:p>
            <a:fld id="{0A3F228A-8A5E-4A4B-9722-9140A1B4EA75}" type="slidenum">
              <a:rPr lang="en-US" smtClean="0"/>
              <a:t>‹#›</a:t>
            </a:fld>
            <a:endParaRPr lang="en-US"/>
          </a:p>
        </p:txBody>
      </p:sp>
    </p:spTree>
    <p:extLst>
      <p:ext uri="{BB962C8B-B14F-4D97-AF65-F5344CB8AC3E}">
        <p14:creationId xmlns:p14="http://schemas.microsoft.com/office/powerpoint/2010/main" val="1861484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B3711-C6EA-0923-2E6F-A6A81BEBD4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F3C5056-6457-9548-AF25-A4E7553886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53AA928-19B9-5029-3583-9583C9D164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DF5876-D845-E4B1-31B1-BA9B721D7C05}"/>
              </a:ext>
            </a:extLst>
          </p:cNvPr>
          <p:cNvSpPr>
            <a:spLocks noGrp="1"/>
          </p:cNvSpPr>
          <p:nvPr>
            <p:ph type="dt" sz="half" idx="10"/>
          </p:nvPr>
        </p:nvSpPr>
        <p:spPr/>
        <p:txBody>
          <a:bodyPr/>
          <a:lstStyle/>
          <a:p>
            <a:fld id="{88BC5950-EC6B-544F-9911-31E5450228EA}" type="datetimeFigureOut">
              <a:rPr lang="en-US" smtClean="0"/>
              <a:t>1/27/26</a:t>
            </a:fld>
            <a:endParaRPr lang="en-US"/>
          </a:p>
        </p:txBody>
      </p:sp>
      <p:sp>
        <p:nvSpPr>
          <p:cNvPr id="6" name="Footer Placeholder 5">
            <a:extLst>
              <a:ext uri="{FF2B5EF4-FFF2-40B4-BE49-F238E27FC236}">
                <a16:creationId xmlns:a16="http://schemas.microsoft.com/office/drawing/2014/main" id="{6BEA9EB1-1058-2122-56D6-B7421D18EB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8BE634-4B2B-FBE9-CDD6-99DD4EE64B2B}"/>
              </a:ext>
            </a:extLst>
          </p:cNvPr>
          <p:cNvSpPr>
            <a:spLocks noGrp="1"/>
          </p:cNvSpPr>
          <p:nvPr>
            <p:ph type="sldNum" sz="quarter" idx="12"/>
          </p:nvPr>
        </p:nvSpPr>
        <p:spPr/>
        <p:txBody>
          <a:bodyPr/>
          <a:lstStyle/>
          <a:p>
            <a:fld id="{0A3F228A-8A5E-4A4B-9722-9140A1B4EA75}" type="slidenum">
              <a:rPr lang="en-US" smtClean="0"/>
              <a:t>‹#›</a:t>
            </a:fld>
            <a:endParaRPr lang="en-US"/>
          </a:p>
        </p:txBody>
      </p:sp>
    </p:spTree>
    <p:extLst>
      <p:ext uri="{BB962C8B-B14F-4D97-AF65-F5344CB8AC3E}">
        <p14:creationId xmlns:p14="http://schemas.microsoft.com/office/powerpoint/2010/main" val="959900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D4318-191D-42DF-0171-05EEFF63DE4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5852DB3-6888-E921-71AB-01761DD471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9B57892-0F7E-7EBA-53DA-4852495A609D}"/>
              </a:ext>
            </a:extLst>
          </p:cNvPr>
          <p:cNvSpPr>
            <a:spLocks noGrp="1"/>
          </p:cNvSpPr>
          <p:nvPr>
            <p:ph type="dt" sz="half" idx="10"/>
          </p:nvPr>
        </p:nvSpPr>
        <p:spPr/>
        <p:txBody>
          <a:bodyPr/>
          <a:lstStyle/>
          <a:p>
            <a:fld id="{88BC5950-EC6B-544F-9911-31E5450228EA}" type="datetimeFigureOut">
              <a:rPr lang="en-US" smtClean="0"/>
              <a:t>1/27/26</a:t>
            </a:fld>
            <a:endParaRPr lang="en-US"/>
          </a:p>
        </p:txBody>
      </p:sp>
      <p:sp>
        <p:nvSpPr>
          <p:cNvPr id="5" name="Footer Placeholder 4">
            <a:extLst>
              <a:ext uri="{FF2B5EF4-FFF2-40B4-BE49-F238E27FC236}">
                <a16:creationId xmlns:a16="http://schemas.microsoft.com/office/drawing/2014/main" id="{178C6D17-E4EC-3A62-A5EC-F8D1E9DBCD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AEE1F4-5757-15E0-D6BE-8CE5F18BF5B8}"/>
              </a:ext>
            </a:extLst>
          </p:cNvPr>
          <p:cNvSpPr>
            <a:spLocks noGrp="1"/>
          </p:cNvSpPr>
          <p:nvPr>
            <p:ph type="sldNum" sz="quarter" idx="12"/>
          </p:nvPr>
        </p:nvSpPr>
        <p:spPr/>
        <p:txBody>
          <a:bodyPr/>
          <a:lstStyle/>
          <a:p>
            <a:fld id="{0A3F228A-8A5E-4A4B-9722-9140A1B4EA75}" type="slidenum">
              <a:rPr lang="en-US" smtClean="0"/>
              <a:t>‹#›</a:t>
            </a:fld>
            <a:endParaRPr lang="en-US"/>
          </a:p>
        </p:txBody>
      </p:sp>
    </p:spTree>
    <p:extLst>
      <p:ext uri="{BB962C8B-B14F-4D97-AF65-F5344CB8AC3E}">
        <p14:creationId xmlns:p14="http://schemas.microsoft.com/office/powerpoint/2010/main" val="3869212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855E4B-1906-AAE8-5E4C-65697CF187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BE12407-4295-8DFD-6872-4070A657A3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E26B1CC-CDCE-B0C0-6822-D776A0B68670}"/>
              </a:ext>
            </a:extLst>
          </p:cNvPr>
          <p:cNvSpPr>
            <a:spLocks noGrp="1"/>
          </p:cNvSpPr>
          <p:nvPr>
            <p:ph type="dt" sz="half" idx="10"/>
          </p:nvPr>
        </p:nvSpPr>
        <p:spPr/>
        <p:txBody>
          <a:bodyPr/>
          <a:lstStyle/>
          <a:p>
            <a:fld id="{88BC5950-EC6B-544F-9911-31E5450228EA}" type="datetimeFigureOut">
              <a:rPr lang="en-US" smtClean="0"/>
              <a:t>1/27/26</a:t>
            </a:fld>
            <a:endParaRPr lang="en-US"/>
          </a:p>
        </p:txBody>
      </p:sp>
      <p:sp>
        <p:nvSpPr>
          <p:cNvPr id="5" name="Footer Placeholder 4">
            <a:extLst>
              <a:ext uri="{FF2B5EF4-FFF2-40B4-BE49-F238E27FC236}">
                <a16:creationId xmlns:a16="http://schemas.microsoft.com/office/drawing/2014/main" id="{04AC36D4-B5E8-1C28-D2E5-7BC131911C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2BF245-BDE3-8EA9-B377-93D783B38203}"/>
              </a:ext>
            </a:extLst>
          </p:cNvPr>
          <p:cNvSpPr>
            <a:spLocks noGrp="1"/>
          </p:cNvSpPr>
          <p:nvPr>
            <p:ph type="sldNum" sz="quarter" idx="12"/>
          </p:nvPr>
        </p:nvSpPr>
        <p:spPr/>
        <p:txBody>
          <a:bodyPr/>
          <a:lstStyle/>
          <a:p>
            <a:fld id="{0A3F228A-8A5E-4A4B-9722-9140A1B4EA75}" type="slidenum">
              <a:rPr lang="en-US" smtClean="0"/>
              <a:t>‹#›</a:t>
            </a:fld>
            <a:endParaRPr lang="en-US"/>
          </a:p>
        </p:txBody>
      </p:sp>
    </p:spTree>
    <p:extLst>
      <p:ext uri="{BB962C8B-B14F-4D97-AF65-F5344CB8AC3E}">
        <p14:creationId xmlns:p14="http://schemas.microsoft.com/office/powerpoint/2010/main" val="1333499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06C6F4-D333-D1D4-A905-80DA18DA98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9172BE1-CCBD-DEBE-E2B0-AA8FDB15ED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171308D-5E3B-ECB5-A68D-48DBEAA07C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BC5950-EC6B-544F-9911-31E5450228EA}" type="datetimeFigureOut">
              <a:rPr lang="en-US" smtClean="0"/>
              <a:t>1/27/26</a:t>
            </a:fld>
            <a:endParaRPr lang="en-US"/>
          </a:p>
        </p:txBody>
      </p:sp>
      <p:sp>
        <p:nvSpPr>
          <p:cNvPr id="5" name="Footer Placeholder 4">
            <a:extLst>
              <a:ext uri="{FF2B5EF4-FFF2-40B4-BE49-F238E27FC236}">
                <a16:creationId xmlns:a16="http://schemas.microsoft.com/office/drawing/2014/main" id="{6E5DCDFB-98C1-D0F6-7DD7-A60C99A977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878AC80-2BC4-2E52-ADC4-58F3C6FAC5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3F228A-8A5E-4A4B-9722-9140A1B4EA75}" type="slidenum">
              <a:rPr lang="en-US" smtClean="0"/>
              <a:t>‹#›</a:t>
            </a:fld>
            <a:endParaRPr lang="en-US"/>
          </a:p>
        </p:txBody>
      </p:sp>
    </p:spTree>
    <p:extLst>
      <p:ext uri="{BB962C8B-B14F-4D97-AF65-F5344CB8AC3E}">
        <p14:creationId xmlns:p14="http://schemas.microsoft.com/office/powerpoint/2010/main" val="4112260811"/>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DDA7F76-3A8A-FC44-B12E-021D729D03E8}"/>
              </a:ext>
            </a:extLst>
          </p:cNvPr>
          <p:cNvSpPr>
            <a:spLocks noGrp="1"/>
          </p:cNvSpPr>
          <p:nvPr>
            <p:ph type="ctrTitle"/>
          </p:nvPr>
        </p:nvSpPr>
        <p:spPr>
          <a:xfrm>
            <a:off x="908454" y="1360481"/>
            <a:ext cx="4605340" cy="2387600"/>
          </a:xfrm>
        </p:spPr>
        <p:txBody>
          <a:bodyPr>
            <a:normAutofit/>
          </a:bodyPr>
          <a:lstStyle/>
          <a:p>
            <a:pPr algn="l"/>
            <a:r>
              <a:rPr lang="en-US" sz="5000">
                <a:solidFill>
                  <a:schemeClr val="bg1"/>
                </a:solidFill>
              </a:rPr>
              <a:t>ai</a:t>
            </a:r>
          </a:p>
        </p:txBody>
      </p:sp>
      <p:sp>
        <p:nvSpPr>
          <p:cNvPr id="3" name="Subtitle 2">
            <a:extLst>
              <a:ext uri="{FF2B5EF4-FFF2-40B4-BE49-F238E27FC236}">
                <a16:creationId xmlns:a16="http://schemas.microsoft.com/office/drawing/2014/main" id="{F2678C81-852E-AE40-BA5B-13EB3AD4D9F4}"/>
              </a:ext>
            </a:extLst>
          </p:cNvPr>
          <p:cNvSpPr>
            <a:spLocks noGrp="1"/>
          </p:cNvSpPr>
          <p:nvPr>
            <p:ph type="subTitle" idx="1"/>
          </p:nvPr>
        </p:nvSpPr>
        <p:spPr>
          <a:xfrm>
            <a:off x="908454" y="3840156"/>
            <a:ext cx="4605340" cy="1655762"/>
          </a:xfrm>
        </p:spPr>
        <p:txBody>
          <a:bodyPr>
            <a:normAutofit/>
          </a:bodyPr>
          <a:lstStyle/>
          <a:p>
            <a:pPr algn="l"/>
            <a:r>
              <a:rPr lang="en-US" sz="2000">
                <a:solidFill>
                  <a:schemeClr val="bg1"/>
                </a:solidFill>
              </a:rPr>
              <a:t> </a:t>
            </a:r>
          </a:p>
        </p:txBody>
      </p:sp>
      <p:pic>
        <p:nvPicPr>
          <p:cNvPr id="4" name="Picture 3"/>
          <p:cNvPicPr>
            <a:picLocks noChangeAspect="1"/>
          </p:cNvPicPr>
          <p:nvPr/>
        </p:nvPicPr>
        <p:blipFill rotWithShape="1">
          <a:blip r:embed="rId2">
            <a:alphaModFix/>
            <a:extLst>
              <a:ext uri="{28A0092B-C50C-407E-A947-70E740481C1C}">
                <a14:useLocalDpi xmlns:a14="http://schemas.microsoft.com/office/drawing/2010/main" val="0"/>
              </a:ext>
            </a:extLst>
          </a:blip>
          <a:srcRect l="24330" r="5811" b="1"/>
          <a:stretch/>
        </p:blipFill>
        <p:spPr>
          <a:xfrm>
            <a:off x="5800734" y="1057275"/>
            <a:ext cx="5917401" cy="4743450"/>
          </a:xfrm>
          <a:prstGeom prst="rect">
            <a:avLst/>
          </a:prstGeom>
        </p:spPr>
      </p:pic>
      <p:sp>
        <p:nvSpPr>
          <p:cNvPr id="11" name="Rectangle 10">
            <a:extLst>
              <a:ext uri="{FF2B5EF4-FFF2-40B4-BE49-F238E27FC236}">
                <a16:creationId xmlns:a16="http://schemas.microsoft.com/office/drawing/2014/main" id="{D84C2E9E-0B5D-4B5F-9A1F-70EBDCE390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461" y="1197769"/>
            <a:ext cx="10987078" cy="4462463"/>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5915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7C69D-2C12-79A7-8D2D-E1C1EA8327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258CA-C19B-E23C-1C37-8E4089D22D52}"/>
              </a:ext>
            </a:extLst>
          </p:cNvPr>
          <p:cNvSpPr>
            <a:spLocks noGrp="1"/>
          </p:cNvSpPr>
          <p:nvPr>
            <p:ph type="title"/>
          </p:nvPr>
        </p:nvSpPr>
        <p:spPr>
          <a:xfrm>
            <a:off x="5297762" y="329184"/>
            <a:ext cx="6251110" cy="1783080"/>
          </a:xfrm>
        </p:spPr>
        <p:txBody>
          <a:bodyPr anchor="b">
            <a:normAutofit/>
          </a:bodyPr>
          <a:lstStyle/>
          <a:p>
            <a:r>
              <a:rPr lang="en-GB" sz="3800" b="1" i="0">
                <a:effectLst/>
                <a:latin typeface="Söhne"/>
              </a:rPr>
              <a:t>Understanding Artificial Intelligence</a:t>
            </a:r>
            <a:br>
              <a:rPr lang="en-GB" sz="3800" b="1" i="0">
                <a:effectLst/>
                <a:latin typeface="Söhne"/>
              </a:rPr>
            </a:br>
            <a:endParaRPr lang="en-GB" sz="3800"/>
          </a:p>
        </p:txBody>
      </p:sp>
      <p:sp>
        <p:nvSpPr>
          <p:cNvPr id="3" name="Content Placeholder 2">
            <a:extLst>
              <a:ext uri="{FF2B5EF4-FFF2-40B4-BE49-F238E27FC236}">
                <a16:creationId xmlns:a16="http://schemas.microsoft.com/office/drawing/2014/main" id="{67B57D08-CA75-AF2E-B3EB-6C0C95B344F6}"/>
              </a:ext>
            </a:extLst>
          </p:cNvPr>
          <p:cNvSpPr>
            <a:spLocks noGrp="1"/>
          </p:cNvSpPr>
          <p:nvPr>
            <p:ph idx="1"/>
          </p:nvPr>
        </p:nvSpPr>
        <p:spPr>
          <a:xfrm>
            <a:off x="5297762" y="2706624"/>
            <a:ext cx="6251110" cy="3483864"/>
          </a:xfrm>
        </p:spPr>
        <p:txBody>
          <a:bodyPr>
            <a:normAutofit/>
          </a:bodyPr>
          <a:lstStyle/>
          <a:p>
            <a:r>
              <a:rPr lang="en-GB" sz="2200" b="0" i="0" dirty="0">
                <a:effectLst/>
                <a:latin typeface="Söhne"/>
              </a:rPr>
              <a:t>Brief overview of AI, including machine learning (ML), deep learning, and neural networks</a:t>
            </a:r>
          </a:p>
          <a:p>
            <a:pPr>
              <a:buFont typeface="Arial" panose="020B0604020202020204" pitchFamily="34" charset="0"/>
              <a:buChar char="•"/>
            </a:pPr>
            <a:r>
              <a:rPr lang="en-GB" sz="2200" b="0" i="0" dirty="0">
                <a:effectLst/>
                <a:latin typeface="Söhne"/>
              </a:rPr>
              <a:t>Examples of AI applications (voice assistants, recommendation systems, autonomous vehicles)</a:t>
            </a:r>
          </a:p>
          <a:p>
            <a:pPr>
              <a:buFont typeface="Arial" panose="020B0604020202020204" pitchFamily="34" charset="0"/>
              <a:buChar char="•"/>
            </a:pPr>
            <a:r>
              <a:rPr lang="en-GB" sz="2200" b="0" i="0" dirty="0">
                <a:effectLst/>
                <a:latin typeface="Söhne"/>
              </a:rPr>
              <a:t>How AI processes data to learn and make predictions or decisions</a:t>
            </a:r>
          </a:p>
          <a:p>
            <a:endParaRPr lang="en-GB" sz="2200" dirty="0"/>
          </a:p>
        </p:txBody>
      </p:sp>
      <p:pic>
        <p:nvPicPr>
          <p:cNvPr id="5" name="Picture 4" descr="Abstract background of data">
            <a:extLst>
              <a:ext uri="{FF2B5EF4-FFF2-40B4-BE49-F238E27FC236}">
                <a16:creationId xmlns:a16="http://schemas.microsoft.com/office/drawing/2014/main" id="{3C125C5E-27C5-BEB7-0D99-A9347079790F}"/>
              </a:ext>
            </a:extLst>
          </p:cNvPr>
          <p:cNvPicPr>
            <a:picLocks noChangeAspect="1"/>
          </p:cNvPicPr>
          <p:nvPr/>
        </p:nvPicPr>
        <p:blipFill rotWithShape="1">
          <a:blip r:embed="rId2"/>
          <a:srcRect l="26691" r="35109"/>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Tree>
    <p:extLst>
      <p:ext uri="{BB962C8B-B14F-4D97-AF65-F5344CB8AC3E}">
        <p14:creationId xmlns:p14="http://schemas.microsoft.com/office/powerpoint/2010/main" val="10834506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98900" y="1675227"/>
            <a:ext cx="4394199" cy="4394199"/>
          </a:xfrm>
          <a:prstGeom prst="rect">
            <a:avLst/>
          </a:prstGeom>
        </p:spPr>
      </p:pic>
    </p:spTree>
    <p:extLst>
      <p:ext uri="{BB962C8B-B14F-4D97-AF65-F5344CB8AC3E}">
        <p14:creationId xmlns:p14="http://schemas.microsoft.com/office/powerpoint/2010/main" val="14152579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879DC-4971-8746-9B8E-30A014B28219}"/>
              </a:ext>
            </a:extLst>
          </p:cNvPr>
          <p:cNvSpPr>
            <a:spLocks noGrp="1"/>
          </p:cNvSpPr>
          <p:nvPr>
            <p:ph type="title"/>
          </p:nvPr>
        </p:nvSpPr>
        <p:spPr>
          <a:xfrm>
            <a:off x="838200" y="557188"/>
            <a:ext cx="10515600" cy="1133499"/>
          </a:xfrm>
        </p:spPr>
        <p:txBody>
          <a:bodyPr>
            <a:normAutofit/>
          </a:bodyPr>
          <a:lstStyle/>
          <a:p>
            <a:pPr algn="ctr"/>
            <a:r>
              <a:rPr lang="en-US" sz="5200"/>
              <a:t> </a:t>
            </a:r>
          </a:p>
        </p:txBody>
      </p:sp>
      <p:graphicFrame>
        <p:nvGraphicFramePr>
          <p:cNvPr id="8" name="Content Placeholder 2">
            <a:extLst>
              <a:ext uri="{FF2B5EF4-FFF2-40B4-BE49-F238E27FC236}">
                <a16:creationId xmlns:a16="http://schemas.microsoft.com/office/drawing/2014/main" id="{E881AF7D-1011-D6E9-FF48-47B76AE4B182}"/>
              </a:ext>
            </a:extLst>
          </p:cNvPr>
          <p:cNvGraphicFramePr>
            <a:graphicFrameLocks noGrp="1"/>
          </p:cNvGraphicFramePr>
          <p:nvPr>
            <p:ph idx="1"/>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4455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hart, bar chart&#10;&#10;Description automatically generated">
            <a:extLst>
              <a:ext uri="{FF2B5EF4-FFF2-40B4-BE49-F238E27FC236}">
                <a16:creationId xmlns:a16="http://schemas.microsoft.com/office/drawing/2014/main" id="{4B8AA52B-AD61-2320-8DFB-3D9D73970AB6}"/>
              </a:ext>
            </a:extLst>
          </p:cNvPr>
          <p:cNvPicPr>
            <a:picLocks noGrp="1" noChangeAspect="1"/>
          </p:cNvPicPr>
          <p:nvPr>
            <p:ph idx="1"/>
          </p:nvPr>
        </p:nvPicPr>
        <p:blipFill>
          <a:blip r:embed="rId2"/>
          <a:stretch>
            <a:fillRect/>
          </a:stretch>
        </p:blipFill>
        <p:spPr>
          <a:xfrm>
            <a:off x="3911268" y="643467"/>
            <a:ext cx="4369463" cy="5571066"/>
          </a:xfrm>
          <a:prstGeom prst="rect">
            <a:avLst/>
          </a:prstGeom>
        </p:spPr>
      </p:pic>
    </p:spTree>
    <p:extLst>
      <p:ext uri="{BB962C8B-B14F-4D97-AF65-F5344CB8AC3E}">
        <p14:creationId xmlns:p14="http://schemas.microsoft.com/office/powerpoint/2010/main" val="832713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780B1-1FB0-0D9E-B19F-67ACBBA037AE}"/>
              </a:ext>
            </a:extLst>
          </p:cNvPr>
          <p:cNvSpPr>
            <a:spLocks noGrp="1"/>
          </p:cNvSpPr>
          <p:nvPr>
            <p:ph type="title"/>
          </p:nvPr>
        </p:nvSpPr>
        <p:spPr/>
        <p:txBody>
          <a:bodyPr/>
          <a:lstStyle/>
          <a:p>
            <a:r>
              <a:rPr lang="en-GB" dirty="0"/>
              <a:t> </a:t>
            </a:r>
          </a:p>
        </p:txBody>
      </p:sp>
      <p:pic>
        <p:nvPicPr>
          <p:cNvPr id="5" name="Content Placeholder 4">
            <a:extLst>
              <a:ext uri="{FF2B5EF4-FFF2-40B4-BE49-F238E27FC236}">
                <a16:creationId xmlns:a16="http://schemas.microsoft.com/office/drawing/2014/main" id="{99DE1B24-8829-BDB1-EA99-C1A4902443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p:blipFill>
        <p:spPr>
          <a:xfrm>
            <a:off x="767443" y="669471"/>
            <a:ext cx="10678886" cy="5205867"/>
          </a:xfrm>
        </p:spPr>
      </p:pic>
    </p:spTree>
    <p:extLst>
      <p:ext uri="{BB962C8B-B14F-4D97-AF65-F5344CB8AC3E}">
        <p14:creationId xmlns:p14="http://schemas.microsoft.com/office/powerpoint/2010/main" val="28158671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654B4-84D8-89E2-D444-251FB4668C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840D39-D8B9-BE63-6FF7-5C368E889D53}"/>
              </a:ext>
            </a:extLst>
          </p:cNvPr>
          <p:cNvSpPr>
            <a:spLocks noGrp="1"/>
          </p:cNvSpPr>
          <p:nvPr>
            <p:ph type="title"/>
          </p:nvPr>
        </p:nvSpPr>
        <p:spPr>
          <a:xfrm>
            <a:off x="5078186" y="537210"/>
            <a:ext cx="5896044" cy="1308214"/>
          </a:xfrm>
        </p:spPr>
        <p:txBody>
          <a:bodyPr anchor="b">
            <a:normAutofit/>
          </a:bodyPr>
          <a:lstStyle/>
          <a:p>
            <a:r>
              <a:rPr lang="en-GB" sz="5600" b="1" i="0" dirty="0">
                <a:effectLst/>
                <a:latin typeface="Söhne"/>
              </a:rPr>
              <a:t>Definition of AI</a:t>
            </a:r>
            <a:r>
              <a:rPr lang="en-GB" sz="5600" b="0" i="0" dirty="0">
                <a:effectLst/>
                <a:latin typeface="Söhne"/>
              </a:rPr>
              <a:t>:</a:t>
            </a:r>
            <a:endParaRPr lang="en-GB" sz="5600" dirty="0"/>
          </a:p>
        </p:txBody>
      </p:sp>
      <p:sp>
        <p:nvSpPr>
          <p:cNvPr id="3" name="Content Placeholder 2">
            <a:extLst>
              <a:ext uri="{FF2B5EF4-FFF2-40B4-BE49-F238E27FC236}">
                <a16:creationId xmlns:a16="http://schemas.microsoft.com/office/drawing/2014/main" id="{81F4C3E1-0C74-5CD0-F2CA-13EF76C6556D}"/>
              </a:ext>
            </a:extLst>
          </p:cNvPr>
          <p:cNvSpPr>
            <a:spLocks noGrp="1"/>
          </p:cNvSpPr>
          <p:nvPr>
            <p:ph idx="1"/>
          </p:nvPr>
        </p:nvSpPr>
        <p:spPr>
          <a:xfrm>
            <a:off x="4392386" y="1698171"/>
            <a:ext cx="6923314" cy="4692558"/>
          </a:xfrm>
        </p:spPr>
        <p:txBody>
          <a:bodyPr anchor="t">
            <a:normAutofit/>
          </a:bodyPr>
          <a:lstStyle/>
          <a:p>
            <a:pPr>
              <a:buFont typeface="Arial" panose="020B0604020202020204" pitchFamily="34" charset="0"/>
              <a:buChar char="•"/>
            </a:pPr>
            <a:r>
              <a:rPr lang="en-GB" sz="1600" b="0" i="0" dirty="0">
                <a:solidFill>
                  <a:schemeClr val="tx1">
                    <a:alpha val="80000"/>
                  </a:schemeClr>
                </a:solidFill>
                <a:effectLst/>
                <a:latin typeface="Söhne"/>
              </a:rPr>
              <a:t>Artificial Intelligence (AI) refers to the simulation of human intelligence in machines that are programmed to think like humans and mimic their actions.</a:t>
            </a:r>
          </a:p>
          <a:p>
            <a:pPr>
              <a:buFont typeface="Arial" panose="020B0604020202020204" pitchFamily="34" charset="0"/>
              <a:buChar char="•"/>
            </a:pPr>
            <a:r>
              <a:rPr lang="en-GB" sz="1600" b="1" i="0" dirty="0">
                <a:solidFill>
                  <a:schemeClr val="tx1">
                    <a:alpha val="80000"/>
                  </a:schemeClr>
                </a:solidFill>
                <a:effectLst/>
                <a:latin typeface="Söhne"/>
              </a:rPr>
              <a:t>Types of AI</a:t>
            </a:r>
            <a:r>
              <a:rPr lang="en-GB" sz="1600" b="0" i="0" dirty="0">
                <a:solidFill>
                  <a:schemeClr val="tx1">
                    <a:alpha val="80000"/>
                  </a:schemeClr>
                </a:solidFill>
                <a:effectLst/>
                <a:latin typeface="Söhne"/>
              </a:rPr>
              <a:t>:</a:t>
            </a:r>
          </a:p>
          <a:p>
            <a:pPr marL="742950" lvl="1" indent="-285750">
              <a:buFont typeface="Arial" panose="020B0604020202020204" pitchFamily="34" charset="0"/>
              <a:buChar char="•"/>
            </a:pPr>
            <a:r>
              <a:rPr lang="en-GB" sz="1600" b="1" i="0" dirty="0">
                <a:solidFill>
                  <a:schemeClr val="tx1">
                    <a:alpha val="80000"/>
                  </a:schemeClr>
                </a:solidFill>
                <a:effectLst/>
                <a:latin typeface="Söhne"/>
              </a:rPr>
              <a:t>Narrow AI</a:t>
            </a:r>
            <a:r>
              <a:rPr lang="en-GB" sz="1600" b="0" i="0" dirty="0">
                <a:solidFill>
                  <a:schemeClr val="tx1">
                    <a:alpha val="80000"/>
                  </a:schemeClr>
                </a:solidFill>
                <a:effectLst/>
                <a:latin typeface="Söhne"/>
              </a:rPr>
              <a:t>: Also known as Weak AI, this type of AI is designed to perform a narrow task (e.g., facial recognition, internet searches, driving a car).</a:t>
            </a:r>
          </a:p>
          <a:p>
            <a:pPr marL="742950" lvl="1" indent="-285750">
              <a:buFont typeface="Arial" panose="020B0604020202020204" pitchFamily="34" charset="0"/>
              <a:buChar char="•"/>
            </a:pPr>
            <a:r>
              <a:rPr lang="en-GB" sz="1600" b="1" i="0" dirty="0">
                <a:solidFill>
                  <a:schemeClr val="tx1">
                    <a:alpha val="80000"/>
                  </a:schemeClr>
                </a:solidFill>
                <a:effectLst/>
                <a:latin typeface="Söhne"/>
              </a:rPr>
              <a:t>General AI</a:t>
            </a:r>
            <a:r>
              <a:rPr lang="en-GB" sz="1600" b="0" i="0" dirty="0">
                <a:solidFill>
                  <a:schemeClr val="tx1">
                    <a:alpha val="80000"/>
                  </a:schemeClr>
                </a:solidFill>
                <a:effectLst/>
                <a:latin typeface="Söhne"/>
              </a:rPr>
              <a:t>: Also known as Strong AI, this type of AI would have a general understanding comparable to human intelligence, allowing it to perform any intellectual task.</a:t>
            </a:r>
          </a:p>
          <a:p>
            <a:pPr>
              <a:buFont typeface="Arial" panose="020B0604020202020204" pitchFamily="34" charset="0"/>
              <a:buChar char="•"/>
            </a:pPr>
            <a:r>
              <a:rPr lang="en-GB" sz="1600" b="1" i="0" dirty="0">
                <a:solidFill>
                  <a:schemeClr val="tx1">
                    <a:alpha val="80000"/>
                  </a:schemeClr>
                </a:solidFill>
                <a:effectLst/>
                <a:latin typeface="Söhne"/>
              </a:rPr>
              <a:t>Machine Learning</a:t>
            </a:r>
            <a:r>
              <a:rPr lang="en-GB" sz="1600" b="0" i="0" dirty="0">
                <a:solidFill>
                  <a:schemeClr val="tx1">
                    <a:alpha val="80000"/>
                  </a:schemeClr>
                </a:solidFill>
                <a:effectLst/>
                <a:latin typeface="Söhne"/>
              </a:rPr>
              <a:t>: A subset of AI that includes algorithms that parse data, learn from it, and then apply what they've learned to make informed decisions.</a:t>
            </a:r>
          </a:p>
          <a:p>
            <a:pPr>
              <a:buFont typeface="Arial" panose="020B0604020202020204" pitchFamily="34" charset="0"/>
              <a:buChar char="•"/>
            </a:pPr>
            <a:r>
              <a:rPr lang="en-GB" sz="1600" b="1" i="0" dirty="0">
                <a:solidFill>
                  <a:schemeClr val="tx1">
                    <a:alpha val="80000"/>
                  </a:schemeClr>
                </a:solidFill>
                <a:effectLst/>
                <a:latin typeface="Söhne"/>
              </a:rPr>
              <a:t>Deep Learning</a:t>
            </a:r>
            <a:r>
              <a:rPr lang="en-GB" sz="1600" b="0" i="0" dirty="0">
                <a:solidFill>
                  <a:schemeClr val="tx1">
                    <a:alpha val="80000"/>
                  </a:schemeClr>
                </a:solidFill>
                <a:effectLst/>
                <a:latin typeface="Söhne"/>
              </a:rPr>
              <a:t>: A subset of Machine Learning that uses neural networks with many layers (deep neural networks) to analyse large volumes of data, often for image and speech recognition.</a:t>
            </a:r>
          </a:p>
          <a:p>
            <a:endParaRPr lang="en-GB" sz="1000" dirty="0">
              <a:solidFill>
                <a:schemeClr val="tx1">
                  <a:alpha val="80000"/>
                </a:schemeClr>
              </a:solidFill>
            </a:endParaRPr>
          </a:p>
        </p:txBody>
      </p:sp>
      <p:pic>
        <p:nvPicPr>
          <p:cNvPr id="7" name="Graphic 6" descr="Robot">
            <a:extLst>
              <a:ext uri="{FF2B5EF4-FFF2-40B4-BE49-F238E27FC236}">
                <a16:creationId xmlns:a16="http://schemas.microsoft.com/office/drawing/2014/main" id="{90F6E57B-49FE-9178-4D4A-C473DCE622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7771" y="1448957"/>
            <a:ext cx="3288915" cy="3952579"/>
          </a:xfrm>
          <a:prstGeom prst="rect">
            <a:avLst/>
          </a:prstGeom>
        </p:spPr>
      </p:pic>
    </p:spTree>
    <p:extLst>
      <p:ext uri="{BB962C8B-B14F-4D97-AF65-F5344CB8AC3E}">
        <p14:creationId xmlns:p14="http://schemas.microsoft.com/office/powerpoint/2010/main" val="1252239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3CE55-3FC8-E5AF-A370-E137DA169C99}"/>
              </a:ext>
            </a:extLst>
          </p:cNvPr>
          <p:cNvSpPr>
            <a:spLocks noGrp="1"/>
          </p:cNvSpPr>
          <p:nvPr>
            <p:ph type="title"/>
          </p:nvPr>
        </p:nvSpPr>
        <p:spPr>
          <a:xfrm>
            <a:off x="4572001" y="601744"/>
            <a:ext cx="6781800" cy="1338696"/>
          </a:xfrm>
        </p:spPr>
        <p:txBody>
          <a:bodyPr>
            <a:normAutofit/>
          </a:bodyPr>
          <a:lstStyle/>
          <a:p>
            <a:r>
              <a:rPr lang="en-GB" dirty="0"/>
              <a:t> </a:t>
            </a:r>
          </a:p>
        </p:txBody>
      </p:sp>
      <p:sp>
        <p:nvSpPr>
          <p:cNvPr id="3" name="Content Placeholder 2">
            <a:extLst>
              <a:ext uri="{FF2B5EF4-FFF2-40B4-BE49-F238E27FC236}">
                <a16:creationId xmlns:a16="http://schemas.microsoft.com/office/drawing/2014/main" id="{F02E0BB3-3DF9-B727-25F2-D781EC2F9D50}"/>
              </a:ext>
            </a:extLst>
          </p:cNvPr>
          <p:cNvSpPr>
            <a:spLocks noGrp="1"/>
          </p:cNvSpPr>
          <p:nvPr>
            <p:ph idx="1"/>
          </p:nvPr>
        </p:nvSpPr>
        <p:spPr>
          <a:xfrm>
            <a:off x="4572001" y="881743"/>
            <a:ext cx="6781800" cy="5220945"/>
          </a:xfrm>
        </p:spPr>
        <p:txBody>
          <a:bodyPr anchor="t">
            <a:normAutofit/>
          </a:bodyPr>
          <a:lstStyle/>
          <a:p>
            <a:pPr>
              <a:buFont typeface="Arial" panose="020B0604020202020204" pitchFamily="34" charset="0"/>
              <a:buChar char="•"/>
            </a:pPr>
            <a:r>
              <a:rPr lang="en-GB" sz="1700" b="1" i="0" dirty="0">
                <a:effectLst/>
                <a:latin typeface="Söhne"/>
              </a:rPr>
              <a:t>Applications of AI</a:t>
            </a:r>
            <a:r>
              <a:rPr lang="en-GB" sz="1700" b="0" i="0" dirty="0">
                <a:effectLst/>
                <a:latin typeface="Söhne"/>
              </a:rPr>
              <a:t>:</a:t>
            </a:r>
          </a:p>
          <a:p>
            <a:pPr marL="742950" lvl="1" indent="-285750">
              <a:buFont typeface="Arial" panose="020B0604020202020204" pitchFamily="34" charset="0"/>
              <a:buChar char="•"/>
            </a:pPr>
            <a:r>
              <a:rPr lang="en-GB" sz="1700" b="0" i="0" dirty="0">
                <a:effectLst/>
                <a:latin typeface="Söhne"/>
              </a:rPr>
              <a:t>Personal assistants like Siri and Alexa</a:t>
            </a:r>
          </a:p>
          <a:p>
            <a:pPr marL="742950" lvl="1" indent="-285750">
              <a:buFont typeface="Arial" panose="020B0604020202020204" pitchFamily="34" charset="0"/>
              <a:buChar char="•"/>
            </a:pPr>
            <a:r>
              <a:rPr lang="en-GB" sz="1700" b="0" i="0" dirty="0">
                <a:effectLst/>
                <a:latin typeface="Söhne"/>
              </a:rPr>
              <a:t>Recommendation systems like those on Netflix and Amazon</a:t>
            </a:r>
          </a:p>
          <a:p>
            <a:pPr marL="742950" lvl="1" indent="-285750">
              <a:buFont typeface="Arial" panose="020B0604020202020204" pitchFamily="34" charset="0"/>
              <a:buChar char="•"/>
            </a:pPr>
            <a:r>
              <a:rPr lang="en-GB" sz="1700" b="0" i="0" dirty="0">
                <a:effectLst/>
                <a:latin typeface="Söhne"/>
              </a:rPr>
              <a:t>Autonomous vehicles such as drones and self-driving cars</a:t>
            </a:r>
          </a:p>
          <a:p>
            <a:pPr>
              <a:buFont typeface="Arial" panose="020B0604020202020204" pitchFamily="34" charset="0"/>
              <a:buChar char="•"/>
            </a:pPr>
            <a:r>
              <a:rPr lang="en-GB" sz="1700" b="1" i="0" dirty="0">
                <a:effectLst/>
                <a:latin typeface="Söhne"/>
              </a:rPr>
              <a:t>Benefits of AI</a:t>
            </a:r>
            <a:r>
              <a:rPr lang="en-GB" sz="1700" b="0" i="0" dirty="0">
                <a:effectLst/>
                <a:latin typeface="Söhne"/>
              </a:rPr>
              <a:t>:</a:t>
            </a:r>
          </a:p>
          <a:p>
            <a:pPr marL="742950" lvl="1" indent="-285750">
              <a:buFont typeface="Arial" panose="020B0604020202020204" pitchFamily="34" charset="0"/>
              <a:buChar char="•"/>
            </a:pPr>
            <a:r>
              <a:rPr lang="en-GB" sz="1700" b="0" i="0" dirty="0">
                <a:effectLst/>
                <a:latin typeface="Söhne"/>
              </a:rPr>
              <a:t>Increases efficiency by automating routine tasks</a:t>
            </a:r>
          </a:p>
          <a:p>
            <a:pPr marL="742950" lvl="1" indent="-285750">
              <a:buFont typeface="Arial" panose="020B0604020202020204" pitchFamily="34" charset="0"/>
              <a:buChar char="•"/>
            </a:pPr>
            <a:r>
              <a:rPr lang="en-GB" sz="1700" b="0" i="0" dirty="0">
                <a:effectLst/>
                <a:latin typeface="Söhne"/>
              </a:rPr>
              <a:t>Enhances decision-making by providing in-depth data analysis</a:t>
            </a:r>
          </a:p>
          <a:p>
            <a:pPr marL="742950" lvl="1" indent="-285750">
              <a:buFont typeface="Arial" panose="020B0604020202020204" pitchFamily="34" charset="0"/>
              <a:buChar char="•"/>
            </a:pPr>
            <a:r>
              <a:rPr lang="en-GB" sz="1700" b="0" i="0" dirty="0">
                <a:effectLst/>
                <a:latin typeface="Söhne"/>
              </a:rPr>
              <a:t>Improves outcomes in sectors like finance, farming, and more</a:t>
            </a:r>
          </a:p>
          <a:p>
            <a:pPr>
              <a:buFont typeface="Arial" panose="020B0604020202020204" pitchFamily="34" charset="0"/>
              <a:buChar char="•"/>
            </a:pPr>
            <a:r>
              <a:rPr lang="en-GB" sz="1700" b="1" i="0" dirty="0">
                <a:effectLst/>
                <a:latin typeface="Söhne"/>
              </a:rPr>
              <a:t>Challenges and Ethical Considerations</a:t>
            </a:r>
            <a:r>
              <a:rPr lang="en-GB" sz="1700" b="0" i="0" dirty="0">
                <a:effectLst/>
                <a:latin typeface="Söhne"/>
              </a:rPr>
              <a:t>:</a:t>
            </a:r>
          </a:p>
          <a:p>
            <a:pPr marL="742950" lvl="1" indent="-285750">
              <a:buFont typeface="Arial" panose="020B0604020202020204" pitchFamily="34" charset="0"/>
              <a:buChar char="•"/>
            </a:pPr>
            <a:r>
              <a:rPr lang="en-GB" sz="1700" b="0" i="0" dirty="0">
                <a:effectLst/>
                <a:latin typeface="Söhne"/>
              </a:rPr>
              <a:t>Potential job displacement due to automation</a:t>
            </a:r>
          </a:p>
          <a:p>
            <a:pPr marL="742950" lvl="1" indent="-285750">
              <a:buFont typeface="Arial" panose="020B0604020202020204" pitchFamily="34" charset="0"/>
              <a:buChar char="•"/>
            </a:pPr>
            <a:r>
              <a:rPr lang="en-GB" sz="1700" b="0" i="0" dirty="0">
                <a:effectLst/>
                <a:latin typeface="Söhne"/>
              </a:rPr>
              <a:t>Ethical concerns around privacy and surveillance</a:t>
            </a:r>
          </a:p>
          <a:p>
            <a:pPr marL="742950" lvl="1" indent="-285750">
              <a:buFont typeface="Arial" panose="020B0604020202020204" pitchFamily="34" charset="0"/>
              <a:buChar char="•"/>
            </a:pPr>
            <a:r>
              <a:rPr lang="en-GB" sz="1700" b="0" i="0" dirty="0">
                <a:effectLst/>
                <a:latin typeface="Söhne"/>
              </a:rPr>
              <a:t>Bias and fairness in AI decision-making</a:t>
            </a:r>
          </a:p>
          <a:p>
            <a:endParaRPr lang="en-GB" sz="1700" dirty="0"/>
          </a:p>
        </p:txBody>
      </p:sp>
      <p:pic>
        <p:nvPicPr>
          <p:cNvPr id="5" name="Picture 4" descr="A 3D pattern of ring shapes connected by lines">
            <a:extLst>
              <a:ext uri="{FF2B5EF4-FFF2-40B4-BE49-F238E27FC236}">
                <a16:creationId xmlns:a16="http://schemas.microsoft.com/office/drawing/2014/main" id="{BEC0FC40-9694-A96F-27AA-63D908A0CE7F}"/>
              </a:ext>
            </a:extLst>
          </p:cNvPr>
          <p:cNvPicPr>
            <a:picLocks noChangeAspect="1"/>
          </p:cNvPicPr>
          <p:nvPr/>
        </p:nvPicPr>
        <p:blipFill rotWithShape="1">
          <a:blip r:embed="rId2"/>
          <a:srcRect l="18240" r="50963"/>
          <a:stretch/>
        </p:blipFill>
        <p:spPr>
          <a:xfrm>
            <a:off x="20" y="10"/>
            <a:ext cx="3754739" cy="6857990"/>
          </a:xfrm>
          <a:custGeom>
            <a:avLst/>
            <a:gdLst/>
            <a:ahLst/>
            <a:cxnLst/>
            <a:rect l="l" t="t" r="r" b="b"/>
            <a:pathLst>
              <a:path w="3754759" h="6858000">
                <a:moveTo>
                  <a:pt x="0" y="0"/>
                </a:moveTo>
                <a:lnTo>
                  <a:pt x="3405358" y="0"/>
                </a:lnTo>
                <a:lnTo>
                  <a:pt x="3406298" y="5103"/>
                </a:lnTo>
                <a:cubicBezTo>
                  <a:pt x="3408705" y="9272"/>
                  <a:pt x="3410993" y="13534"/>
                  <a:pt x="3408744" y="22806"/>
                </a:cubicBezTo>
                <a:cubicBezTo>
                  <a:pt x="3398212" y="18869"/>
                  <a:pt x="3412504" y="58782"/>
                  <a:pt x="3403554" y="60481"/>
                </a:cubicBezTo>
                <a:cubicBezTo>
                  <a:pt x="3417198" y="75379"/>
                  <a:pt x="3401704" y="83956"/>
                  <a:pt x="3406685" y="104437"/>
                </a:cubicBezTo>
                <a:cubicBezTo>
                  <a:pt x="3412035" y="113935"/>
                  <a:pt x="3413215" y="120918"/>
                  <a:pt x="3408439" y="130745"/>
                </a:cubicBezTo>
                <a:cubicBezTo>
                  <a:pt x="3434362" y="174436"/>
                  <a:pt x="3410826" y="157826"/>
                  <a:pt x="3422002" y="199353"/>
                </a:cubicBezTo>
                <a:cubicBezTo>
                  <a:pt x="3433366" y="235046"/>
                  <a:pt x="3441595" y="275734"/>
                  <a:pt x="3466217" y="309590"/>
                </a:cubicBezTo>
                <a:cubicBezTo>
                  <a:pt x="3473022" y="315692"/>
                  <a:pt x="3476249" y="331335"/>
                  <a:pt x="3473425" y="344525"/>
                </a:cubicBezTo>
                <a:cubicBezTo>
                  <a:pt x="3472938" y="346792"/>
                  <a:pt x="3472286" y="348904"/>
                  <a:pt x="3471491" y="350788"/>
                </a:cubicBezTo>
                <a:cubicBezTo>
                  <a:pt x="3476473" y="380853"/>
                  <a:pt x="3497528" y="490678"/>
                  <a:pt x="3503314" y="524915"/>
                </a:cubicBezTo>
                <a:cubicBezTo>
                  <a:pt x="3495110" y="528110"/>
                  <a:pt x="3511009" y="544789"/>
                  <a:pt x="3506208" y="556205"/>
                </a:cubicBezTo>
                <a:cubicBezTo>
                  <a:pt x="3501906" y="564424"/>
                  <a:pt x="3505727" y="571402"/>
                  <a:pt x="3506503" y="579730"/>
                </a:cubicBezTo>
                <a:cubicBezTo>
                  <a:pt x="3503352" y="590904"/>
                  <a:pt x="3511763" y="626437"/>
                  <a:pt x="3516997" y="635552"/>
                </a:cubicBezTo>
                <a:cubicBezTo>
                  <a:pt x="3534688" y="657082"/>
                  <a:pt x="3524838" y="708447"/>
                  <a:pt x="3538464" y="726388"/>
                </a:cubicBezTo>
                <a:cubicBezTo>
                  <a:pt x="3540659" y="733032"/>
                  <a:pt x="3541735" y="739585"/>
                  <a:pt x="3542115" y="746049"/>
                </a:cubicBezTo>
                <a:lnTo>
                  <a:pt x="3541598" y="764218"/>
                </a:lnTo>
                <a:lnTo>
                  <a:pt x="3538294" y="769538"/>
                </a:lnTo>
                <a:lnTo>
                  <a:pt x="3539714" y="780556"/>
                </a:lnTo>
                <a:lnTo>
                  <a:pt x="3539328" y="783752"/>
                </a:lnTo>
                <a:cubicBezTo>
                  <a:pt x="3538575" y="789859"/>
                  <a:pt x="3537953" y="795880"/>
                  <a:pt x="3537882" y="801812"/>
                </a:cubicBezTo>
                <a:cubicBezTo>
                  <a:pt x="3555332" y="793164"/>
                  <a:pt x="3540143" y="850853"/>
                  <a:pt x="3553763" y="833773"/>
                </a:cubicBezTo>
                <a:cubicBezTo>
                  <a:pt x="3556400" y="864868"/>
                  <a:pt x="3568671" y="840452"/>
                  <a:pt x="3557696" y="878520"/>
                </a:cubicBezTo>
                <a:cubicBezTo>
                  <a:pt x="3574636" y="926170"/>
                  <a:pt x="3572932" y="1002669"/>
                  <a:pt x="3596902" y="1039468"/>
                </a:cubicBezTo>
                <a:cubicBezTo>
                  <a:pt x="3588227" y="1035176"/>
                  <a:pt x="3582669" y="1055878"/>
                  <a:pt x="3587550" y="1069793"/>
                </a:cubicBezTo>
                <a:cubicBezTo>
                  <a:pt x="3553603" y="1054905"/>
                  <a:pt x="3620138" y="1124159"/>
                  <a:pt x="3598129" y="1137690"/>
                </a:cubicBezTo>
                <a:cubicBezTo>
                  <a:pt x="3619154" y="1137277"/>
                  <a:pt x="3657845" y="1198819"/>
                  <a:pt x="3642072" y="1229443"/>
                </a:cubicBezTo>
                <a:cubicBezTo>
                  <a:pt x="3648492" y="1274612"/>
                  <a:pt x="3667414" y="1305895"/>
                  <a:pt x="3662799" y="1353804"/>
                </a:cubicBezTo>
                <a:cubicBezTo>
                  <a:pt x="3665680" y="1355144"/>
                  <a:pt x="3668149" y="1357448"/>
                  <a:pt x="3670319" y="1360420"/>
                </a:cubicBezTo>
                <a:lnTo>
                  <a:pt x="3675717" y="1370453"/>
                </a:lnTo>
                <a:lnTo>
                  <a:pt x="3675458" y="1372456"/>
                </a:lnTo>
                <a:cubicBezTo>
                  <a:pt x="3675775" y="1380261"/>
                  <a:pt x="3677154" y="1384198"/>
                  <a:pt x="3678998" y="1386422"/>
                </a:cubicBezTo>
                <a:lnTo>
                  <a:pt x="3681613" y="1387932"/>
                </a:lnTo>
                <a:lnTo>
                  <a:pt x="3684619" y="1397028"/>
                </a:lnTo>
                <a:lnTo>
                  <a:pt x="3692094" y="1413643"/>
                </a:lnTo>
                <a:lnTo>
                  <a:pt x="3692036" y="1417975"/>
                </a:lnTo>
                <a:lnTo>
                  <a:pt x="3701043" y="1444940"/>
                </a:lnTo>
                <a:lnTo>
                  <a:pt x="3700474" y="1445893"/>
                </a:lnTo>
                <a:cubicBezTo>
                  <a:pt x="3699407" y="1448641"/>
                  <a:pt x="3699006" y="1451835"/>
                  <a:pt x="3699990" y="1456030"/>
                </a:cubicBezTo>
                <a:cubicBezTo>
                  <a:pt x="3688343" y="1458099"/>
                  <a:pt x="3696713" y="1461887"/>
                  <a:pt x="3700642" y="1474079"/>
                </a:cubicBezTo>
                <a:cubicBezTo>
                  <a:pt x="3683431" y="1480016"/>
                  <a:pt x="3700716" y="1509516"/>
                  <a:pt x="3693587" y="1522890"/>
                </a:cubicBezTo>
                <a:cubicBezTo>
                  <a:pt x="3696861" y="1531716"/>
                  <a:pt x="3700010" y="1541157"/>
                  <a:pt x="3702900" y="1551068"/>
                </a:cubicBezTo>
                <a:lnTo>
                  <a:pt x="3708038" y="1631578"/>
                </a:lnTo>
                <a:lnTo>
                  <a:pt x="3698097" y="1716642"/>
                </a:lnTo>
                <a:cubicBezTo>
                  <a:pt x="3699314" y="1747867"/>
                  <a:pt x="3695412" y="1775147"/>
                  <a:pt x="3700384" y="1801382"/>
                </a:cubicBezTo>
                <a:cubicBezTo>
                  <a:pt x="3696845" y="1812311"/>
                  <a:pt x="3695699" y="1822504"/>
                  <a:pt x="3702257" y="1832013"/>
                </a:cubicBezTo>
                <a:cubicBezTo>
                  <a:pt x="3701651" y="1861238"/>
                  <a:pt x="3693313" y="1868713"/>
                  <a:pt x="3700986" y="1886838"/>
                </a:cubicBezTo>
                <a:cubicBezTo>
                  <a:pt x="3687741" y="1903887"/>
                  <a:pt x="3693148" y="1904594"/>
                  <a:pt x="3697545" y="1912087"/>
                </a:cubicBezTo>
                <a:lnTo>
                  <a:pt x="3697885" y="1913171"/>
                </a:lnTo>
                <a:lnTo>
                  <a:pt x="3695987" y="1915505"/>
                </a:lnTo>
                <a:lnTo>
                  <a:pt x="3695284" y="1920179"/>
                </a:lnTo>
                <a:lnTo>
                  <a:pt x="3696499" y="1932787"/>
                </a:lnTo>
                <a:lnTo>
                  <a:pt x="3697473" y="1937503"/>
                </a:lnTo>
                <a:cubicBezTo>
                  <a:pt x="3697953" y="1940760"/>
                  <a:pt x="3698023" y="1942937"/>
                  <a:pt x="3697799" y="1944457"/>
                </a:cubicBezTo>
                <a:lnTo>
                  <a:pt x="3697642" y="1944638"/>
                </a:lnTo>
                <a:lnTo>
                  <a:pt x="3698268" y="1951136"/>
                </a:lnTo>
                <a:cubicBezTo>
                  <a:pt x="3699704" y="1962083"/>
                  <a:pt x="3701457" y="1972719"/>
                  <a:pt x="3703418" y="1982828"/>
                </a:cubicBezTo>
                <a:cubicBezTo>
                  <a:pt x="3694620" y="1991887"/>
                  <a:pt x="3707345" y="2028973"/>
                  <a:pt x="3689767" y="2025705"/>
                </a:cubicBezTo>
                <a:cubicBezTo>
                  <a:pt x="3691896" y="2039367"/>
                  <a:pt x="3699517" y="2047321"/>
                  <a:pt x="3687894" y="2043252"/>
                </a:cubicBezTo>
                <a:cubicBezTo>
                  <a:pt x="3688268" y="2047766"/>
                  <a:pt x="3687435" y="2050599"/>
                  <a:pt x="3686015" y="2052668"/>
                </a:cubicBezTo>
                <a:lnTo>
                  <a:pt x="3685329" y="2053280"/>
                </a:lnTo>
                <a:lnTo>
                  <a:pt x="3690348" y="2083660"/>
                </a:lnTo>
                <a:lnTo>
                  <a:pt x="3689688" y="2087758"/>
                </a:lnTo>
                <a:lnTo>
                  <a:pt x="3694656" y="2107476"/>
                </a:lnTo>
                <a:lnTo>
                  <a:pt x="3696317" y="2117709"/>
                </a:lnTo>
                <a:lnTo>
                  <a:pt x="3698652" y="2120508"/>
                </a:lnTo>
                <a:cubicBezTo>
                  <a:pt x="3700138" y="2123582"/>
                  <a:pt x="3700933" y="2128051"/>
                  <a:pt x="3700157" y="2135655"/>
                </a:cubicBezTo>
                <a:lnTo>
                  <a:pt x="3699626" y="2137431"/>
                </a:lnTo>
                <a:lnTo>
                  <a:pt x="3703486" y="2149795"/>
                </a:lnTo>
                <a:cubicBezTo>
                  <a:pt x="3705184" y="2153754"/>
                  <a:pt x="3707268" y="2157232"/>
                  <a:pt x="3709885" y="2160002"/>
                </a:cubicBezTo>
                <a:cubicBezTo>
                  <a:pt x="3698737" y="2203287"/>
                  <a:pt x="3712805" y="2242927"/>
                  <a:pt x="3712777" y="2289319"/>
                </a:cubicBezTo>
                <a:cubicBezTo>
                  <a:pt x="3693169" y="2310331"/>
                  <a:pt x="3722276" y="2389074"/>
                  <a:pt x="3742794" y="2399589"/>
                </a:cubicBezTo>
                <a:cubicBezTo>
                  <a:pt x="3725319" y="2400703"/>
                  <a:pt x="3751962" y="2457534"/>
                  <a:pt x="3753311" y="2472464"/>
                </a:cubicBezTo>
                <a:cubicBezTo>
                  <a:pt x="3753760" y="2477441"/>
                  <a:pt x="3751399" y="2477762"/>
                  <a:pt x="3743656" y="2469811"/>
                </a:cubicBezTo>
                <a:cubicBezTo>
                  <a:pt x="3746474" y="2485608"/>
                  <a:pt x="3738186" y="2502460"/>
                  <a:pt x="3730339" y="2493869"/>
                </a:cubicBezTo>
                <a:cubicBezTo>
                  <a:pt x="3748556" y="2541387"/>
                  <a:pt x="3736267" y="2613433"/>
                  <a:pt x="3746134" y="2667651"/>
                </a:cubicBezTo>
                <a:cubicBezTo>
                  <a:pt x="3730160" y="2698252"/>
                  <a:pt x="3745496" y="2681337"/>
                  <a:pt x="3743743" y="2712354"/>
                </a:cubicBezTo>
                <a:cubicBezTo>
                  <a:pt x="3759373" y="2703131"/>
                  <a:pt x="3736572" y="2750256"/>
                  <a:pt x="3754759" y="2751060"/>
                </a:cubicBezTo>
                <a:cubicBezTo>
                  <a:pt x="3753864" y="2756679"/>
                  <a:pt x="3752424" y="2762098"/>
                  <a:pt x="3750841" y="2767527"/>
                </a:cubicBezTo>
                <a:lnTo>
                  <a:pt x="3750021" y="2770377"/>
                </a:lnTo>
                <a:lnTo>
                  <a:pt x="3749874" y="2781617"/>
                </a:lnTo>
                <a:lnTo>
                  <a:pt x="3745916" y="2784975"/>
                </a:lnTo>
                <a:lnTo>
                  <a:pt x="3742888" y="2802030"/>
                </a:lnTo>
                <a:cubicBezTo>
                  <a:pt x="3742360" y="2808388"/>
                  <a:pt x="3742498" y="2815196"/>
                  <a:pt x="3743710" y="2822667"/>
                </a:cubicBezTo>
                <a:cubicBezTo>
                  <a:pt x="3751787" y="2840797"/>
                  <a:pt x="3744398" y="2870002"/>
                  <a:pt x="3746201" y="2896003"/>
                </a:cubicBezTo>
                <a:lnTo>
                  <a:pt x="3749006" y="2907846"/>
                </a:lnTo>
                <a:lnTo>
                  <a:pt x="3747206" y="2947037"/>
                </a:lnTo>
                <a:cubicBezTo>
                  <a:pt x="3747030" y="2958176"/>
                  <a:pt x="3747214" y="2969719"/>
                  <a:pt x="3748070" y="2981841"/>
                </a:cubicBezTo>
                <a:lnTo>
                  <a:pt x="3750937" y="3004278"/>
                </a:lnTo>
                <a:lnTo>
                  <a:pt x="3749761" y="3010254"/>
                </a:lnTo>
                <a:cubicBezTo>
                  <a:pt x="3750425" y="3020530"/>
                  <a:pt x="3756245" y="3033889"/>
                  <a:pt x="3749923" y="3032983"/>
                </a:cubicBezTo>
                <a:lnTo>
                  <a:pt x="3752658" y="3044429"/>
                </a:lnTo>
                <a:lnTo>
                  <a:pt x="3748217" y="3056076"/>
                </a:lnTo>
                <a:cubicBezTo>
                  <a:pt x="3747117" y="3057381"/>
                  <a:pt x="3745928" y="3058381"/>
                  <a:pt x="3744691" y="3059042"/>
                </a:cubicBezTo>
                <a:lnTo>
                  <a:pt x="3747123" y="3075102"/>
                </a:lnTo>
                <a:lnTo>
                  <a:pt x="3744190" y="3088509"/>
                </a:lnTo>
                <a:lnTo>
                  <a:pt x="3747093" y="3099930"/>
                </a:lnTo>
                <a:lnTo>
                  <a:pt x="3746799" y="3104743"/>
                </a:lnTo>
                <a:lnTo>
                  <a:pt x="3745610" y="3116729"/>
                </a:lnTo>
                <a:cubicBezTo>
                  <a:pt x="3744666" y="3122891"/>
                  <a:pt x="3743503" y="3129792"/>
                  <a:pt x="3742676" y="3137453"/>
                </a:cubicBezTo>
                <a:lnTo>
                  <a:pt x="3742441" y="3143884"/>
                </a:lnTo>
                <a:lnTo>
                  <a:pt x="3737104" y="3158122"/>
                </a:lnTo>
                <a:cubicBezTo>
                  <a:pt x="3733050" y="3168490"/>
                  <a:pt x="3730374" y="3176626"/>
                  <a:pt x="3733275" y="3185367"/>
                </a:cubicBezTo>
                <a:cubicBezTo>
                  <a:pt x="3728135" y="3200760"/>
                  <a:pt x="3712176" y="3212117"/>
                  <a:pt x="3717639" y="3233769"/>
                </a:cubicBezTo>
                <a:cubicBezTo>
                  <a:pt x="3709851" y="3227497"/>
                  <a:pt x="3717920" y="3258095"/>
                  <a:pt x="3710433" y="3262123"/>
                </a:cubicBezTo>
                <a:cubicBezTo>
                  <a:pt x="3704342" y="3264110"/>
                  <a:pt x="3705370" y="3273856"/>
                  <a:pt x="3703458" y="3281408"/>
                </a:cubicBezTo>
                <a:cubicBezTo>
                  <a:pt x="3697412" y="3287020"/>
                  <a:pt x="3693483" y="3324746"/>
                  <a:pt x="3695027" y="3337739"/>
                </a:cubicBezTo>
                <a:cubicBezTo>
                  <a:pt x="3703095" y="3374177"/>
                  <a:pt x="3679154" y="3404974"/>
                  <a:pt x="3684951" y="3434139"/>
                </a:cubicBezTo>
                <a:cubicBezTo>
                  <a:pt x="3684732" y="3441861"/>
                  <a:pt x="3683615" y="3448308"/>
                  <a:pt x="3681946" y="3453928"/>
                </a:cubicBezTo>
                <a:lnTo>
                  <a:pt x="3675939" y="3468021"/>
                </a:lnTo>
                <a:cubicBezTo>
                  <a:pt x="3674480" y="3468264"/>
                  <a:pt x="3673022" y="3468506"/>
                  <a:pt x="3671563" y="3468748"/>
                </a:cubicBezTo>
                <a:lnTo>
                  <a:pt x="3669360" y="3479164"/>
                </a:lnTo>
                <a:lnTo>
                  <a:pt x="3668060" y="3481325"/>
                </a:lnTo>
                <a:cubicBezTo>
                  <a:pt x="3665560" y="3485437"/>
                  <a:pt x="3663197" y="3489622"/>
                  <a:pt x="3661315" y="3494328"/>
                </a:cubicBezTo>
                <a:cubicBezTo>
                  <a:pt x="3678446" y="3506175"/>
                  <a:pt x="3648136" y="3536311"/>
                  <a:pt x="3664679" y="3537226"/>
                </a:cubicBezTo>
                <a:cubicBezTo>
                  <a:pt x="3657322" y="3565147"/>
                  <a:pt x="3674997" y="3558694"/>
                  <a:pt x="3654205" y="3577551"/>
                </a:cubicBezTo>
                <a:cubicBezTo>
                  <a:pt x="3653633" y="3634248"/>
                  <a:pt x="3628736" y="3694092"/>
                  <a:pt x="3637325" y="3749618"/>
                </a:cubicBezTo>
                <a:cubicBezTo>
                  <a:pt x="3631446" y="3736800"/>
                  <a:pt x="3620480" y="3747498"/>
                  <a:pt x="3620258" y="3763981"/>
                </a:cubicBezTo>
                <a:cubicBezTo>
                  <a:pt x="3596667" y="3715365"/>
                  <a:pt x="3630603" y="3842969"/>
                  <a:pt x="3608193" y="3830141"/>
                </a:cubicBezTo>
                <a:cubicBezTo>
                  <a:pt x="3625759" y="3852486"/>
                  <a:pt x="3638965" y="3943841"/>
                  <a:pt x="3616479" y="3951521"/>
                </a:cubicBezTo>
                <a:cubicBezTo>
                  <a:pt x="3607940" y="3994867"/>
                  <a:pt x="3614033" y="4040502"/>
                  <a:pt x="3595498" y="4074157"/>
                </a:cubicBezTo>
                <a:cubicBezTo>
                  <a:pt x="3597477" y="4078342"/>
                  <a:pt x="3598819" y="4082864"/>
                  <a:pt x="3599706" y="4087599"/>
                </a:cubicBezTo>
                <a:lnTo>
                  <a:pt x="3601103" y="4101515"/>
                </a:lnTo>
                <a:lnTo>
                  <a:pt x="3600274" y="4102849"/>
                </a:lnTo>
                <a:cubicBezTo>
                  <a:pt x="3598143" y="4109482"/>
                  <a:pt x="3598077" y="4114144"/>
                  <a:pt x="3598925" y="4117926"/>
                </a:cubicBezTo>
                <a:lnTo>
                  <a:pt x="3600630" y="4121966"/>
                </a:lnTo>
                <a:lnTo>
                  <a:pt x="3600331" y="4132543"/>
                </a:lnTo>
                <a:lnTo>
                  <a:pt x="3601432" y="4154003"/>
                </a:lnTo>
                <a:lnTo>
                  <a:pt x="3600054" y="4157433"/>
                </a:lnTo>
                <a:lnTo>
                  <a:pt x="3599248" y="4188888"/>
                </a:lnTo>
                <a:cubicBezTo>
                  <a:pt x="3598993" y="4188940"/>
                  <a:pt x="3598738" y="4188992"/>
                  <a:pt x="3598484" y="4189044"/>
                </a:cubicBezTo>
                <a:cubicBezTo>
                  <a:pt x="3596754" y="4190111"/>
                  <a:pt x="3595443" y="4192250"/>
                  <a:pt x="3594971" y="4196698"/>
                </a:cubicBezTo>
                <a:cubicBezTo>
                  <a:pt x="3584674" y="4185805"/>
                  <a:pt x="3590455" y="4197885"/>
                  <a:pt x="3589971" y="4211958"/>
                </a:cubicBezTo>
                <a:cubicBezTo>
                  <a:pt x="3573870" y="4198179"/>
                  <a:pt x="3579156" y="4240607"/>
                  <a:pt x="3569135" y="4243705"/>
                </a:cubicBezTo>
                <a:cubicBezTo>
                  <a:pt x="3569142" y="4254351"/>
                  <a:pt x="3568856" y="4265362"/>
                  <a:pt x="3568210" y="4276468"/>
                </a:cubicBezTo>
                <a:lnTo>
                  <a:pt x="3567613" y="4282925"/>
                </a:lnTo>
                <a:cubicBezTo>
                  <a:pt x="3567553" y="4282949"/>
                  <a:pt x="3567492" y="4282974"/>
                  <a:pt x="3567432" y="4282999"/>
                </a:cubicBezTo>
                <a:cubicBezTo>
                  <a:pt x="3566940" y="4284280"/>
                  <a:pt x="3566607" y="4286359"/>
                  <a:pt x="3566464" y="4289697"/>
                </a:cubicBezTo>
                <a:lnTo>
                  <a:pt x="3566526" y="4294698"/>
                </a:lnTo>
                <a:lnTo>
                  <a:pt x="3565367" y="4307225"/>
                </a:lnTo>
                <a:lnTo>
                  <a:pt x="3563841" y="4311164"/>
                </a:lnTo>
                <a:lnTo>
                  <a:pt x="3561610" y="4312189"/>
                </a:lnTo>
                <a:lnTo>
                  <a:pt x="3561734" y="4313408"/>
                </a:lnTo>
                <a:cubicBezTo>
                  <a:pt x="3564537" y="4323096"/>
                  <a:pt x="3569544" y="4327053"/>
                  <a:pt x="3553832" y="4334910"/>
                </a:cubicBezTo>
                <a:cubicBezTo>
                  <a:pt x="3557797" y="4356533"/>
                  <a:pt x="3548502" y="4358433"/>
                  <a:pt x="3542564" y="4385380"/>
                </a:cubicBezTo>
                <a:cubicBezTo>
                  <a:pt x="3547050" y="4398267"/>
                  <a:pt x="3544091" y="4407098"/>
                  <a:pt x="3538724" y="4415150"/>
                </a:cubicBezTo>
                <a:cubicBezTo>
                  <a:pt x="3538633" y="4442707"/>
                  <a:pt x="3529920" y="4465824"/>
                  <a:pt x="3525348" y="4495753"/>
                </a:cubicBezTo>
                <a:cubicBezTo>
                  <a:pt x="3529387" y="4530212"/>
                  <a:pt x="3514579" y="4543935"/>
                  <a:pt x="3509749" y="4575934"/>
                </a:cubicBezTo>
                <a:cubicBezTo>
                  <a:pt x="3519579" y="4606914"/>
                  <a:pt x="3496418" y="4596497"/>
                  <a:pt x="3489779" y="4611927"/>
                </a:cubicBezTo>
                <a:lnTo>
                  <a:pt x="3488856" y="4616508"/>
                </a:lnTo>
                <a:lnTo>
                  <a:pt x="3489486" y="4629163"/>
                </a:lnTo>
                <a:lnTo>
                  <a:pt x="3490242" y="4633947"/>
                </a:lnTo>
                <a:cubicBezTo>
                  <a:pt x="3490570" y="4637233"/>
                  <a:pt x="3490539" y="4639406"/>
                  <a:pt x="3490244" y="4640894"/>
                </a:cubicBezTo>
                <a:lnTo>
                  <a:pt x="3490078" y="4641059"/>
                </a:lnTo>
                <a:lnTo>
                  <a:pt x="3490403" y="4647582"/>
                </a:lnTo>
                <a:cubicBezTo>
                  <a:pt x="3491330" y="4658608"/>
                  <a:pt x="3492590" y="4669354"/>
                  <a:pt x="3494082" y="4679601"/>
                </a:cubicBezTo>
                <a:cubicBezTo>
                  <a:pt x="3484854" y="4687754"/>
                  <a:pt x="3495864" y="4725869"/>
                  <a:pt x="3478421" y="4720918"/>
                </a:cubicBezTo>
                <a:cubicBezTo>
                  <a:pt x="3479918" y="4734712"/>
                  <a:pt x="3487176" y="4743359"/>
                  <a:pt x="3475730" y="4738188"/>
                </a:cubicBezTo>
                <a:cubicBezTo>
                  <a:pt x="3475894" y="4742712"/>
                  <a:pt x="3474928" y="4745450"/>
                  <a:pt x="3473409" y="4747368"/>
                </a:cubicBezTo>
                <a:lnTo>
                  <a:pt x="3472696" y="4747913"/>
                </a:lnTo>
                <a:lnTo>
                  <a:pt x="3476304" y="4778609"/>
                </a:lnTo>
                <a:lnTo>
                  <a:pt x="3475454" y="4782623"/>
                </a:lnTo>
                <a:lnTo>
                  <a:pt x="3479507" y="4802712"/>
                </a:lnTo>
                <a:lnTo>
                  <a:pt x="3480695" y="4813049"/>
                </a:lnTo>
                <a:lnTo>
                  <a:pt x="3482902" y="4816057"/>
                </a:lnTo>
                <a:cubicBezTo>
                  <a:pt x="3484247" y="4819259"/>
                  <a:pt x="3484834" y="4823783"/>
                  <a:pt x="3483703" y="4831270"/>
                </a:cubicBezTo>
                <a:lnTo>
                  <a:pt x="3483090" y="4832984"/>
                </a:lnTo>
                <a:lnTo>
                  <a:pt x="3486378" y="4845654"/>
                </a:lnTo>
                <a:cubicBezTo>
                  <a:pt x="3487893" y="4849755"/>
                  <a:pt x="3489817" y="4853416"/>
                  <a:pt x="3492309" y="4856425"/>
                </a:cubicBezTo>
                <a:cubicBezTo>
                  <a:pt x="3479133" y="4898390"/>
                  <a:pt x="3491371" y="4939174"/>
                  <a:pt x="3489182" y="4985308"/>
                </a:cubicBezTo>
                <a:cubicBezTo>
                  <a:pt x="3492413" y="5037202"/>
                  <a:pt x="3496839" y="5073159"/>
                  <a:pt x="3498182" y="5107346"/>
                </a:cubicBezTo>
                <a:cubicBezTo>
                  <a:pt x="3500266" y="5123329"/>
                  <a:pt x="3506680" y="5240376"/>
                  <a:pt x="3499225" y="5231073"/>
                </a:cubicBezTo>
                <a:cubicBezTo>
                  <a:pt x="3515247" y="5280090"/>
                  <a:pt x="3497607" y="5309911"/>
                  <a:pt x="3504960" y="5364785"/>
                </a:cubicBezTo>
                <a:cubicBezTo>
                  <a:pt x="3487546" y="5393671"/>
                  <a:pt x="3503686" y="5378336"/>
                  <a:pt x="3500486" y="5409009"/>
                </a:cubicBezTo>
                <a:cubicBezTo>
                  <a:pt x="3516561" y="5401350"/>
                  <a:pt x="3491544" y="5446009"/>
                  <a:pt x="3509710" y="5448570"/>
                </a:cubicBezTo>
                <a:cubicBezTo>
                  <a:pt x="3508555" y="5454072"/>
                  <a:pt x="3506859" y="5459319"/>
                  <a:pt x="3505022" y="5464568"/>
                </a:cubicBezTo>
                <a:lnTo>
                  <a:pt x="3504070" y="5467320"/>
                </a:lnTo>
                <a:lnTo>
                  <a:pt x="3503399" y="5478483"/>
                </a:lnTo>
                <a:lnTo>
                  <a:pt x="3499281" y="5481443"/>
                </a:lnTo>
                <a:lnTo>
                  <a:pt x="3499047" y="5616712"/>
                </a:lnTo>
                <a:cubicBezTo>
                  <a:pt x="3502347" y="5628424"/>
                  <a:pt x="3503819" y="5666768"/>
                  <a:pt x="3498775" y="5675291"/>
                </a:cubicBezTo>
                <a:cubicBezTo>
                  <a:pt x="3497984" y="5683547"/>
                  <a:pt x="3500335" y="5692400"/>
                  <a:pt x="3494739" y="5697458"/>
                </a:cubicBezTo>
                <a:cubicBezTo>
                  <a:pt x="3492180" y="5715432"/>
                  <a:pt x="3486290" y="5756597"/>
                  <a:pt x="3483423" y="5783137"/>
                </a:cubicBezTo>
                <a:cubicBezTo>
                  <a:pt x="3491452" y="5796973"/>
                  <a:pt x="3477643" y="5819988"/>
                  <a:pt x="3477532" y="5856699"/>
                </a:cubicBezTo>
                <a:cubicBezTo>
                  <a:pt x="3486776" y="5871818"/>
                  <a:pt x="3477340" y="5881447"/>
                  <a:pt x="3490032" y="5910638"/>
                </a:cubicBezTo>
                <a:cubicBezTo>
                  <a:pt x="3488930" y="5911913"/>
                  <a:pt x="3487924" y="5913488"/>
                  <a:pt x="3487046" y="5915313"/>
                </a:cubicBezTo>
                <a:cubicBezTo>
                  <a:pt x="3481941" y="5925917"/>
                  <a:pt x="3482137" y="5942505"/>
                  <a:pt x="3487484" y="5952365"/>
                </a:cubicBezTo>
                <a:cubicBezTo>
                  <a:pt x="3504666" y="5999029"/>
                  <a:pt x="3505019" y="6042078"/>
                  <a:pt x="3509266" y="6082373"/>
                </a:cubicBezTo>
                <a:cubicBezTo>
                  <a:pt x="3512265" y="6128005"/>
                  <a:pt x="3492950" y="6098121"/>
                  <a:pt x="3509564" y="6154771"/>
                </a:cubicBezTo>
                <a:cubicBezTo>
                  <a:pt x="3503223" y="6161045"/>
                  <a:pt x="3503062" y="6168289"/>
                  <a:pt x="3506404" y="6180433"/>
                </a:cubicBezTo>
                <a:cubicBezTo>
                  <a:pt x="3507378" y="6202614"/>
                  <a:pt x="3491084" y="6201180"/>
                  <a:pt x="3501312" y="6223427"/>
                </a:cubicBezTo>
                <a:cubicBezTo>
                  <a:pt x="3492497" y="6219559"/>
                  <a:pt x="3498753" y="6265580"/>
                  <a:pt x="3489469" y="6255476"/>
                </a:cubicBezTo>
                <a:cubicBezTo>
                  <a:pt x="3481791" y="6270065"/>
                  <a:pt x="3495037" y="6276996"/>
                  <a:pt x="3488398" y="6291462"/>
                </a:cubicBezTo>
                <a:cubicBezTo>
                  <a:pt x="3487099" y="6307679"/>
                  <a:pt x="3497555" y="6282019"/>
                  <a:pt x="3498547" y="6299935"/>
                </a:cubicBezTo>
                <a:cubicBezTo>
                  <a:pt x="3498173" y="6321676"/>
                  <a:pt x="3514193" y="6321381"/>
                  <a:pt x="3494028" y="6338390"/>
                </a:cubicBezTo>
                <a:lnTo>
                  <a:pt x="3486030" y="6396716"/>
                </a:lnTo>
                <a:cubicBezTo>
                  <a:pt x="3491309" y="6409668"/>
                  <a:pt x="3488928" y="6420134"/>
                  <a:pt x="3484103" y="6430386"/>
                </a:cubicBezTo>
                <a:cubicBezTo>
                  <a:pt x="3485763" y="6460632"/>
                  <a:pt x="3478568" y="6488285"/>
                  <a:pt x="3475922" y="6522318"/>
                </a:cubicBezTo>
                <a:cubicBezTo>
                  <a:pt x="3482128" y="6559051"/>
                  <a:pt x="3468277" y="6578006"/>
                  <a:pt x="3465506" y="6614374"/>
                </a:cubicBezTo>
                <a:cubicBezTo>
                  <a:pt x="3478925" y="6650248"/>
                  <a:pt x="3446064" y="6638174"/>
                  <a:pt x="3446789" y="6668768"/>
                </a:cubicBezTo>
                <a:cubicBezTo>
                  <a:pt x="3458869" y="6718505"/>
                  <a:pt x="3435878" y="6667592"/>
                  <a:pt x="3439582" y="6744454"/>
                </a:cubicBezTo>
                <a:cubicBezTo>
                  <a:pt x="3441631" y="6748797"/>
                  <a:pt x="3439393" y="6758101"/>
                  <a:pt x="3436538" y="6757102"/>
                </a:cubicBezTo>
                <a:cubicBezTo>
                  <a:pt x="3437461" y="6773941"/>
                  <a:pt x="3420846" y="6822488"/>
                  <a:pt x="3424061" y="6846522"/>
                </a:cubicBezTo>
                <a:lnTo>
                  <a:pt x="3423032" y="6858000"/>
                </a:lnTo>
                <a:lnTo>
                  <a:pt x="0" y="6858000"/>
                </a:lnTo>
                <a:close/>
              </a:path>
            </a:pathLst>
          </a:custGeom>
        </p:spPr>
      </p:pic>
    </p:spTree>
    <p:extLst>
      <p:ext uri="{BB962C8B-B14F-4D97-AF65-F5344CB8AC3E}">
        <p14:creationId xmlns:p14="http://schemas.microsoft.com/office/powerpoint/2010/main" val="3811304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3E67C-7806-7D3D-A54A-168F2DD2E174}"/>
              </a:ext>
            </a:extLst>
          </p:cNvPr>
          <p:cNvSpPr>
            <a:spLocks noGrp="1"/>
          </p:cNvSpPr>
          <p:nvPr>
            <p:ph type="title"/>
          </p:nvPr>
        </p:nvSpPr>
        <p:spPr/>
        <p:txBody>
          <a:bodyPr>
            <a:normAutofit/>
          </a:bodyPr>
          <a:lstStyle/>
          <a:p>
            <a:r>
              <a:rPr lang="en-GB" b="1" i="0" dirty="0">
                <a:solidFill>
                  <a:srgbClr val="0D0D0D"/>
                </a:solidFill>
                <a:effectLst/>
                <a:latin typeface="Söhne"/>
              </a:rPr>
              <a:t>The Power of Big Data</a:t>
            </a:r>
            <a:br>
              <a:rPr lang="en-GB" b="1" i="0" dirty="0">
                <a:solidFill>
                  <a:srgbClr val="0D0D0D"/>
                </a:solidFill>
                <a:effectLst/>
                <a:latin typeface="Söhne"/>
              </a:rPr>
            </a:br>
            <a:endParaRPr lang="en-GB" dirty="0"/>
          </a:p>
        </p:txBody>
      </p:sp>
      <p:sp>
        <p:nvSpPr>
          <p:cNvPr id="3" name="Content Placeholder 2">
            <a:extLst>
              <a:ext uri="{FF2B5EF4-FFF2-40B4-BE49-F238E27FC236}">
                <a16:creationId xmlns:a16="http://schemas.microsoft.com/office/drawing/2014/main" id="{864D1854-CC03-B0ED-DB97-65222944CAB9}"/>
              </a:ext>
            </a:extLst>
          </p:cNvPr>
          <p:cNvSpPr>
            <a:spLocks noGrp="1"/>
          </p:cNvSpPr>
          <p:nvPr>
            <p:ph idx="1"/>
          </p:nvPr>
        </p:nvSpPr>
        <p:spPr/>
        <p:txBody>
          <a:bodyPr/>
          <a:lstStyle/>
          <a:p>
            <a:pPr algn="l">
              <a:buFont typeface="Arial" panose="020B0604020202020204" pitchFamily="34" charset="0"/>
              <a:buChar char="•"/>
            </a:pPr>
            <a:r>
              <a:rPr lang="en-GB" b="0" i="0" dirty="0">
                <a:solidFill>
                  <a:srgbClr val="0D0D0D"/>
                </a:solidFill>
                <a:effectLst/>
                <a:latin typeface="Söhne"/>
              </a:rPr>
              <a:t>Definition and characteristics of Big Data (Volume, Velocity, Variety, Veracity)</a:t>
            </a:r>
          </a:p>
          <a:p>
            <a:pPr algn="l">
              <a:buFont typeface="Arial" panose="020B0604020202020204" pitchFamily="34" charset="0"/>
              <a:buChar char="•"/>
            </a:pPr>
            <a:r>
              <a:rPr lang="en-GB" b="0" i="0" dirty="0">
                <a:solidFill>
                  <a:srgbClr val="0D0D0D"/>
                </a:solidFill>
                <a:effectLst/>
                <a:latin typeface="Söhne"/>
              </a:rPr>
              <a:t>Sources of Big Data (social media, smart devices, business transactions, etc.)</a:t>
            </a:r>
          </a:p>
          <a:p>
            <a:pPr algn="l">
              <a:buFont typeface="Arial" panose="020B0604020202020204" pitchFamily="34" charset="0"/>
              <a:buChar char="•"/>
            </a:pPr>
            <a:r>
              <a:rPr lang="en-GB" b="0" i="0" dirty="0">
                <a:solidFill>
                  <a:srgbClr val="0D0D0D"/>
                </a:solidFill>
                <a:effectLst/>
                <a:latin typeface="Söhne"/>
              </a:rPr>
              <a:t>Role of Big Data in providing insights for decision-making</a:t>
            </a:r>
            <a:endParaRPr lang="en-GB" dirty="0"/>
          </a:p>
        </p:txBody>
      </p:sp>
    </p:spTree>
    <p:extLst>
      <p:ext uri="{BB962C8B-B14F-4D97-AF65-F5344CB8AC3E}">
        <p14:creationId xmlns:p14="http://schemas.microsoft.com/office/powerpoint/2010/main" val="2380364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artoon of people sitting at a table&#10;&#10;Description automatically generated">
            <a:extLst>
              <a:ext uri="{FF2B5EF4-FFF2-40B4-BE49-F238E27FC236}">
                <a16:creationId xmlns:a16="http://schemas.microsoft.com/office/drawing/2014/main" id="{B9867E26-E78F-E3C5-EFC0-86AF18C77789}"/>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11813" b="13431"/>
          <a:stretch/>
        </p:blipFill>
        <p:spPr>
          <a:xfrm>
            <a:off x="457200" y="457200"/>
            <a:ext cx="11277600" cy="5943600"/>
          </a:xfrm>
          <a:prstGeom prst="rect">
            <a:avLst/>
          </a:prstGeom>
        </p:spPr>
      </p:pic>
    </p:spTree>
    <p:extLst>
      <p:ext uri="{BB962C8B-B14F-4D97-AF65-F5344CB8AC3E}">
        <p14:creationId xmlns:p14="http://schemas.microsoft.com/office/powerpoint/2010/main" val="34976683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FAAFF-3498-D979-5D9C-62370134A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FB092-FA89-AAF0-0E6C-A52C4A50AD5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chemeClr val="tx1">
                    <a:lumMod val="75000"/>
                    <a:lumOff val="25000"/>
                  </a:schemeClr>
                </a:solidFill>
                <a:latin typeface="+mj-lt"/>
                <a:ea typeface="+mj-ea"/>
                <a:cs typeface="+mj-cs"/>
              </a:rPr>
              <a:t>Big Data &amp; Traditional Analytics</a:t>
            </a:r>
          </a:p>
        </p:txBody>
      </p:sp>
      <p:graphicFrame>
        <p:nvGraphicFramePr>
          <p:cNvPr id="5" name="Content Placeholder 4">
            <a:extLst>
              <a:ext uri="{FF2B5EF4-FFF2-40B4-BE49-F238E27FC236}">
                <a16:creationId xmlns:a16="http://schemas.microsoft.com/office/drawing/2014/main" id="{5619ABC4-75DC-9192-3CCA-AA93B950120F}"/>
              </a:ext>
            </a:extLst>
          </p:cNvPr>
          <p:cNvGraphicFramePr>
            <a:graphicFrameLocks noGrp="1"/>
          </p:cNvGraphicFramePr>
          <p:nvPr>
            <p:ph idx="1"/>
          </p:nvPr>
        </p:nvGraphicFramePr>
        <p:xfrm>
          <a:off x="1062150" y="1966293"/>
          <a:ext cx="10067700" cy="4452163"/>
        </p:xfrm>
        <a:graphic>
          <a:graphicData uri="http://schemas.openxmlformats.org/drawingml/2006/table">
            <a:tbl>
              <a:tblPr firstRow="1" bandRow="1">
                <a:tableStyleId>{3B4B98B0-60AC-42C2-AFA5-B58CD77FA1E5}</a:tableStyleId>
              </a:tblPr>
              <a:tblGrid>
                <a:gridCol w="3355900">
                  <a:extLst>
                    <a:ext uri="{9D8B030D-6E8A-4147-A177-3AD203B41FA5}">
                      <a16:colId xmlns:a16="http://schemas.microsoft.com/office/drawing/2014/main" val="20000"/>
                    </a:ext>
                  </a:extLst>
                </a:gridCol>
                <a:gridCol w="3086600">
                  <a:extLst>
                    <a:ext uri="{9D8B030D-6E8A-4147-A177-3AD203B41FA5}">
                      <a16:colId xmlns:a16="http://schemas.microsoft.com/office/drawing/2014/main" val="20001"/>
                    </a:ext>
                  </a:extLst>
                </a:gridCol>
                <a:gridCol w="3625200">
                  <a:extLst>
                    <a:ext uri="{9D8B030D-6E8A-4147-A177-3AD203B41FA5}">
                      <a16:colId xmlns:a16="http://schemas.microsoft.com/office/drawing/2014/main" val="20002"/>
                    </a:ext>
                  </a:extLst>
                </a:gridCol>
              </a:tblGrid>
              <a:tr h="492199">
                <a:tc>
                  <a:txBody>
                    <a:bodyPr/>
                    <a:lstStyle/>
                    <a:p>
                      <a:endParaRPr lang="en-GB" sz="2200"/>
                    </a:p>
                  </a:txBody>
                  <a:tcPr marL="111863" marR="111863" marT="55932" marB="55932"/>
                </a:tc>
                <a:tc>
                  <a:txBody>
                    <a:bodyPr/>
                    <a:lstStyle/>
                    <a:p>
                      <a:r>
                        <a:rPr lang="en-GB" sz="2200">
                          <a:solidFill>
                            <a:schemeClr val="tx2">
                              <a:lumMod val="95000"/>
                              <a:lumOff val="5000"/>
                            </a:schemeClr>
                          </a:solidFill>
                        </a:rPr>
                        <a:t>Traditional Analytics</a:t>
                      </a:r>
                    </a:p>
                  </a:txBody>
                  <a:tcPr marL="111863" marR="111863" marT="55932" marB="55932"/>
                </a:tc>
                <a:tc>
                  <a:txBody>
                    <a:bodyPr/>
                    <a:lstStyle/>
                    <a:p>
                      <a:r>
                        <a:rPr lang="en-GB" sz="2200">
                          <a:solidFill>
                            <a:schemeClr val="tx2">
                              <a:lumMod val="95000"/>
                              <a:lumOff val="5000"/>
                            </a:schemeClr>
                          </a:solidFill>
                        </a:rPr>
                        <a:t>Big Data</a:t>
                      </a:r>
                    </a:p>
                  </a:txBody>
                  <a:tcPr marL="111863" marR="111863" marT="55932" marB="55932"/>
                </a:tc>
                <a:extLst>
                  <a:ext uri="{0D108BD9-81ED-4DB2-BD59-A6C34878D82A}">
                    <a16:rowId xmlns:a16="http://schemas.microsoft.com/office/drawing/2014/main" val="10000"/>
                  </a:ext>
                </a:extLst>
              </a:tr>
              <a:tr h="82778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200"/>
                        <a:t>Type of Data</a:t>
                      </a:r>
                    </a:p>
                  </a:txBody>
                  <a:tcPr marL="111863" marR="111863" marT="55932" marB="55932"/>
                </a:tc>
                <a:tc>
                  <a:txBody>
                    <a:bodyPr/>
                    <a:lstStyle/>
                    <a:p>
                      <a:r>
                        <a:rPr lang="en-GB" sz="2200"/>
                        <a:t>Formatted in rows or columns</a:t>
                      </a:r>
                    </a:p>
                  </a:txBody>
                  <a:tcPr marL="111863" marR="111863" marT="55932" marB="55932"/>
                </a:tc>
                <a:tc>
                  <a:txBody>
                    <a:bodyPr/>
                    <a:lstStyle/>
                    <a:p>
                      <a:r>
                        <a:rPr lang="en-GB" sz="2200"/>
                        <a:t>Unstructured Formats</a:t>
                      </a:r>
                    </a:p>
                  </a:txBody>
                  <a:tcPr marL="111863" marR="111863" marT="55932" marB="55932"/>
                </a:tc>
                <a:extLst>
                  <a:ext uri="{0D108BD9-81ED-4DB2-BD59-A6C34878D82A}">
                    <a16:rowId xmlns:a16="http://schemas.microsoft.com/office/drawing/2014/main" val="10001"/>
                  </a:ext>
                </a:extLst>
              </a:tr>
              <a:tr h="827789">
                <a:tc>
                  <a:txBody>
                    <a:bodyPr/>
                    <a:lstStyle/>
                    <a:p>
                      <a:r>
                        <a:rPr lang="en-GB" sz="2200"/>
                        <a:t>Volume of Data</a:t>
                      </a:r>
                    </a:p>
                  </a:txBody>
                  <a:tcPr marL="111863" marR="111863" marT="55932" marB="55932"/>
                </a:tc>
                <a:tc>
                  <a:txBody>
                    <a:bodyPr/>
                    <a:lstStyle/>
                    <a:p>
                      <a:r>
                        <a:rPr lang="en-GB" sz="2200"/>
                        <a:t>Tens of terabytes or less</a:t>
                      </a:r>
                    </a:p>
                  </a:txBody>
                  <a:tcPr marL="111863" marR="111863" marT="55932" marB="55932"/>
                </a:tc>
                <a:tc>
                  <a:txBody>
                    <a:bodyPr/>
                    <a:lstStyle/>
                    <a:p>
                      <a:r>
                        <a:rPr lang="en-GB" sz="2200"/>
                        <a:t>100 terabytes to petabytes</a:t>
                      </a:r>
                    </a:p>
                  </a:txBody>
                  <a:tcPr marL="111863" marR="111863" marT="55932" marB="55932"/>
                </a:tc>
                <a:extLst>
                  <a:ext uri="{0D108BD9-81ED-4DB2-BD59-A6C34878D82A}">
                    <a16:rowId xmlns:a16="http://schemas.microsoft.com/office/drawing/2014/main" val="10002"/>
                  </a:ext>
                </a:extLst>
              </a:tr>
              <a:tr h="492199">
                <a:tc>
                  <a:txBody>
                    <a:bodyPr/>
                    <a:lstStyle/>
                    <a:p>
                      <a:r>
                        <a:rPr lang="en-GB" sz="2200"/>
                        <a:t>Flow of Data</a:t>
                      </a:r>
                    </a:p>
                  </a:txBody>
                  <a:tcPr marL="111863" marR="111863" marT="55932" marB="55932"/>
                </a:tc>
                <a:tc>
                  <a:txBody>
                    <a:bodyPr/>
                    <a:lstStyle/>
                    <a:p>
                      <a:r>
                        <a:rPr lang="en-GB" sz="2200"/>
                        <a:t>Static pool</a:t>
                      </a:r>
                    </a:p>
                  </a:txBody>
                  <a:tcPr marL="111863" marR="111863" marT="55932" marB="55932"/>
                </a:tc>
                <a:tc>
                  <a:txBody>
                    <a:bodyPr/>
                    <a:lstStyle/>
                    <a:p>
                      <a:r>
                        <a:rPr lang="en-GB" sz="2200"/>
                        <a:t>Constant</a:t>
                      </a:r>
                    </a:p>
                  </a:txBody>
                  <a:tcPr marL="111863" marR="111863" marT="55932" marB="55932"/>
                </a:tc>
                <a:extLst>
                  <a:ext uri="{0D108BD9-81ED-4DB2-BD59-A6C34878D82A}">
                    <a16:rowId xmlns:a16="http://schemas.microsoft.com/office/drawing/2014/main" val="10003"/>
                  </a:ext>
                </a:extLst>
              </a:tr>
              <a:tr h="492199">
                <a:tc>
                  <a:txBody>
                    <a:bodyPr/>
                    <a:lstStyle/>
                    <a:p>
                      <a:r>
                        <a:rPr lang="en-GB" sz="2200"/>
                        <a:t>Analysis</a:t>
                      </a:r>
                      <a:r>
                        <a:rPr lang="en-GB" sz="2200" baseline="0"/>
                        <a:t> Methods</a:t>
                      </a:r>
                      <a:endParaRPr lang="en-GB" sz="2200"/>
                    </a:p>
                  </a:txBody>
                  <a:tcPr marL="111863" marR="111863" marT="55932" marB="55932"/>
                </a:tc>
                <a:tc>
                  <a:txBody>
                    <a:bodyPr/>
                    <a:lstStyle/>
                    <a:p>
                      <a:r>
                        <a:rPr lang="en-GB" sz="2200"/>
                        <a:t>Hypothesis-based</a:t>
                      </a:r>
                    </a:p>
                  </a:txBody>
                  <a:tcPr marL="111863" marR="111863" marT="55932" marB="55932"/>
                </a:tc>
                <a:tc>
                  <a:txBody>
                    <a:bodyPr/>
                    <a:lstStyle/>
                    <a:p>
                      <a:r>
                        <a:rPr lang="en-GB" sz="2200"/>
                        <a:t>Machine Learning</a:t>
                      </a:r>
                    </a:p>
                  </a:txBody>
                  <a:tcPr marL="111863" marR="111863" marT="55932" marB="55932"/>
                </a:tc>
                <a:extLst>
                  <a:ext uri="{0D108BD9-81ED-4DB2-BD59-A6C34878D82A}">
                    <a16:rowId xmlns:a16="http://schemas.microsoft.com/office/drawing/2014/main" val="10004"/>
                  </a:ext>
                </a:extLst>
              </a:tr>
              <a:tr h="827789">
                <a:tc>
                  <a:txBody>
                    <a:bodyPr/>
                    <a:lstStyle/>
                    <a:p>
                      <a:r>
                        <a:rPr lang="en-GB" sz="2200"/>
                        <a:t>Primary Purpose</a:t>
                      </a:r>
                    </a:p>
                  </a:txBody>
                  <a:tcPr marL="111863" marR="111863" marT="55932" marB="55932"/>
                </a:tc>
                <a:tc>
                  <a:txBody>
                    <a:bodyPr/>
                    <a:lstStyle/>
                    <a:p>
                      <a:r>
                        <a:rPr lang="en-GB" sz="2200"/>
                        <a:t>Internal decision support</a:t>
                      </a:r>
                    </a:p>
                  </a:txBody>
                  <a:tcPr marL="111863" marR="111863" marT="55932" marB="55932"/>
                </a:tc>
                <a:tc>
                  <a:txBody>
                    <a:bodyPr/>
                    <a:lstStyle/>
                    <a:p>
                      <a:r>
                        <a:rPr lang="en-GB" sz="2200"/>
                        <a:t>Data-based</a:t>
                      </a:r>
                      <a:r>
                        <a:rPr lang="en-GB" sz="2200" baseline="0"/>
                        <a:t> products</a:t>
                      </a:r>
                      <a:endParaRPr lang="en-GB" sz="2200"/>
                    </a:p>
                  </a:txBody>
                  <a:tcPr marL="111863" marR="111863" marT="55932" marB="55932"/>
                </a:tc>
                <a:extLst>
                  <a:ext uri="{0D108BD9-81ED-4DB2-BD59-A6C34878D82A}">
                    <a16:rowId xmlns:a16="http://schemas.microsoft.com/office/drawing/2014/main" val="10005"/>
                  </a:ext>
                </a:extLst>
              </a:tr>
              <a:tr h="492199">
                <a:tc gridSpan="3">
                  <a:txBody>
                    <a:bodyPr/>
                    <a:lstStyle/>
                    <a:p>
                      <a:r>
                        <a:rPr lang="en-GB" sz="2200"/>
                        <a:t>“Big Data at Work,” Thomas Davenport</a:t>
                      </a:r>
                      <a:endParaRPr lang="en-GB" sz="2200" i="1"/>
                    </a:p>
                  </a:txBody>
                  <a:tcPr marL="111863" marR="111863" marT="55932" marB="55932"/>
                </a:tc>
                <a:tc hMerge="1">
                  <a:txBody>
                    <a:bodyPr/>
                    <a:lstStyle/>
                    <a:p>
                      <a:endParaRPr lang="en-GB"/>
                    </a:p>
                  </a:txBody>
                  <a:tcPr/>
                </a:tc>
                <a:tc hMerge="1">
                  <a:txBody>
                    <a:bodyPr/>
                    <a:lstStyle/>
                    <a:p>
                      <a:endParaRPr lang="en-GB" dirty="0"/>
                    </a:p>
                  </a:txBody>
                  <a:tcPr/>
                </a:tc>
                <a:extLst>
                  <a:ext uri="{0D108BD9-81ED-4DB2-BD59-A6C34878D82A}">
                    <a16:rowId xmlns:a16="http://schemas.microsoft.com/office/drawing/2014/main" val="10006"/>
                  </a:ext>
                </a:extLst>
              </a:tr>
            </a:tbl>
          </a:graphicData>
        </a:graphic>
      </p:graphicFrame>
      <p:sp>
        <p:nvSpPr>
          <p:cNvPr id="4" name="Slide Number Placeholder 3">
            <a:extLst>
              <a:ext uri="{FF2B5EF4-FFF2-40B4-BE49-F238E27FC236}">
                <a16:creationId xmlns:a16="http://schemas.microsoft.com/office/drawing/2014/main" id="{6A2DCB3D-B43F-1107-56D4-EE58DFCB6FBA}"/>
              </a:ext>
            </a:extLst>
          </p:cNvPr>
          <p:cNvSpPr>
            <a:spLocks noGrp="1"/>
          </p:cNvSpPr>
          <p:nvPr>
            <p:ph type="sldNum" sz="quarter" idx="4294967295"/>
          </p:nvPr>
        </p:nvSpPr>
        <p:spPr>
          <a:xfrm>
            <a:off x="11744325" y="6456363"/>
            <a:ext cx="447675" cy="365125"/>
          </a:xfrm>
        </p:spPr>
        <p:txBody>
          <a:bodyPr vert="horz" lIns="91440" tIns="45720" rIns="91440" bIns="45720" rtlCol="0" anchor="ctr">
            <a:normAutofit/>
          </a:bodyPr>
          <a:lstStyle/>
          <a:p>
            <a:pPr algn="r">
              <a:lnSpc>
                <a:spcPct val="90000"/>
              </a:lnSpc>
              <a:spcAft>
                <a:spcPts val="600"/>
              </a:spcAft>
              <a:defRPr/>
            </a:pPr>
            <a:r>
              <a:rPr lang="en-US" sz="800">
                <a:solidFill>
                  <a:schemeClr val="tx1">
                    <a:lumMod val="50000"/>
                    <a:lumOff val="50000"/>
                  </a:schemeClr>
                </a:solidFill>
              </a:rPr>
              <a:t> Slide </a:t>
            </a:r>
            <a:fld id="{B20E48F1-442D-415E-BEBE-FB09171073EE}" type="slidenum">
              <a:rPr lang="en-US" sz="800">
                <a:solidFill>
                  <a:schemeClr val="tx1">
                    <a:lumMod val="50000"/>
                    <a:lumOff val="50000"/>
                  </a:schemeClr>
                </a:solidFill>
              </a:rPr>
              <a:pPr algn="r">
                <a:lnSpc>
                  <a:spcPct val="90000"/>
                </a:lnSpc>
                <a:spcAft>
                  <a:spcPts val="600"/>
                </a:spcAft>
                <a:defRPr/>
              </a:pPr>
              <a:t>11</a:t>
            </a:fld>
            <a:endParaRPr lang="en-US" sz="800">
              <a:solidFill>
                <a:schemeClr val="tx1">
                  <a:lumMod val="50000"/>
                  <a:lumOff val="50000"/>
                </a:schemeClr>
              </a:solidFill>
            </a:endParaRPr>
          </a:p>
        </p:txBody>
      </p:sp>
    </p:spTree>
    <p:extLst>
      <p:ext uri="{BB962C8B-B14F-4D97-AF65-F5344CB8AC3E}">
        <p14:creationId xmlns:p14="http://schemas.microsoft.com/office/powerpoint/2010/main" val="3225335111"/>
      </p:ext>
    </p:extLst>
  </p:cSld>
  <p:clrMapOvr>
    <a:masterClrMapping/>
  </p:clrMapOvr>
  <mc:AlternateContent xmlns:mc="http://schemas.openxmlformats.org/markup-compatibility/2006" xmlns:p14="http://schemas.microsoft.com/office/powerpoint/2010/main">
    <mc:Choice Requires="p14">
      <p:transition spd="slow" p14:dur="2000" advTm="75595"/>
    </mc:Choice>
    <mc:Fallback xmlns="">
      <p:transition spd="slow" advTm="7559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8DDFF-F20B-6195-EBF9-45384C2679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60A194-05F2-BECE-D6F2-429436AE77D3}"/>
              </a:ext>
            </a:extLst>
          </p:cNvPr>
          <p:cNvSpPr>
            <a:spLocks noGrp="1"/>
          </p:cNvSpPr>
          <p:nvPr>
            <p:ph type="title"/>
          </p:nvPr>
        </p:nvSpPr>
        <p:spPr>
          <a:xfrm>
            <a:off x="686834" y="1153572"/>
            <a:ext cx="3200400" cy="4461163"/>
          </a:xfrm>
        </p:spPr>
        <p:txBody>
          <a:bodyPr>
            <a:normAutofit/>
          </a:bodyPr>
          <a:lstStyle/>
          <a:p>
            <a:r>
              <a:rPr lang="en-IE" dirty="0">
                <a:solidFill>
                  <a:schemeClr val="tx1">
                    <a:lumMod val="75000"/>
                    <a:lumOff val="25000"/>
                  </a:schemeClr>
                </a:solidFill>
              </a:rPr>
              <a:t>Data Products</a:t>
            </a:r>
          </a:p>
        </p:txBody>
      </p:sp>
      <p:sp>
        <p:nvSpPr>
          <p:cNvPr id="3" name="Content Placeholder 2">
            <a:extLst>
              <a:ext uri="{FF2B5EF4-FFF2-40B4-BE49-F238E27FC236}">
                <a16:creationId xmlns:a16="http://schemas.microsoft.com/office/drawing/2014/main" id="{992B86B4-4F6D-45C0-993C-8005954C22E7}"/>
              </a:ext>
            </a:extLst>
          </p:cNvPr>
          <p:cNvSpPr>
            <a:spLocks noGrp="1"/>
          </p:cNvSpPr>
          <p:nvPr>
            <p:ph idx="1"/>
          </p:nvPr>
        </p:nvSpPr>
        <p:spPr>
          <a:xfrm>
            <a:off x="4447308" y="591344"/>
            <a:ext cx="6906491" cy="5585619"/>
          </a:xfrm>
        </p:spPr>
        <p:txBody>
          <a:bodyPr anchor="ctr">
            <a:normAutofit/>
          </a:bodyPr>
          <a:lstStyle/>
          <a:p>
            <a:r>
              <a:rPr lang="en-IE" dirty="0"/>
              <a:t>Definition</a:t>
            </a:r>
          </a:p>
          <a:p>
            <a:pPr lvl="1"/>
            <a:r>
              <a:rPr lang="en-IE" dirty="0"/>
              <a:t>Data Products: Combining analytical capabilities and data assets to produce value added information product offerings</a:t>
            </a:r>
          </a:p>
          <a:p>
            <a:r>
              <a:rPr lang="en-IE" dirty="0" err="1"/>
              <a:t>Linkedin</a:t>
            </a:r>
            <a:r>
              <a:rPr lang="en-IE" dirty="0"/>
              <a:t> Corp. -developed “People You May Know,” and soon added others, including “Jobs You May Be Interested In”</a:t>
            </a:r>
          </a:p>
          <a:p>
            <a:r>
              <a:rPr lang="en-IE" dirty="0"/>
              <a:t>Facebook, “Look Alike” Audience</a:t>
            </a:r>
          </a:p>
        </p:txBody>
      </p:sp>
      <p:sp>
        <p:nvSpPr>
          <p:cNvPr id="4" name="Slide Number Placeholder 3">
            <a:extLst>
              <a:ext uri="{FF2B5EF4-FFF2-40B4-BE49-F238E27FC236}">
                <a16:creationId xmlns:a16="http://schemas.microsoft.com/office/drawing/2014/main" id="{425AA430-C125-D18C-9E0D-7D728619B7B5}"/>
              </a:ext>
            </a:extLst>
          </p:cNvPr>
          <p:cNvSpPr>
            <a:spLocks noGrp="1"/>
          </p:cNvSpPr>
          <p:nvPr>
            <p:ph type="sldNum" sz="quarter" idx="4294967295"/>
          </p:nvPr>
        </p:nvSpPr>
        <p:spPr>
          <a:xfrm>
            <a:off x="10379075" y="6356350"/>
            <a:ext cx="1812925" cy="365125"/>
          </a:xfrm>
        </p:spPr>
        <p:txBody>
          <a:bodyPr>
            <a:normAutofit/>
          </a:bodyPr>
          <a:lstStyle/>
          <a:p>
            <a:pPr>
              <a:spcAft>
                <a:spcPts val="600"/>
              </a:spcAft>
              <a:defRPr/>
            </a:pPr>
            <a:r>
              <a:rPr lang="en-IE" dirty="0"/>
              <a:t> Slide </a:t>
            </a:r>
            <a:fld id="{B20E48F1-442D-415E-BEBE-FB09171073EE}" type="slidenum">
              <a:rPr lang="en-IE" smtClean="0"/>
              <a:pPr>
                <a:spcAft>
                  <a:spcPts val="600"/>
                </a:spcAft>
                <a:defRPr/>
              </a:pPr>
              <a:t>12</a:t>
            </a:fld>
            <a:endParaRPr lang="en-IE"/>
          </a:p>
        </p:txBody>
      </p:sp>
    </p:spTree>
    <p:extLst>
      <p:ext uri="{BB962C8B-B14F-4D97-AF65-F5344CB8AC3E}">
        <p14:creationId xmlns:p14="http://schemas.microsoft.com/office/powerpoint/2010/main" val="2299433305"/>
      </p:ext>
    </p:extLst>
  </p:cSld>
  <p:clrMapOvr>
    <a:masterClrMapping/>
  </p:clrMapOvr>
  <mc:AlternateContent xmlns:mc="http://schemas.openxmlformats.org/markup-compatibility/2006" xmlns:p14="http://schemas.microsoft.com/office/powerpoint/2010/main">
    <mc:Choice Requires="p14">
      <p:transition spd="slow" p14:dur="2000" advTm="36364"/>
    </mc:Choice>
    <mc:Fallback xmlns="">
      <p:transition spd="slow" advTm="3636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AF616-6035-C6CA-0ED3-4387AC2E4A65}"/>
            </a:ext>
          </a:extLst>
        </p:cNvPr>
        <p:cNvGrpSpPr/>
        <p:nvPr/>
      </p:nvGrpSpPr>
      <p:grpSpPr>
        <a:xfrm>
          <a:off x="0" y="0"/>
          <a:ext cx="0" cy="0"/>
          <a:chOff x="0" y="0"/>
          <a:chExt cx="0" cy="0"/>
        </a:xfrm>
      </p:grpSpPr>
      <p:pic>
        <p:nvPicPr>
          <p:cNvPr id="6" name="Picture 5" descr="Illuminated server room panel">
            <a:extLst>
              <a:ext uri="{FF2B5EF4-FFF2-40B4-BE49-F238E27FC236}">
                <a16:creationId xmlns:a16="http://schemas.microsoft.com/office/drawing/2014/main" id="{CA5BB347-404E-A680-ED4D-CC54E1914941}"/>
              </a:ext>
            </a:extLst>
          </p:cNvPr>
          <p:cNvPicPr>
            <a:picLocks noChangeAspect="1"/>
          </p:cNvPicPr>
          <p:nvPr/>
        </p:nvPicPr>
        <p:blipFill rotWithShape="1">
          <a:blip r:embed="rId3"/>
          <a:srcRect r="5882" b="-1"/>
          <a:stretch/>
        </p:blipFill>
        <p:spPr>
          <a:xfrm>
            <a:off x="6123214" y="800100"/>
            <a:ext cx="5323115" cy="4816929"/>
          </a:xfrm>
          <a:prstGeom prst="rect">
            <a:avLst/>
          </a:prstGeom>
        </p:spPr>
      </p:pic>
      <p:sp>
        <p:nvSpPr>
          <p:cNvPr id="2" name="Title 1">
            <a:extLst>
              <a:ext uri="{FF2B5EF4-FFF2-40B4-BE49-F238E27FC236}">
                <a16:creationId xmlns:a16="http://schemas.microsoft.com/office/drawing/2014/main" id="{15AB5554-31AE-203C-0E9A-3C921CCDD395}"/>
              </a:ext>
            </a:extLst>
          </p:cNvPr>
          <p:cNvSpPr>
            <a:spLocks noGrp="1"/>
          </p:cNvSpPr>
          <p:nvPr>
            <p:ph type="title"/>
          </p:nvPr>
        </p:nvSpPr>
        <p:spPr>
          <a:xfrm>
            <a:off x="838200" y="365125"/>
            <a:ext cx="3822189" cy="1899912"/>
          </a:xfrm>
        </p:spPr>
        <p:txBody>
          <a:bodyPr>
            <a:normAutofit/>
          </a:bodyPr>
          <a:lstStyle/>
          <a:p>
            <a:r>
              <a:rPr lang="en-IE" sz="4000"/>
              <a:t>Data Products</a:t>
            </a:r>
          </a:p>
        </p:txBody>
      </p:sp>
      <p:sp>
        <p:nvSpPr>
          <p:cNvPr id="3" name="Content Placeholder 2">
            <a:extLst>
              <a:ext uri="{FF2B5EF4-FFF2-40B4-BE49-F238E27FC236}">
                <a16:creationId xmlns:a16="http://schemas.microsoft.com/office/drawing/2014/main" id="{14DC2334-9E9D-4204-9EF5-1229140EB15B}"/>
              </a:ext>
            </a:extLst>
          </p:cNvPr>
          <p:cNvSpPr>
            <a:spLocks noGrp="1"/>
          </p:cNvSpPr>
          <p:nvPr>
            <p:ph idx="1"/>
          </p:nvPr>
        </p:nvSpPr>
        <p:spPr>
          <a:xfrm>
            <a:off x="838200" y="2434201"/>
            <a:ext cx="3822189" cy="3742762"/>
          </a:xfrm>
        </p:spPr>
        <p:txBody>
          <a:bodyPr>
            <a:normAutofit/>
          </a:bodyPr>
          <a:lstStyle/>
          <a:p>
            <a:r>
              <a:rPr lang="en-IE" sz="2000"/>
              <a:t>Data products (most of which can be described as services) are not generally sold separately to customers but are used to </a:t>
            </a:r>
          </a:p>
          <a:p>
            <a:pPr lvl="1"/>
            <a:r>
              <a:rPr lang="en-IE" sz="2000"/>
              <a:t>Attract customers for advertising</a:t>
            </a:r>
          </a:p>
          <a:p>
            <a:pPr lvl="1"/>
            <a:r>
              <a:rPr lang="en-IE" sz="2000"/>
              <a:t>Draw attention to unknown products in large product pools</a:t>
            </a:r>
          </a:p>
          <a:p>
            <a:pPr lvl="1"/>
            <a:r>
              <a:rPr lang="en-IE" sz="2000"/>
              <a:t>Cross-selling and upselling</a:t>
            </a:r>
          </a:p>
        </p:txBody>
      </p:sp>
      <p:sp>
        <p:nvSpPr>
          <p:cNvPr id="4" name="Slide Number Placeholder 3">
            <a:extLst>
              <a:ext uri="{FF2B5EF4-FFF2-40B4-BE49-F238E27FC236}">
                <a16:creationId xmlns:a16="http://schemas.microsoft.com/office/drawing/2014/main" id="{4455EE45-9047-BE49-2F6F-92A423C151A4}"/>
              </a:ext>
            </a:extLst>
          </p:cNvPr>
          <p:cNvSpPr>
            <a:spLocks noGrp="1"/>
          </p:cNvSpPr>
          <p:nvPr>
            <p:ph type="sldNum" sz="quarter" idx="4294967295"/>
          </p:nvPr>
        </p:nvSpPr>
        <p:spPr>
          <a:xfrm>
            <a:off x="9448800" y="6356350"/>
            <a:ext cx="2743200" cy="365125"/>
          </a:xfrm>
        </p:spPr>
        <p:txBody>
          <a:bodyPr>
            <a:normAutofit/>
          </a:bodyPr>
          <a:lstStyle/>
          <a:p>
            <a:pPr>
              <a:spcAft>
                <a:spcPts val="600"/>
              </a:spcAft>
              <a:defRPr/>
            </a:pPr>
            <a:r>
              <a:rPr lang="en-IE">
                <a:solidFill>
                  <a:srgbClr val="FFFFFF"/>
                </a:solidFill>
              </a:rPr>
              <a:t> Slide </a:t>
            </a:r>
            <a:fld id="{B20E48F1-442D-415E-BEBE-FB09171073EE}" type="slidenum">
              <a:rPr lang="en-IE">
                <a:solidFill>
                  <a:srgbClr val="FFFFFF"/>
                </a:solidFill>
              </a:rPr>
              <a:pPr>
                <a:spcAft>
                  <a:spcPts val="600"/>
                </a:spcAft>
                <a:defRPr/>
              </a:pPr>
              <a:t>13</a:t>
            </a:fld>
            <a:endParaRPr lang="en-IE">
              <a:solidFill>
                <a:srgbClr val="FFFFFF"/>
              </a:solidFill>
            </a:endParaRPr>
          </a:p>
        </p:txBody>
      </p:sp>
    </p:spTree>
    <p:extLst>
      <p:ext uri="{BB962C8B-B14F-4D97-AF65-F5344CB8AC3E}">
        <p14:creationId xmlns:p14="http://schemas.microsoft.com/office/powerpoint/2010/main" val="3884022473"/>
      </p:ext>
    </p:extLst>
  </p:cSld>
  <p:clrMapOvr>
    <a:masterClrMapping/>
  </p:clrMapOvr>
  <mc:AlternateContent xmlns:mc="http://schemas.openxmlformats.org/markup-compatibility/2006" xmlns:p14="http://schemas.microsoft.com/office/powerpoint/2010/main">
    <mc:Choice Requires="p14">
      <p:transition spd="slow" p14:dur="2000" advTm="15496"/>
    </mc:Choice>
    <mc:Fallback xmlns="">
      <p:transition spd="slow" advTm="1549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AWS Report (Feb 2025)</a:t>
            </a:r>
            <a:br>
              <a:rPr lang="en-US" dirty="0"/>
            </a:br>
            <a:r>
              <a:rPr lang="en-US" dirty="0"/>
              <a:t>Usage in Europe </a:t>
            </a:r>
            <a:endParaRPr lang="en-IE"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85864" y="2457450"/>
            <a:ext cx="8734521" cy="3228976"/>
          </a:xfrm>
        </p:spPr>
      </p:pic>
      <p:sp>
        <p:nvSpPr>
          <p:cNvPr id="8" name="TextBox 7"/>
          <p:cNvSpPr txBox="1"/>
          <p:nvPr/>
        </p:nvSpPr>
        <p:spPr>
          <a:xfrm>
            <a:off x="8296275" y="5857875"/>
            <a:ext cx="3261599" cy="646331"/>
          </a:xfrm>
          <a:prstGeom prst="rect">
            <a:avLst/>
          </a:prstGeom>
          <a:noFill/>
        </p:spPr>
        <p:txBody>
          <a:bodyPr wrap="none" rtlCol="0">
            <a:spAutoFit/>
          </a:bodyPr>
          <a:lstStyle/>
          <a:p>
            <a:r>
              <a:rPr lang="en-US" dirty="0"/>
              <a:t>Source Bloomberg: February 2025</a:t>
            </a:r>
            <a:endParaRPr lang="en-IE" dirty="0"/>
          </a:p>
          <a:p>
            <a:endParaRPr lang="en-IE" dirty="0"/>
          </a:p>
        </p:txBody>
      </p:sp>
    </p:spTree>
    <p:extLst>
      <p:ext uri="{BB962C8B-B14F-4D97-AF65-F5344CB8AC3E}">
        <p14:creationId xmlns:p14="http://schemas.microsoft.com/office/powerpoint/2010/main" val="1810698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AWS Report (Feb 2025)</a:t>
            </a:r>
            <a:br>
              <a:rPr lang="en-US" dirty="0"/>
            </a:br>
            <a:r>
              <a:rPr lang="en-US" dirty="0"/>
              <a:t>Usage in Europe </a:t>
            </a:r>
            <a:endParaRPr lang="en-IE"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2673" y="2557463"/>
            <a:ext cx="8866653" cy="3317875"/>
          </a:xfrm>
        </p:spPr>
      </p:pic>
      <p:sp>
        <p:nvSpPr>
          <p:cNvPr id="5" name="TextBox 4"/>
          <p:cNvSpPr txBox="1"/>
          <p:nvPr/>
        </p:nvSpPr>
        <p:spPr>
          <a:xfrm>
            <a:off x="8134350" y="6019800"/>
            <a:ext cx="3261599" cy="646331"/>
          </a:xfrm>
          <a:prstGeom prst="rect">
            <a:avLst/>
          </a:prstGeom>
          <a:noFill/>
        </p:spPr>
        <p:txBody>
          <a:bodyPr wrap="none" rtlCol="0">
            <a:spAutoFit/>
          </a:bodyPr>
          <a:lstStyle/>
          <a:p>
            <a:r>
              <a:rPr lang="en-US" dirty="0"/>
              <a:t>Source Bloomberg: February 2025</a:t>
            </a:r>
            <a:endParaRPr lang="en-IE" dirty="0"/>
          </a:p>
          <a:p>
            <a:endParaRPr lang="en-IE" dirty="0"/>
          </a:p>
        </p:txBody>
      </p:sp>
    </p:spTree>
    <p:extLst>
      <p:ext uri="{BB962C8B-B14F-4D97-AF65-F5344CB8AC3E}">
        <p14:creationId xmlns:p14="http://schemas.microsoft.com/office/powerpoint/2010/main" val="2899406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 AI in Cloud</a:t>
            </a:r>
            <a:endParaRPr lang="en-IE" dirty="0"/>
          </a:p>
        </p:txBody>
      </p:sp>
      <p:sp>
        <p:nvSpPr>
          <p:cNvPr id="3" name="Content Placeholder 2"/>
          <p:cNvSpPr>
            <a:spLocks noGrp="1"/>
          </p:cNvSpPr>
          <p:nvPr>
            <p:ph idx="1"/>
          </p:nvPr>
        </p:nvSpPr>
        <p:spPr/>
        <p:txBody>
          <a:bodyPr/>
          <a:lstStyle/>
          <a:p>
            <a:r>
              <a:rPr lang="en-US" dirty="0"/>
              <a:t>Offers low cost infrastructure</a:t>
            </a:r>
          </a:p>
          <a:p>
            <a:r>
              <a:rPr lang="en-US" dirty="0"/>
              <a:t>Security</a:t>
            </a:r>
          </a:p>
          <a:p>
            <a:r>
              <a:rPr lang="en-US" dirty="0"/>
              <a:t>High Performance</a:t>
            </a:r>
          </a:p>
          <a:p>
            <a:r>
              <a:rPr lang="en-US" dirty="0"/>
              <a:t>Choice of Models</a:t>
            </a:r>
            <a:endParaRPr lang="en-IE" dirty="0"/>
          </a:p>
        </p:txBody>
      </p:sp>
      <p:sp>
        <p:nvSpPr>
          <p:cNvPr id="4" name="TextBox 3"/>
          <p:cNvSpPr txBox="1"/>
          <p:nvPr/>
        </p:nvSpPr>
        <p:spPr>
          <a:xfrm>
            <a:off x="7943850" y="5695950"/>
            <a:ext cx="3261599" cy="646331"/>
          </a:xfrm>
          <a:prstGeom prst="rect">
            <a:avLst/>
          </a:prstGeom>
          <a:noFill/>
        </p:spPr>
        <p:txBody>
          <a:bodyPr wrap="none" rtlCol="0">
            <a:spAutoFit/>
          </a:bodyPr>
          <a:lstStyle/>
          <a:p>
            <a:r>
              <a:rPr lang="en-US" dirty="0"/>
              <a:t>Source Bloomberg: February 2025</a:t>
            </a:r>
            <a:endParaRPr lang="en-IE" dirty="0"/>
          </a:p>
          <a:p>
            <a:endParaRPr lang="en-IE" dirty="0"/>
          </a:p>
        </p:txBody>
      </p:sp>
    </p:spTree>
    <p:extLst>
      <p:ext uri="{BB962C8B-B14F-4D97-AF65-F5344CB8AC3E}">
        <p14:creationId xmlns:p14="http://schemas.microsoft.com/office/powerpoint/2010/main" val="4131924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 Offers Choice of LLMs</a:t>
            </a:r>
            <a:endParaRPr lang="en-IE" dirty="0"/>
          </a:p>
        </p:txBody>
      </p:sp>
      <p:sp>
        <p:nvSpPr>
          <p:cNvPr id="3" name="Content Placeholder 2"/>
          <p:cNvSpPr>
            <a:spLocks noGrp="1"/>
          </p:cNvSpPr>
          <p:nvPr>
            <p:ph idx="1"/>
          </p:nvPr>
        </p:nvSpPr>
        <p:spPr/>
        <p:txBody>
          <a:bodyPr/>
          <a:lstStyle/>
          <a:p>
            <a:r>
              <a:rPr lang="en-US" dirty="0"/>
              <a:t>Can use Amazon Bedrock to train multiple models</a:t>
            </a:r>
          </a:p>
          <a:p>
            <a:pPr marL="0" indent="0">
              <a:buNone/>
            </a:pPr>
            <a:r>
              <a:rPr lang="en-US" dirty="0"/>
              <a:t>-(including </a:t>
            </a:r>
            <a:r>
              <a:rPr lang="en-US" dirty="0" err="1"/>
              <a:t>Deepseek</a:t>
            </a:r>
            <a:r>
              <a:rPr lang="en-US" dirty="0"/>
              <a:t>)</a:t>
            </a:r>
          </a:p>
          <a:p>
            <a:endParaRPr lang="en-US" dirty="0"/>
          </a:p>
          <a:p>
            <a:endParaRPr lang="en-IE" dirty="0"/>
          </a:p>
        </p:txBody>
      </p:sp>
    </p:spTree>
    <p:extLst>
      <p:ext uri="{BB962C8B-B14F-4D97-AF65-F5344CB8AC3E}">
        <p14:creationId xmlns:p14="http://schemas.microsoft.com/office/powerpoint/2010/main" val="16526521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Examples</a:t>
            </a:r>
            <a:endParaRPr lang="en-IE" dirty="0"/>
          </a:p>
        </p:txBody>
      </p:sp>
      <p:sp>
        <p:nvSpPr>
          <p:cNvPr id="3" name="Content Placeholder 2"/>
          <p:cNvSpPr>
            <a:spLocks noGrp="1"/>
          </p:cNvSpPr>
          <p:nvPr>
            <p:ph idx="1"/>
          </p:nvPr>
        </p:nvSpPr>
        <p:spPr/>
        <p:txBody>
          <a:bodyPr/>
          <a:lstStyle/>
          <a:p>
            <a:r>
              <a:rPr lang="en-US" dirty="0"/>
              <a:t>BT uses Amazon’s Q product: time to write code is reduced by 12%</a:t>
            </a:r>
          </a:p>
          <a:p>
            <a:r>
              <a:rPr lang="en-US" dirty="0"/>
              <a:t>French Medical Device Company – uses AWS to convert Medical Documents to French Regulatory documents, used to take months, now seconds</a:t>
            </a:r>
            <a:endParaRPr lang="en-IE" dirty="0"/>
          </a:p>
        </p:txBody>
      </p:sp>
      <p:sp>
        <p:nvSpPr>
          <p:cNvPr id="4" name="TextBox 3"/>
          <p:cNvSpPr txBox="1"/>
          <p:nvPr/>
        </p:nvSpPr>
        <p:spPr>
          <a:xfrm>
            <a:off x="7896225" y="5772150"/>
            <a:ext cx="3261599" cy="646331"/>
          </a:xfrm>
          <a:prstGeom prst="rect">
            <a:avLst/>
          </a:prstGeom>
          <a:noFill/>
        </p:spPr>
        <p:txBody>
          <a:bodyPr wrap="none" rtlCol="0">
            <a:spAutoFit/>
          </a:bodyPr>
          <a:lstStyle/>
          <a:p>
            <a:r>
              <a:rPr lang="en-US" dirty="0"/>
              <a:t>Source Bloomberg: February 2025</a:t>
            </a:r>
            <a:endParaRPr lang="en-IE" dirty="0"/>
          </a:p>
          <a:p>
            <a:endParaRPr lang="en-IE" dirty="0"/>
          </a:p>
        </p:txBody>
      </p:sp>
    </p:spTree>
    <p:extLst>
      <p:ext uri="{BB962C8B-B14F-4D97-AF65-F5344CB8AC3E}">
        <p14:creationId xmlns:p14="http://schemas.microsoft.com/office/powerpoint/2010/main" val="947188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722" y="586855"/>
            <a:ext cx="3201366" cy="3387497"/>
          </a:xfrm>
        </p:spPr>
        <p:style>
          <a:lnRef idx="1">
            <a:schemeClr val="accent1"/>
          </a:lnRef>
          <a:fillRef idx="2">
            <a:schemeClr val="accent1"/>
          </a:fillRef>
          <a:effectRef idx="1">
            <a:schemeClr val="accent1"/>
          </a:effectRef>
          <a:fontRef idx="minor">
            <a:schemeClr val="dk1"/>
          </a:fontRef>
        </p:style>
        <p:txBody>
          <a:bodyPr anchor="b">
            <a:normAutofit/>
          </a:bodyPr>
          <a:lstStyle/>
          <a:p>
            <a:pPr algn="r"/>
            <a:r>
              <a:rPr lang="en-GB" sz="4000" dirty="0">
                <a:solidFill>
                  <a:srgbClr val="FFFFFF"/>
                </a:solidFill>
              </a:rPr>
              <a:t>Chip Wars </a:t>
            </a:r>
            <a:br>
              <a:rPr lang="en-GB" sz="4000" dirty="0">
                <a:solidFill>
                  <a:srgbClr val="FFFFFF"/>
                </a:solidFill>
              </a:rPr>
            </a:br>
            <a:br>
              <a:rPr lang="en-GB" sz="4000" dirty="0">
                <a:solidFill>
                  <a:srgbClr val="FFFFFF"/>
                </a:solidFill>
              </a:rPr>
            </a:br>
            <a:r>
              <a:rPr lang="en-GB" sz="4000" dirty="0">
                <a:solidFill>
                  <a:srgbClr val="FFFFFF"/>
                </a:solidFill>
              </a:rPr>
              <a:t> </a:t>
            </a:r>
          </a:p>
        </p:txBody>
      </p:sp>
      <p:sp>
        <p:nvSpPr>
          <p:cNvPr id="3" name="Content Placeholder 2"/>
          <p:cNvSpPr>
            <a:spLocks noGrp="1"/>
          </p:cNvSpPr>
          <p:nvPr>
            <p:ph idx="1"/>
          </p:nvPr>
        </p:nvSpPr>
        <p:spPr>
          <a:xfrm>
            <a:off x="4810259" y="649480"/>
            <a:ext cx="6555347" cy="5546047"/>
          </a:xfrm>
        </p:spPr>
        <p:txBody>
          <a:bodyPr anchor="ctr">
            <a:normAutofit lnSpcReduction="10000"/>
          </a:bodyPr>
          <a:lstStyle/>
          <a:p>
            <a:endParaRPr lang="en-GB" sz="2000" dirty="0"/>
          </a:p>
          <a:p>
            <a:r>
              <a:rPr lang="en-IE" dirty="0"/>
              <a:t>GPUs (Graphical Processing Units) was created by </a:t>
            </a:r>
            <a:r>
              <a:rPr lang="en-IE" dirty="0" err="1"/>
              <a:t>Nvidia</a:t>
            </a:r>
            <a:r>
              <a:rPr lang="en-IE" dirty="0"/>
              <a:t> in 1999.</a:t>
            </a:r>
          </a:p>
          <a:p>
            <a:r>
              <a:rPr lang="en-IE" dirty="0"/>
              <a:t>It allows faster processing because it used matrix calculations instead of linear calculations </a:t>
            </a:r>
          </a:p>
          <a:p>
            <a:r>
              <a:rPr lang="en-IE" dirty="0" err="1"/>
              <a:t>OpenAI’s</a:t>
            </a:r>
            <a:r>
              <a:rPr lang="en-IE" dirty="0"/>
              <a:t> </a:t>
            </a:r>
            <a:r>
              <a:rPr lang="en-IE" dirty="0" err="1"/>
              <a:t>ChatGPT</a:t>
            </a:r>
            <a:r>
              <a:rPr lang="en-IE" dirty="0"/>
              <a:t> was trained on a supercomputer build by Microsoft using </a:t>
            </a:r>
            <a:r>
              <a:rPr lang="en-IE" dirty="0" err="1"/>
              <a:t>Nvidia</a:t>
            </a:r>
            <a:r>
              <a:rPr lang="en-IE" dirty="0"/>
              <a:t> GPUs.</a:t>
            </a:r>
          </a:p>
          <a:p>
            <a:r>
              <a:rPr lang="en-IE" dirty="0"/>
              <a:t>Each GPU costs </a:t>
            </a:r>
            <a:r>
              <a:rPr lang="en-IE" dirty="0" err="1"/>
              <a:t>upto</a:t>
            </a:r>
            <a:r>
              <a:rPr lang="en-IE" dirty="0"/>
              <a:t> $250,000, and Microsoft’s GPT computer contains about 10,000</a:t>
            </a:r>
          </a:p>
          <a:p>
            <a:endParaRPr lang="en-IE" dirty="0"/>
          </a:p>
          <a:p>
            <a:r>
              <a:rPr lang="en-IE" sz="1600" i="1" dirty="0"/>
              <a:t>Reference Investor’s Chronicle, Feb 2023</a:t>
            </a:r>
          </a:p>
          <a:p>
            <a:endParaRPr lang="en-GB" sz="2000" dirty="0"/>
          </a:p>
        </p:txBody>
      </p:sp>
    </p:spTree>
    <p:extLst>
      <p:ext uri="{BB962C8B-B14F-4D97-AF65-F5344CB8AC3E}">
        <p14:creationId xmlns:p14="http://schemas.microsoft.com/office/powerpoint/2010/main" val="26793399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lowchart: Document 8">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rgbClr val="2F3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 </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92293" y="640080"/>
            <a:ext cx="5578816" cy="5578816"/>
          </a:xfrm>
          <a:prstGeom prst="rect">
            <a:avLst/>
          </a:prstGeom>
        </p:spPr>
      </p:pic>
    </p:spTree>
    <p:extLst>
      <p:ext uri="{BB962C8B-B14F-4D97-AF65-F5344CB8AC3E}">
        <p14:creationId xmlns:p14="http://schemas.microsoft.com/office/powerpoint/2010/main" val="1350240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style>
          <a:lnRef idx="1">
            <a:schemeClr val="accent1"/>
          </a:lnRef>
          <a:fillRef idx="2">
            <a:schemeClr val="accent1"/>
          </a:fillRef>
          <a:effectRef idx="1">
            <a:schemeClr val="accent1"/>
          </a:effectRef>
          <a:fontRef idx="minor">
            <a:schemeClr val="dk1"/>
          </a:fontRef>
        </p:style>
        <p:txBody>
          <a:bodyPr anchor="b">
            <a:normAutofit/>
          </a:bodyPr>
          <a:lstStyle/>
          <a:p>
            <a:pPr algn="r"/>
            <a:r>
              <a:rPr lang="en-GB" sz="4000">
                <a:solidFill>
                  <a:srgbClr val="FFFFFF"/>
                </a:solidFill>
              </a:rPr>
              <a:t> </a:t>
            </a:r>
          </a:p>
        </p:txBody>
      </p:sp>
      <p:sp>
        <p:nvSpPr>
          <p:cNvPr id="3" name="Content Placeholder 2"/>
          <p:cNvSpPr>
            <a:spLocks noGrp="1"/>
          </p:cNvSpPr>
          <p:nvPr>
            <p:ph idx="1"/>
          </p:nvPr>
        </p:nvSpPr>
        <p:spPr>
          <a:xfrm>
            <a:off x="4810259" y="649480"/>
            <a:ext cx="6555347" cy="5546047"/>
          </a:xfrm>
        </p:spPr>
        <p:txBody>
          <a:bodyPr anchor="ctr">
            <a:normAutofit/>
          </a:bodyPr>
          <a:lstStyle/>
          <a:p>
            <a:endParaRPr lang="en-GB" sz="2000" dirty="0"/>
          </a:p>
          <a:p>
            <a:r>
              <a:rPr lang="en-GB" sz="2000" dirty="0" err="1"/>
              <a:t>OpenAI</a:t>
            </a:r>
            <a:r>
              <a:rPr lang="en-GB" sz="2000" dirty="0"/>
              <a:t> was co-founded in 2015 by Elon Musk and Sam Altman and is backed by well-known investors — </a:t>
            </a:r>
            <a:r>
              <a:rPr lang="en-GB" sz="2000" dirty="0" err="1"/>
              <a:t>e.g.,Microsoft</a:t>
            </a:r>
            <a:r>
              <a:rPr lang="en-GB" sz="2000" dirty="0"/>
              <a:t>. </a:t>
            </a:r>
          </a:p>
          <a:p>
            <a:endParaRPr lang="en-GB" sz="2000" dirty="0"/>
          </a:p>
          <a:p>
            <a:r>
              <a:rPr lang="en-GB" sz="2000" dirty="0"/>
              <a:t>Since November 2022, when </a:t>
            </a:r>
            <a:r>
              <a:rPr lang="en-GB" sz="2000" dirty="0" err="1"/>
              <a:t>OpenAi</a:t>
            </a:r>
            <a:r>
              <a:rPr lang="en-GB" sz="2000" dirty="0"/>
              <a:t>, the company which makes </a:t>
            </a:r>
            <a:r>
              <a:rPr lang="en-GB" sz="2000" dirty="0" err="1"/>
              <a:t>ChatGPT</a:t>
            </a:r>
            <a:r>
              <a:rPr lang="en-GB" sz="2000" dirty="0"/>
              <a:t>, first opened the chatbot to the public, there has been little else that the tech elite has wanted to talk about. </a:t>
            </a:r>
          </a:p>
          <a:p>
            <a:pPr marL="0" indent="0">
              <a:buNone/>
            </a:pPr>
            <a:endParaRPr lang="en-GB" sz="2000" dirty="0"/>
          </a:p>
          <a:p>
            <a:pPr marL="0" indent="0">
              <a:buNone/>
            </a:pPr>
            <a:endParaRPr lang="en-GB" sz="2000" dirty="0"/>
          </a:p>
        </p:txBody>
      </p:sp>
    </p:spTree>
    <p:extLst>
      <p:ext uri="{BB962C8B-B14F-4D97-AF65-F5344CB8AC3E}">
        <p14:creationId xmlns:p14="http://schemas.microsoft.com/office/powerpoint/2010/main" val="1218574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8" name="Rectangle 5137">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style>
          <a:lnRef idx="1">
            <a:schemeClr val="accent1"/>
          </a:lnRef>
          <a:fillRef idx="2">
            <a:schemeClr val="accent1"/>
          </a:fillRef>
          <a:effectRef idx="1">
            <a:schemeClr val="accent1"/>
          </a:effectRef>
          <a:fontRef idx="minor">
            <a:schemeClr val="dk1"/>
          </a:fontRef>
        </p:style>
        <p:txBody>
          <a:bodyPr anchor="b">
            <a:normAutofit/>
          </a:bodyPr>
          <a:lstStyle/>
          <a:p>
            <a:r>
              <a:rPr lang="en-GB" sz="4800"/>
              <a:t> </a:t>
            </a:r>
          </a:p>
        </p:txBody>
      </p:sp>
      <p:sp>
        <p:nvSpPr>
          <p:cNvPr id="5140" name="Rectangle 513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2" name="Rectangle 5141">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3661" y="2599509"/>
            <a:ext cx="4530898" cy="3639450"/>
          </a:xfrm>
        </p:spPr>
        <p:txBody>
          <a:bodyPr anchor="ctr">
            <a:normAutofit/>
          </a:bodyPr>
          <a:lstStyle/>
          <a:p>
            <a:pPr marL="0" indent="0">
              <a:buNone/>
            </a:pPr>
            <a:endParaRPr lang="en-GB" dirty="0"/>
          </a:p>
          <a:p>
            <a:r>
              <a:rPr lang="en-GB" dirty="0"/>
              <a:t>ChatGPT is seen as a threat to Google search?</a:t>
            </a:r>
          </a:p>
        </p:txBody>
      </p:sp>
      <p:sp>
        <p:nvSpPr>
          <p:cNvPr id="5144" name="Rectangle 5143">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31312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2457F-9682-0418-8FEF-188CE8BBDB56}"/>
              </a:ext>
            </a:extLst>
          </p:cNvPr>
          <p:cNvSpPr>
            <a:spLocks noGrp="1"/>
          </p:cNvSpPr>
          <p:nvPr>
            <p:ph type="title"/>
          </p:nvPr>
        </p:nvSpPr>
        <p:spPr/>
        <p:txBody>
          <a:bodyPr/>
          <a:lstStyle/>
          <a:p>
            <a:r>
              <a:rPr lang="en-GB" dirty="0"/>
              <a:t> </a:t>
            </a:r>
          </a:p>
        </p:txBody>
      </p:sp>
      <p:pic>
        <p:nvPicPr>
          <p:cNvPr id="5" name="Content Placeholder 4" descr="A screen shot of a computer&#10;&#10;AI-generated content may be incorrect.">
            <a:extLst>
              <a:ext uri="{FF2B5EF4-FFF2-40B4-BE49-F238E27FC236}">
                <a16:creationId xmlns:a16="http://schemas.microsoft.com/office/drawing/2014/main" id="{DAAB314E-E86E-BFED-95FF-341CE3027B88}"/>
              </a:ext>
            </a:extLst>
          </p:cNvPr>
          <p:cNvPicPr>
            <a:picLocks noGrp="1" noChangeAspect="1"/>
          </p:cNvPicPr>
          <p:nvPr>
            <p:ph idx="1"/>
          </p:nvPr>
        </p:nvPicPr>
        <p:blipFill>
          <a:blip r:embed="rId2"/>
          <a:stretch>
            <a:fillRect/>
          </a:stretch>
        </p:blipFill>
        <p:spPr>
          <a:xfrm>
            <a:off x="2706977" y="1825625"/>
            <a:ext cx="6778045" cy="4351338"/>
          </a:xfrm>
        </p:spPr>
      </p:pic>
      <p:sp>
        <p:nvSpPr>
          <p:cNvPr id="7" name="TextBox 6">
            <a:extLst>
              <a:ext uri="{FF2B5EF4-FFF2-40B4-BE49-F238E27FC236}">
                <a16:creationId xmlns:a16="http://schemas.microsoft.com/office/drawing/2014/main" id="{0E6EB96C-3909-819C-B45B-239429583825}"/>
              </a:ext>
            </a:extLst>
          </p:cNvPr>
          <p:cNvSpPr txBox="1"/>
          <p:nvPr/>
        </p:nvSpPr>
        <p:spPr>
          <a:xfrm>
            <a:off x="23444" y="6362674"/>
            <a:ext cx="6096000" cy="369332"/>
          </a:xfrm>
          <a:prstGeom prst="rect">
            <a:avLst/>
          </a:prstGeom>
          <a:noFill/>
        </p:spPr>
        <p:txBody>
          <a:bodyPr wrap="square">
            <a:spAutoFit/>
          </a:bodyPr>
          <a:lstStyle/>
          <a:p>
            <a:r>
              <a:rPr lang="en-GB" sz="1800" dirty="0"/>
              <a:t>Source CNBC Dec 2025</a:t>
            </a:r>
          </a:p>
        </p:txBody>
      </p:sp>
    </p:spTree>
    <p:extLst>
      <p:ext uri="{BB962C8B-B14F-4D97-AF65-F5344CB8AC3E}">
        <p14:creationId xmlns:p14="http://schemas.microsoft.com/office/powerpoint/2010/main" val="269512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DA844-0BA9-C3BC-C14B-56A9E2406056}"/>
              </a:ext>
            </a:extLst>
          </p:cNvPr>
          <p:cNvSpPr>
            <a:spLocks noGrp="1"/>
          </p:cNvSpPr>
          <p:nvPr>
            <p:ph type="title"/>
          </p:nvPr>
        </p:nvSpPr>
        <p:spPr/>
        <p:txBody>
          <a:bodyPr/>
          <a:lstStyle/>
          <a:p>
            <a:r>
              <a:rPr lang="en-GB" dirty="0"/>
              <a:t> </a:t>
            </a:r>
          </a:p>
        </p:txBody>
      </p:sp>
      <p:pic>
        <p:nvPicPr>
          <p:cNvPr id="9" name="Content Placeholder 8" descr="A screen shot of a computer">
            <a:extLst>
              <a:ext uri="{FF2B5EF4-FFF2-40B4-BE49-F238E27FC236}">
                <a16:creationId xmlns:a16="http://schemas.microsoft.com/office/drawing/2014/main" id="{73FC7418-FFF1-EE61-D249-BB284E30EA7B}"/>
              </a:ext>
            </a:extLst>
          </p:cNvPr>
          <p:cNvPicPr>
            <a:picLocks noGrp="1" noChangeAspect="1"/>
          </p:cNvPicPr>
          <p:nvPr>
            <p:ph idx="1"/>
          </p:nvPr>
        </p:nvPicPr>
        <p:blipFill>
          <a:blip r:embed="rId2"/>
          <a:stretch>
            <a:fillRect/>
          </a:stretch>
        </p:blipFill>
        <p:spPr>
          <a:xfrm>
            <a:off x="2691451" y="1825625"/>
            <a:ext cx="6809098" cy="4351338"/>
          </a:xfrm>
        </p:spPr>
      </p:pic>
      <p:sp>
        <p:nvSpPr>
          <p:cNvPr id="10" name="TextBox 9">
            <a:extLst>
              <a:ext uri="{FF2B5EF4-FFF2-40B4-BE49-F238E27FC236}">
                <a16:creationId xmlns:a16="http://schemas.microsoft.com/office/drawing/2014/main" id="{6E135E46-3A6F-4C61-178C-C92FB3CB672B}"/>
              </a:ext>
            </a:extLst>
          </p:cNvPr>
          <p:cNvSpPr txBox="1"/>
          <p:nvPr/>
        </p:nvSpPr>
        <p:spPr>
          <a:xfrm>
            <a:off x="9917723" y="6365631"/>
            <a:ext cx="1847557" cy="307777"/>
          </a:xfrm>
          <a:prstGeom prst="rect">
            <a:avLst/>
          </a:prstGeom>
          <a:noFill/>
        </p:spPr>
        <p:txBody>
          <a:bodyPr wrap="none" rtlCol="0">
            <a:spAutoFit/>
          </a:bodyPr>
          <a:lstStyle/>
          <a:p>
            <a:r>
              <a:rPr lang="en-GB" sz="1400" dirty="0"/>
              <a:t>Source CNBC Dec 2025</a:t>
            </a:r>
          </a:p>
        </p:txBody>
      </p:sp>
    </p:spTree>
    <p:extLst>
      <p:ext uri="{BB962C8B-B14F-4D97-AF65-F5344CB8AC3E}">
        <p14:creationId xmlns:p14="http://schemas.microsoft.com/office/powerpoint/2010/main" val="2719316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E" dirty="0"/>
          </a:p>
        </p:txBody>
      </p:sp>
      <p:sp>
        <p:nvSpPr>
          <p:cNvPr id="3" name="Content Placeholder 2"/>
          <p:cNvSpPr>
            <a:spLocks noGrp="1"/>
          </p:cNvSpPr>
          <p:nvPr>
            <p:ph idx="1"/>
          </p:nvPr>
        </p:nvSpPr>
        <p:spPr>
          <a:xfrm>
            <a:off x="838200" y="1825625"/>
            <a:ext cx="6574971" cy="4351338"/>
          </a:xfrm>
        </p:spPr>
        <p:txBody>
          <a:bodyPr>
            <a:normAutofit/>
          </a:bodyPr>
          <a:lstStyle/>
          <a:p>
            <a:r>
              <a:rPr lang="en-US" dirty="0"/>
              <a:t>January 2025: Google to invest fresh $1bln in </a:t>
            </a:r>
            <a:r>
              <a:rPr lang="en-US" dirty="0" err="1"/>
              <a:t>OpenAI</a:t>
            </a:r>
            <a:r>
              <a:rPr lang="en-US" dirty="0"/>
              <a:t> rival Anthropic, FT article</a:t>
            </a:r>
          </a:p>
          <a:p>
            <a:r>
              <a:rPr lang="en-US" dirty="0"/>
              <a:t>Anthropic -AI start-ups company</a:t>
            </a:r>
          </a:p>
          <a:p>
            <a:r>
              <a:rPr lang="en-US" dirty="0"/>
              <a:t>Tech titans Amazon and Alphabet have invested billions of dollars into the company.</a:t>
            </a:r>
          </a:p>
          <a:p>
            <a:r>
              <a:rPr lang="en-US" dirty="0"/>
              <a:t>Its AI </a:t>
            </a:r>
            <a:r>
              <a:rPr lang="en-US" dirty="0" err="1"/>
              <a:t>chatbot</a:t>
            </a:r>
            <a:r>
              <a:rPr lang="en-US" dirty="0"/>
              <a:t>, Claude, rivals the capabilities of </a:t>
            </a:r>
            <a:r>
              <a:rPr lang="en-US" dirty="0" err="1"/>
              <a:t>ChatGPT</a:t>
            </a:r>
            <a:r>
              <a:rPr lang="en-US" dirty="0"/>
              <a:t>.</a:t>
            </a:r>
          </a:p>
          <a:p>
            <a:endParaRPr lang="en-US" dirty="0"/>
          </a:p>
          <a:p>
            <a:endParaRPr lang="en-US" dirty="0"/>
          </a:p>
          <a:p>
            <a:endParaRPr lang="en-US" dirty="0"/>
          </a:p>
          <a:p>
            <a:endParaRPr lang="en-IE" dirty="0"/>
          </a:p>
        </p:txBody>
      </p:sp>
      <p:sp>
        <p:nvSpPr>
          <p:cNvPr id="4" name="AutoShape 2" descr="Anthropic Stock Price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E"/>
          </a:p>
        </p:txBody>
      </p:sp>
      <p:sp>
        <p:nvSpPr>
          <p:cNvPr id="5" name="AutoShape 4" descr="Anthropic Stock Price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E"/>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72375" y="3439887"/>
            <a:ext cx="2952750" cy="2317976"/>
          </a:xfrm>
          <a:prstGeom prst="rect">
            <a:avLst/>
          </a:prstGeom>
        </p:spPr>
      </p:pic>
    </p:spTree>
    <p:extLst>
      <p:ext uri="{BB962C8B-B14F-4D97-AF65-F5344CB8AC3E}">
        <p14:creationId xmlns:p14="http://schemas.microsoft.com/office/powerpoint/2010/main" val="2495804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4743-6BBC-87DD-B4D7-B6A934307646}"/>
              </a:ext>
            </a:extLst>
          </p:cNvPr>
          <p:cNvSpPr>
            <a:spLocks noGrp="1"/>
          </p:cNvSpPr>
          <p:nvPr>
            <p:ph type="title"/>
          </p:nvPr>
        </p:nvSpPr>
        <p:spPr>
          <a:xfrm>
            <a:off x="8029293" y="806364"/>
            <a:ext cx="3354636" cy="2847413"/>
          </a:xfrm>
        </p:spPr>
        <p:txBody>
          <a:bodyPr vert="horz" lIns="91440" tIns="45720" rIns="91440" bIns="45720" rtlCol="0" anchor="b">
            <a:normAutofit/>
          </a:bodyPr>
          <a:lstStyle/>
          <a:p>
            <a:r>
              <a:rPr lang="en-US" sz="6000" kern="1200">
                <a:solidFill>
                  <a:schemeClr val="tx1"/>
                </a:solidFill>
                <a:latin typeface="+mj-lt"/>
                <a:ea typeface="+mj-ea"/>
                <a:cs typeface="+mj-cs"/>
              </a:rPr>
              <a:t>Satya Nadella</a:t>
            </a:r>
          </a:p>
        </p:txBody>
      </p:sp>
      <p:sp>
        <p:nvSpPr>
          <p:cNvPr id="3" name="Content Placeholder 2">
            <a:extLst>
              <a:ext uri="{FF2B5EF4-FFF2-40B4-BE49-F238E27FC236}">
                <a16:creationId xmlns:a16="http://schemas.microsoft.com/office/drawing/2014/main" id="{9438E391-7E94-6499-3CA6-A7614496E001}"/>
              </a:ext>
            </a:extLst>
          </p:cNvPr>
          <p:cNvSpPr>
            <a:spLocks noGrp="1"/>
          </p:cNvSpPr>
          <p:nvPr>
            <p:ph idx="1"/>
          </p:nvPr>
        </p:nvSpPr>
        <p:spPr>
          <a:xfrm>
            <a:off x="8029293" y="3703250"/>
            <a:ext cx="2435507" cy="1122750"/>
          </a:xfrm>
        </p:spPr>
        <p:txBody>
          <a:bodyPr vert="horz" lIns="91440" tIns="45720" rIns="91440" bIns="45720" rtlCol="0" anchor="t">
            <a:normAutofit/>
          </a:bodyPr>
          <a:lstStyle/>
          <a:p>
            <a:pPr marL="0" indent="0">
              <a:buNone/>
            </a:pPr>
            <a:r>
              <a:rPr lang="en-US" sz="2000" kern="1200" dirty="0">
                <a:solidFill>
                  <a:schemeClr val="tx1"/>
                </a:solidFill>
                <a:latin typeface="+mn-lt"/>
                <a:ea typeface="+mn-ea"/>
                <a:cs typeface="+mn-cs"/>
              </a:rPr>
              <a:t>https://www.youtube.com/watch?v=tAxQIpp4uQA</a:t>
            </a:r>
          </a:p>
        </p:txBody>
      </p:sp>
      <p:pic>
        <p:nvPicPr>
          <p:cNvPr id="6" name="Picture 5" descr="   A person wearing glasses and smiling">
            <a:extLst>
              <a:ext uri="{FF2B5EF4-FFF2-40B4-BE49-F238E27FC236}">
                <a16:creationId xmlns:a16="http://schemas.microsoft.com/office/drawing/2014/main" id="{260E40AC-D94E-8EB6-D67F-7CA9659DCB17}"/>
              </a:ext>
            </a:extLst>
          </p:cNvPr>
          <p:cNvPicPr>
            <a:picLocks noChangeAspect="1"/>
          </p:cNvPicPr>
          <p:nvPr/>
        </p:nvPicPr>
        <p:blipFill>
          <a:blip r:embed="rId2"/>
          <a:stretch>
            <a:fillRect/>
          </a:stretch>
        </p:blipFill>
        <p:spPr>
          <a:xfrm>
            <a:off x="1296558" y="1271313"/>
            <a:ext cx="5604636" cy="4297855"/>
          </a:xfrm>
          <a:prstGeom prst="rect">
            <a:avLst/>
          </a:prstGeom>
        </p:spPr>
      </p:pic>
    </p:spTree>
    <p:extLst>
      <p:ext uri="{BB962C8B-B14F-4D97-AF65-F5344CB8AC3E}">
        <p14:creationId xmlns:p14="http://schemas.microsoft.com/office/powerpoint/2010/main" val="3247126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42" name="Picture 2" descr="Chat GPT Explained in 5 Minutes | What Is Chat GPT ? | Introduction To Chat  GPT | Simplilearn - YouTube">
            <a:extLst>
              <a:ext uri="{FF2B5EF4-FFF2-40B4-BE49-F238E27FC236}">
                <a16:creationId xmlns:a16="http://schemas.microsoft.com/office/drawing/2014/main" id="{A320D6F9-4AE3-C859-3669-B671DC44F130}"/>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256" name="Rectangle 10255">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85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E07128-ED57-2A13-4D5A-A357A6915C17}"/>
              </a:ext>
            </a:extLst>
          </p:cNvPr>
          <p:cNvSpPr>
            <a:spLocks noGrp="1"/>
          </p:cNvSpPr>
          <p:nvPr>
            <p:ph type="title"/>
          </p:nvPr>
        </p:nvSpPr>
        <p:spPr>
          <a:xfrm>
            <a:off x="523875" y="425950"/>
            <a:ext cx="11210925" cy="744836"/>
          </a:xfrm>
        </p:spPr>
        <p:txBody>
          <a:bodyPr vert="horz" lIns="91440" tIns="45720" rIns="91440" bIns="45720" rtlCol="0" anchor="ctr">
            <a:normAutofit/>
          </a:bodyPr>
          <a:lstStyle/>
          <a:p>
            <a:pPr algn="ctr"/>
            <a:r>
              <a:rPr lang="en-US" sz="3600" dirty="0">
                <a:solidFill>
                  <a:schemeClr val="tx1">
                    <a:lumMod val="85000"/>
                    <a:lumOff val="15000"/>
                  </a:schemeClr>
                </a:solidFill>
              </a:rPr>
              <a:t>  </a:t>
            </a:r>
          </a:p>
        </p:txBody>
      </p:sp>
      <p:cxnSp>
        <p:nvCxnSpPr>
          <p:cNvPr id="10258" name="Straight Connector 10257">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5069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0260" name="Straight Connector 10259">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4356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8905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anchor="ctr">
            <a:normAutofit/>
          </a:bodyPr>
          <a:lstStyle/>
          <a:p>
            <a:r>
              <a:rPr lang="en-GB" sz="4000" dirty="0"/>
              <a:t>What is </a:t>
            </a:r>
            <a:r>
              <a:rPr lang="en-GB" sz="4000" dirty="0" err="1"/>
              <a:t>ChatGPT</a:t>
            </a:r>
            <a:r>
              <a:rPr lang="en-GB" sz="4000" dirty="0"/>
              <a:t>?</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90719" y="2330505"/>
            <a:ext cx="4559425" cy="3979585"/>
          </a:xfrm>
        </p:spPr>
        <p:txBody>
          <a:bodyPr anchor="ctr">
            <a:normAutofit/>
          </a:bodyPr>
          <a:lstStyle/>
          <a:p>
            <a:r>
              <a:rPr lang="en-GB" sz="2000"/>
              <a:t>In its own description, ChatGPT is “an AI-powered chatbot developed by OpenAI, based on the GPT (Generative Pretrained Transformer) language model.</a:t>
            </a:r>
          </a:p>
          <a:p>
            <a:r>
              <a:rPr lang="en-GB" sz="2000"/>
              <a:t> It uses deep learning techniques to generate human-like responses to text inputs in a conversational manner.”</a:t>
            </a:r>
          </a:p>
          <a:p>
            <a:endParaRPr lang="en-GB" sz="200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eople in hi-tech suites">
            <a:extLst>
              <a:ext uri="{FF2B5EF4-FFF2-40B4-BE49-F238E27FC236}">
                <a16:creationId xmlns:a16="http://schemas.microsoft.com/office/drawing/2014/main" id="{9974B507-4EFA-4FE1-122A-EA6F78BF6F04}"/>
              </a:ext>
            </a:extLst>
          </p:cNvPr>
          <p:cNvPicPr>
            <a:picLocks noChangeAspect="1"/>
          </p:cNvPicPr>
          <p:nvPr/>
        </p:nvPicPr>
        <p:blipFill rotWithShape="1">
          <a:blip r:embed="rId2"/>
          <a:srcRect l="4260" r="26883" b="1"/>
          <a:stretch/>
        </p:blipFill>
        <p:spPr>
          <a:xfrm>
            <a:off x="5977788" y="799352"/>
            <a:ext cx="5425410" cy="5259296"/>
          </a:xfrm>
          <a:prstGeom prst="rect">
            <a:avLst/>
          </a:prstGeom>
        </p:spPr>
      </p:pic>
    </p:spTree>
    <p:extLst>
      <p:ext uri="{BB962C8B-B14F-4D97-AF65-F5344CB8AC3E}">
        <p14:creationId xmlns:p14="http://schemas.microsoft.com/office/powerpoint/2010/main" val="26460493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2" name="Rectangle 6151">
            <a:extLst>
              <a:ext uri="{FF2B5EF4-FFF2-40B4-BE49-F238E27FC236}">
                <a16:creationId xmlns:a16="http://schemas.microsoft.com/office/drawing/2014/main" id="{FF81F8D5-515A-45DC-B296-30AB11F2C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4" name="Rectangle 6153">
            <a:extLst>
              <a:ext uri="{FF2B5EF4-FFF2-40B4-BE49-F238E27FC236}">
                <a16:creationId xmlns:a16="http://schemas.microsoft.com/office/drawing/2014/main" id="{90464369-70FA-42AF-948F-80664CA7B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1646" y="349664"/>
            <a:ext cx="5845571" cy="1638377"/>
          </a:xfrm>
        </p:spPr>
        <p:txBody>
          <a:bodyPr anchor="b">
            <a:normAutofit/>
          </a:bodyPr>
          <a:lstStyle/>
          <a:p>
            <a:r>
              <a:rPr lang="en-GB" sz="4800"/>
              <a:t> </a:t>
            </a:r>
          </a:p>
        </p:txBody>
      </p:sp>
      <p:sp>
        <p:nvSpPr>
          <p:cNvPr id="3" name="Content Placeholder 2"/>
          <p:cNvSpPr>
            <a:spLocks noGrp="1"/>
          </p:cNvSpPr>
          <p:nvPr>
            <p:ph idx="1"/>
          </p:nvPr>
        </p:nvSpPr>
        <p:spPr>
          <a:xfrm>
            <a:off x="655207" y="568411"/>
            <a:ext cx="5837750" cy="4834243"/>
          </a:xfrm>
        </p:spPr>
        <p:txBody>
          <a:bodyPr anchor="ctr">
            <a:normAutofit/>
          </a:bodyPr>
          <a:lstStyle/>
          <a:p>
            <a:r>
              <a:rPr lang="en-GB" sz="2000" dirty="0" err="1"/>
              <a:t>ChatGPT</a:t>
            </a:r>
            <a:r>
              <a:rPr lang="en-GB" sz="2000" dirty="0"/>
              <a:t> is powered by a large language model, or LLM, meaning it’s programmed to understand human language and generate responses based on large amount of data.</a:t>
            </a:r>
          </a:p>
          <a:p>
            <a:r>
              <a:rPr lang="en-GB" sz="2000" b="0" i="0" dirty="0" err="1">
                <a:effectLst/>
                <a:latin typeface="MiloTE"/>
              </a:rPr>
              <a:t>Chat</a:t>
            </a:r>
            <a:r>
              <a:rPr lang="en-GB" sz="2000" dirty="0" err="1"/>
              <a:t>GPT</a:t>
            </a:r>
            <a:r>
              <a:rPr lang="en-GB" sz="2000" b="0" i="0" dirty="0">
                <a:effectLst/>
                <a:latin typeface="MiloTE"/>
              </a:rPr>
              <a:t> embodies </a:t>
            </a:r>
            <a:r>
              <a:rPr lang="en-GB" sz="2000" dirty="0">
                <a:latin typeface="MiloTE"/>
              </a:rPr>
              <a:t>more knowledge</a:t>
            </a:r>
            <a:r>
              <a:rPr lang="en-GB" sz="2000" b="0" i="0" dirty="0">
                <a:effectLst/>
                <a:latin typeface="MiloTE"/>
              </a:rPr>
              <a:t> than any human has ever known &amp; </a:t>
            </a:r>
            <a:r>
              <a:rPr lang="en-GB" sz="2000" dirty="0"/>
              <a:t>is one of the largest and most powerful language processing AI models to date.</a:t>
            </a:r>
            <a:endParaRPr lang="en-GB" sz="2000" b="0" i="0" dirty="0">
              <a:effectLst/>
              <a:latin typeface="MiloTE"/>
            </a:endParaRPr>
          </a:p>
          <a:p>
            <a:r>
              <a:rPr lang="en-GB" sz="2000" b="0" i="0" dirty="0" err="1">
                <a:effectLst/>
                <a:latin typeface="MiloTE"/>
              </a:rPr>
              <a:t>Chat</a:t>
            </a:r>
            <a:r>
              <a:rPr lang="en-GB" sz="2000" dirty="0" err="1"/>
              <a:t>GPT</a:t>
            </a:r>
            <a:r>
              <a:rPr lang="en-GB" sz="2000" b="0" i="0" dirty="0">
                <a:effectLst/>
                <a:latin typeface="MiloTE"/>
              </a:rPr>
              <a:t>, has aced exams that serve as gateways for people to enter careers in law and medicine in the USA</a:t>
            </a:r>
            <a:endParaRPr lang="en-GB" sz="2000" dirty="0">
              <a:latin typeface="MiloTE"/>
            </a:endParaRPr>
          </a:p>
          <a:p>
            <a:r>
              <a:rPr lang="en-GB" sz="2000" b="0" i="0" dirty="0">
                <a:effectLst/>
                <a:latin typeface="MiloTE"/>
              </a:rPr>
              <a:t>Other “generative </a:t>
            </a:r>
            <a:r>
              <a:rPr lang="en-GB" sz="2000" dirty="0"/>
              <a:t>ai</a:t>
            </a:r>
            <a:r>
              <a:rPr lang="en-GB" sz="2000" b="0" i="0" dirty="0">
                <a:effectLst/>
                <a:latin typeface="MiloTE"/>
              </a:rPr>
              <a:t>” models can churn out digital photos, drawings and animations.</a:t>
            </a:r>
            <a:endParaRPr lang="en-GB" sz="2000" dirty="0"/>
          </a:p>
        </p:txBody>
      </p:sp>
      <p:sp>
        <p:nvSpPr>
          <p:cNvPr id="6156" name="Rectangle 615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669568"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8" name="Rectangle 6157">
            <a:extLst>
              <a:ext uri="{FF2B5EF4-FFF2-40B4-BE49-F238E27FC236}">
                <a16:creationId xmlns:a16="http://schemas.microsoft.com/office/drawing/2014/main" id="{CC552A98-EF7D-4D42-AB69-066B786AB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15447" y="399675"/>
            <a:ext cx="4647368" cy="580993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7" name="Picture 3" descr="Chat GPT Gets Real | The Nation">
            <a:extLst>
              <a:ext uri="{FF2B5EF4-FFF2-40B4-BE49-F238E27FC236}">
                <a16:creationId xmlns:a16="http://schemas.microsoft.com/office/drawing/2014/main" id="{1A50D364-1216-0776-C43E-EDD53023237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730"/>
          <a:stretch/>
        </p:blipFill>
        <p:spPr bwMode="auto">
          <a:xfrm>
            <a:off x="7488592" y="386265"/>
            <a:ext cx="4235516" cy="5353373"/>
          </a:xfrm>
          <a:prstGeom prst="rect">
            <a:avLst/>
          </a:prstGeom>
          <a:noFill/>
          <a:extLst>
            <a:ext uri="{909E8E84-426E-40DD-AFC4-6F175D3DCCD1}">
              <a14:hiddenFill xmlns:a14="http://schemas.microsoft.com/office/drawing/2010/main">
                <a:solidFill>
                  <a:srgbClr val="FFFFFF"/>
                </a:solidFill>
              </a14:hiddenFill>
            </a:ext>
          </a:extLst>
        </p:spPr>
      </p:pic>
      <p:sp>
        <p:nvSpPr>
          <p:cNvPr id="6160" name="Rectangle 6159">
            <a:extLst>
              <a:ext uri="{FF2B5EF4-FFF2-40B4-BE49-F238E27FC236}">
                <a16:creationId xmlns:a16="http://schemas.microsoft.com/office/drawing/2014/main" id="{A648176E-454C-437C-B0FC-9B82FCF32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774185"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0900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2191BE-6EBB-B554-F6CC-283A6822FFBF}"/>
              </a:ext>
            </a:extLst>
          </p:cNvPr>
          <p:cNvSpPr>
            <a:spLocks noGrp="1"/>
          </p:cNvSpPr>
          <p:nvPr>
            <p:ph type="title"/>
          </p:nvPr>
        </p:nvSpPr>
        <p:spPr>
          <a:xfrm>
            <a:off x="686834" y="1153572"/>
            <a:ext cx="3200400" cy="4461163"/>
          </a:xfrm>
        </p:spPr>
        <p:txBody>
          <a:bodyPr>
            <a:normAutofit/>
          </a:bodyPr>
          <a:lstStyle/>
          <a:p>
            <a:r>
              <a:rPr lang="en-GB">
                <a:solidFill>
                  <a:srgbClr val="FFFFFF"/>
                </a:solidFill>
              </a:rPr>
              <a:t>How does it work?</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10D7985A-AC4F-226A-2A85-FD54AD7B0349}"/>
              </a:ext>
            </a:extLst>
          </p:cNvPr>
          <p:cNvSpPr>
            <a:spLocks noGrp="1"/>
          </p:cNvSpPr>
          <p:nvPr>
            <p:ph idx="1"/>
          </p:nvPr>
        </p:nvSpPr>
        <p:spPr>
          <a:xfrm>
            <a:off x="4447308" y="591344"/>
            <a:ext cx="6906491" cy="5585619"/>
          </a:xfrm>
        </p:spPr>
        <p:txBody>
          <a:bodyPr anchor="ctr">
            <a:normAutofit/>
          </a:bodyPr>
          <a:lstStyle/>
          <a:p>
            <a:r>
              <a:rPr lang="en-GB" b="0" i="0" dirty="0">
                <a:effectLst/>
                <a:latin typeface="MiloTE"/>
              </a:rPr>
              <a:t>First, the language of the query is </a:t>
            </a:r>
            <a:r>
              <a:rPr lang="en-GB" b="1" i="0" dirty="0">
                <a:effectLst/>
                <a:latin typeface="MiloTE"/>
              </a:rPr>
              <a:t>converted from words, which neural networks cannot handle, into a representative set of numbers</a:t>
            </a:r>
            <a:r>
              <a:rPr lang="en-GB" b="0" i="0" dirty="0">
                <a:effectLst/>
                <a:latin typeface="MiloTE"/>
              </a:rPr>
              <a:t> (see graphic). </a:t>
            </a:r>
          </a:p>
          <a:p>
            <a:endParaRPr lang="en-GB" dirty="0">
              <a:latin typeface="MiloTE"/>
            </a:endParaRPr>
          </a:p>
          <a:p>
            <a:endParaRPr lang="en-GB" dirty="0">
              <a:latin typeface="MiloTE"/>
            </a:endParaRPr>
          </a:p>
          <a:p>
            <a:endParaRPr lang="en-GB" dirty="0">
              <a:latin typeface="MiloTE"/>
            </a:endParaRPr>
          </a:p>
          <a:p>
            <a:endParaRPr lang="en-GB" dirty="0">
              <a:latin typeface="MiloTE"/>
            </a:endParaRPr>
          </a:p>
          <a:p>
            <a:pPr marL="0" indent="0">
              <a:buNone/>
            </a:pPr>
            <a:endParaRPr lang="en-GB" dirty="0">
              <a:latin typeface="MiloTE"/>
            </a:endParaRPr>
          </a:p>
          <a:p>
            <a:pPr marL="0" indent="0">
              <a:buNone/>
            </a:pPr>
            <a:r>
              <a:rPr lang="en-GB" sz="1600" dirty="0">
                <a:latin typeface="MiloTE"/>
              </a:rPr>
              <a:t>(</a:t>
            </a:r>
            <a:r>
              <a:rPr lang="en-GB" sz="1600" b="0" i="1" dirty="0">
                <a:effectLst/>
                <a:latin typeface="MiloTE"/>
              </a:rPr>
              <a:t>Extract from the Economist, April 2024)</a:t>
            </a:r>
          </a:p>
          <a:p>
            <a:endParaRPr lang="en-GB" dirty="0"/>
          </a:p>
        </p:txBody>
      </p:sp>
    </p:spTree>
    <p:extLst>
      <p:ext uri="{BB962C8B-B14F-4D97-AF65-F5344CB8AC3E}">
        <p14:creationId xmlns:p14="http://schemas.microsoft.com/office/powerpoint/2010/main" val="2567782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Intro to Word Embeddings and Vectors for Text Analysis.">
            <a:extLst>
              <a:ext uri="{FF2B5EF4-FFF2-40B4-BE49-F238E27FC236}">
                <a16:creationId xmlns:a16="http://schemas.microsoft.com/office/drawing/2014/main" id="{2AB255DB-2C58-036B-654F-981D59851E6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643467" y="1346885"/>
            <a:ext cx="10905066" cy="4644803"/>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60652A7-193D-708D-52BB-CB0C1DAB5F52}"/>
              </a:ext>
            </a:extLst>
          </p:cNvPr>
          <p:cNvSpPr txBox="1"/>
          <p:nvPr/>
        </p:nvSpPr>
        <p:spPr>
          <a:xfrm>
            <a:off x="716685" y="556054"/>
            <a:ext cx="3475631" cy="461665"/>
          </a:xfrm>
          <a:prstGeom prst="rect">
            <a:avLst/>
          </a:prstGeom>
          <a:noFill/>
        </p:spPr>
        <p:txBody>
          <a:bodyPr wrap="none" rtlCol="0">
            <a:spAutoFit/>
          </a:bodyPr>
          <a:lstStyle/>
          <a:p>
            <a:r>
              <a:rPr lang="en-GB" sz="2400" b="1" dirty="0"/>
              <a:t>Sample of a simple model</a:t>
            </a:r>
          </a:p>
        </p:txBody>
      </p:sp>
    </p:spTree>
    <p:extLst>
      <p:ext uri="{BB962C8B-B14F-4D97-AF65-F5344CB8AC3E}">
        <p14:creationId xmlns:p14="http://schemas.microsoft.com/office/powerpoint/2010/main" val="2483979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B29248-0FF7-048A-F7F4-15F70CB1CB49}"/>
              </a:ext>
            </a:extLst>
          </p:cNvPr>
          <p:cNvSpPr>
            <a:spLocks noGrp="1"/>
          </p:cNvSpPr>
          <p:nvPr>
            <p:ph type="title"/>
          </p:nvPr>
        </p:nvSpPr>
        <p:spPr>
          <a:xfrm>
            <a:off x="686834" y="1153572"/>
            <a:ext cx="3200400" cy="4461163"/>
          </a:xfrm>
        </p:spPr>
        <p:txBody>
          <a:bodyPr>
            <a:normAutofit/>
          </a:bodyPr>
          <a:lstStyle/>
          <a:p>
            <a:r>
              <a:rPr lang="en-GB" dirty="0">
                <a:solidFill>
                  <a:srgbClr val="FFFFFF"/>
                </a:solidFill>
              </a:rPr>
              <a:t>LLMs would know the grammar rules of English..</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68A66C3C-5760-9545-9246-CA608C5E7941}"/>
              </a:ext>
            </a:extLst>
          </p:cNvPr>
          <p:cNvSpPr>
            <a:spLocks noGrp="1"/>
          </p:cNvSpPr>
          <p:nvPr>
            <p:ph idx="1"/>
          </p:nvPr>
        </p:nvSpPr>
        <p:spPr>
          <a:xfrm>
            <a:off x="4447308" y="591344"/>
            <a:ext cx="6906491" cy="5585619"/>
          </a:xfrm>
        </p:spPr>
        <p:txBody>
          <a:bodyPr anchor="ctr">
            <a:normAutofit/>
          </a:bodyPr>
          <a:lstStyle/>
          <a:p>
            <a:r>
              <a:rPr lang="en-GB" b="0" i="0" dirty="0">
                <a:effectLst/>
                <a:latin typeface="MiloTE"/>
              </a:rPr>
              <a:t>The LLM then deploys its “attention network” to make connections between different parts of the prompt. </a:t>
            </a:r>
          </a:p>
          <a:p>
            <a:r>
              <a:rPr lang="en-GB" b="0" i="0" dirty="0">
                <a:solidFill>
                  <a:schemeClr val="accent1">
                    <a:lumMod val="75000"/>
                  </a:schemeClr>
                </a:solidFill>
                <a:effectLst/>
                <a:latin typeface="MiloTE"/>
              </a:rPr>
              <a:t>It would be obvious to them which words relate to each other</a:t>
            </a:r>
            <a:endParaRPr lang="en-GB" dirty="0"/>
          </a:p>
        </p:txBody>
      </p:sp>
    </p:spTree>
    <p:extLst>
      <p:ext uri="{BB962C8B-B14F-4D97-AF65-F5344CB8AC3E}">
        <p14:creationId xmlns:p14="http://schemas.microsoft.com/office/powerpoint/2010/main" val="14732560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76526E-E1BA-18D9-DBAC-DE79A502B3D0}"/>
              </a:ext>
            </a:extLst>
          </p:cNvPr>
          <p:cNvSpPr>
            <a:spLocks noGrp="1"/>
          </p:cNvSpPr>
          <p:nvPr>
            <p:ph type="title"/>
          </p:nvPr>
        </p:nvSpPr>
        <p:spPr>
          <a:xfrm>
            <a:off x="686834" y="1153572"/>
            <a:ext cx="3200400" cy="4461163"/>
          </a:xfrm>
        </p:spPr>
        <p:txBody>
          <a:bodyPr>
            <a:normAutofit/>
          </a:bodyPr>
          <a:lstStyle/>
          <a:p>
            <a:r>
              <a:rPr lang="en-GB" b="1" i="0">
                <a:solidFill>
                  <a:srgbClr val="FFFFFF"/>
                </a:solidFill>
                <a:effectLst/>
                <a:latin typeface="var(--ds-type-system-serif)"/>
              </a:rPr>
              <a:t>Process the data</a:t>
            </a:r>
            <a:br>
              <a:rPr lang="en-GB" b="1" i="0">
                <a:solidFill>
                  <a:srgbClr val="FFFFFF"/>
                </a:solidFill>
                <a:effectLst/>
                <a:latin typeface="var(--ds-type-system-serif)"/>
              </a:rPr>
            </a:br>
            <a:endParaRPr lang="en-GB">
              <a:solidFill>
                <a:srgbClr val="FFFFFF"/>
              </a:solidFill>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81A161E0-E0FB-1B0F-FEF5-C5C72B4224F9}"/>
              </a:ext>
            </a:extLst>
          </p:cNvPr>
          <p:cNvSpPr>
            <a:spLocks noGrp="1"/>
          </p:cNvSpPr>
          <p:nvPr>
            <p:ph idx="1"/>
          </p:nvPr>
        </p:nvSpPr>
        <p:spPr>
          <a:xfrm>
            <a:off x="4447308" y="591344"/>
            <a:ext cx="6906491" cy="5585619"/>
          </a:xfrm>
        </p:spPr>
        <p:txBody>
          <a:bodyPr anchor="ctr">
            <a:normAutofit/>
          </a:bodyPr>
          <a:lstStyle/>
          <a:p>
            <a:pPr fontAlgn="base"/>
            <a:r>
              <a:rPr lang="en-GB" b="0" i="0" dirty="0">
                <a:effectLst/>
                <a:latin typeface="var(--ds-type-system-serif)"/>
              </a:rPr>
              <a:t>The recent success of LLMs in generating convincing text, is due to the coalescence of three things: </a:t>
            </a:r>
          </a:p>
          <a:p>
            <a:pPr fontAlgn="base"/>
            <a:endParaRPr lang="en-GB" b="0" i="0" dirty="0">
              <a:effectLst/>
              <a:latin typeface="var(--ds-type-system-serif)"/>
            </a:endParaRPr>
          </a:p>
          <a:p>
            <a:pPr lvl="1" fontAlgn="base"/>
            <a:r>
              <a:rPr lang="en-GB" b="0" i="0" dirty="0">
                <a:solidFill>
                  <a:schemeClr val="accent1">
                    <a:lumMod val="50000"/>
                  </a:schemeClr>
                </a:solidFill>
                <a:effectLst/>
                <a:latin typeface="var(--ds-type-system-serif)"/>
              </a:rPr>
              <a:t>huge quantities of data</a:t>
            </a:r>
            <a:r>
              <a:rPr lang="en-GB" dirty="0">
                <a:solidFill>
                  <a:schemeClr val="accent1">
                    <a:lumMod val="50000"/>
                  </a:schemeClr>
                </a:solidFill>
                <a:latin typeface="var(--ds-type-system-serif)"/>
              </a:rPr>
              <a:t>;</a:t>
            </a:r>
          </a:p>
          <a:p>
            <a:pPr lvl="1" fontAlgn="base"/>
            <a:r>
              <a:rPr lang="en-GB" b="0" i="0" dirty="0">
                <a:solidFill>
                  <a:schemeClr val="accent1">
                    <a:lumMod val="50000"/>
                  </a:schemeClr>
                </a:solidFill>
                <a:effectLst/>
                <a:latin typeface="var(--ds-type-system-serif)"/>
              </a:rPr>
              <a:t>algorithms capable of learning from them; and</a:t>
            </a:r>
          </a:p>
          <a:p>
            <a:pPr lvl="1" fontAlgn="base"/>
            <a:r>
              <a:rPr lang="en-GB" b="0" i="0" dirty="0">
                <a:solidFill>
                  <a:schemeClr val="accent1">
                    <a:lumMod val="50000"/>
                  </a:schemeClr>
                </a:solidFill>
                <a:effectLst/>
                <a:latin typeface="var(--ds-type-system-serif)"/>
              </a:rPr>
              <a:t>the computational power to do so.</a:t>
            </a:r>
          </a:p>
          <a:p>
            <a:pPr lvl="1" fontAlgn="base"/>
            <a:endParaRPr lang="en-GB" b="0" i="0" dirty="0">
              <a:effectLst/>
              <a:latin typeface="var(--ds-type-system-serif)"/>
            </a:endParaRPr>
          </a:p>
          <a:p>
            <a:pPr marL="0" indent="0" fontAlgn="base">
              <a:buNone/>
            </a:pPr>
            <a:endParaRPr lang="en-GB" dirty="0"/>
          </a:p>
        </p:txBody>
      </p:sp>
    </p:spTree>
    <p:extLst>
      <p:ext uri="{BB962C8B-B14F-4D97-AF65-F5344CB8AC3E}">
        <p14:creationId xmlns:p14="http://schemas.microsoft.com/office/powerpoint/2010/main" val="14572158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C92F3C-2A01-10CE-648C-68CDCD8C476F}"/>
              </a:ext>
            </a:extLst>
          </p:cNvPr>
          <p:cNvSpPr>
            <a:spLocks noGrp="1"/>
          </p:cNvSpPr>
          <p:nvPr>
            <p:ph type="title"/>
          </p:nvPr>
        </p:nvSpPr>
        <p:spPr>
          <a:xfrm>
            <a:off x="686834" y="1153572"/>
            <a:ext cx="3200400" cy="4461163"/>
          </a:xfrm>
        </p:spPr>
        <p:txBody>
          <a:bodyPr>
            <a:normAutofit/>
          </a:bodyPr>
          <a:lstStyle/>
          <a:p>
            <a:r>
              <a:rPr lang="en-GB" dirty="0">
                <a:solidFill>
                  <a:srgbClr val="FFFFFF"/>
                </a:solidFill>
              </a:rPr>
              <a:t>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F580458-668E-85E6-07BA-0836D489987F}"/>
              </a:ext>
            </a:extLst>
          </p:cNvPr>
          <p:cNvSpPr>
            <a:spLocks noGrp="1"/>
          </p:cNvSpPr>
          <p:nvPr>
            <p:ph idx="1"/>
          </p:nvPr>
        </p:nvSpPr>
        <p:spPr>
          <a:xfrm>
            <a:off x="4447308" y="591344"/>
            <a:ext cx="6906491" cy="5585619"/>
          </a:xfrm>
        </p:spPr>
        <p:txBody>
          <a:bodyPr anchor="ctr">
            <a:normAutofit/>
          </a:bodyPr>
          <a:lstStyle/>
          <a:p>
            <a:r>
              <a:rPr lang="en-GB" sz="2200" b="0" i="0" dirty="0">
                <a:effectLst/>
                <a:latin typeface="MiloTE"/>
              </a:rPr>
              <a:t>Initially the weights in GPT-3’s neural network are mostly random.</a:t>
            </a:r>
          </a:p>
          <a:p>
            <a:r>
              <a:rPr lang="en-GB" sz="2200" b="0" i="0" dirty="0">
                <a:effectLst/>
                <a:latin typeface="MiloTE"/>
              </a:rPr>
              <a:t> As a result, the text it generates is gibberish</a:t>
            </a:r>
            <a:r>
              <a:rPr lang="en-GB" sz="2200" dirty="0">
                <a:latin typeface="MiloTE"/>
              </a:rPr>
              <a:t>, </a:t>
            </a:r>
            <a:r>
              <a:rPr lang="en-GB" sz="2200" b="0" i="0" dirty="0">
                <a:effectLst/>
                <a:latin typeface="MiloTE"/>
              </a:rPr>
              <a:t>Then it gets trained</a:t>
            </a:r>
          </a:p>
          <a:p>
            <a:r>
              <a:rPr lang="en-GB" sz="2200" b="0" i="0" dirty="0">
                <a:effectLst/>
                <a:latin typeface="MiloTE"/>
              </a:rPr>
              <a:t> GPT-3 was trained on several sources of data, but the bulk of it comes from snapshots of the entire internet between 2016 and 2019 taken from a database called Common Crawl</a:t>
            </a:r>
          </a:p>
          <a:p>
            <a:r>
              <a:rPr lang="en-GB" sz="2200" dirty="0">
                <a:latin typeface="MiloTE"/>
              </a:rPr>
              <a:t>GPT-4 (released March 2023) handles real-time and up-to-date information better, enabling it to provide more relevant responses in dynamic contexts</a:t>
            </a:r>
            <a:r>
              <a:rPr lang="en-GB" sz="2200" b="0" i="0" dirty="0">
                <a:effectLst/>
                <a:latin typeface="MiloTE"/>
              </a:rPr>
              <a:t>. </a:t>
            </a:r>
          </a:p>
          <a:p>
            <a:r>
              <a:rPr lang="en-GB" sz="2200" dirty="0">
                <a:latin typeface="MiloTE"/>
              </a:rPr>
              <a:t>GPT-4 can interpret images</a:t>
            </a:r>
          </a:p>
          <a:p>
            <a:r>
              <a:rPr lang="en-GB" sz="2200" dirty="0">
                <a:latin typeface="MiloTE"/>
              </a:rPr>
              <a:t>GPT-4 can generate code, e.g., upload a diagram of a webpage and it will generate the HTML and CSS</a:t>
            </a:r>
          </a:p>
        </p:txBody>
      </p:sp>
    </p:spTree>
    <p:extLst>
      <p:ext uri="{BB962C8B-B14F-4D97-AF65-F5344CB8AC3E}">
        <p14:creationId xmlns:p14="http://schemas.microsoft.com/office/powerpoint/2010/main" val="28034116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3EB48-06D2-1D64-B276-0F28007EF4E8}"/>
              </a:ext>
            </a:extLst>
          </p:cNvPr>
          <p:cNvSpPr>
            <a:spLocks noGrp="1"/>
          </p:cNvSpPr>
          <p:nvPr>
            <p:ph type="title"/>
          </p:nvPr>
        </p:nvSpPr>
        <p:spPr/>
        <p:txBody>
          <a:bodyPr/>
          <a:lstStyle/>
          <a:p>
            <a:r>
              <a:rPr lang="en-IE" sz="4400" b="0" i="0" dirty="0">
                <a:solidFill>
                  <a:srgbClr val="0A0A0A"/>
                </a:solidFill>
                <a:effectLst/>
                <a:latin typeface="Google Sans"/>
              </a:rPr>
              <a:t>ChatGPT-5</a:t>
            </a:r>
            <a:endParaRPr lang="en-US" dirty="0"/>
          </a:p>
        </p:txBody>
      </p:sp>
      <p:sp>
        <p:nvSpPr>
          <p:cNvPr id="3" name="Content Placeholder 2">
            <a:extLst>
              <a:ext uri="{FF2B5EF4-FFF2-40B4-BE49-F238E27FC236}">
                <a16:creationId xmlns:a16="http://schemas.microsoft.com/office/drawing/2014/main" id="{D3BA9A61-2491-7C80-4099-CE1EF36E6AE0}"/>
              </a:ext>
            </a:extLst>
          </p:cNvPr>
          <p:cNvSpPr>
            <a:spLocks noGrp="1"/>
          </p:cNvSpPr>
          <p:nvPr>
            <p:ph idx="1"/>
          </p:nvPr>
        </p:nvSpPr>
        <p:spPr/>
        <p:txBody>
          <a:bodyPr/>
          <a:lstStyle/>
          <a:p>
            <a:r>
              <a:rPr lang="en-IE" sz="2800" b="0" i="0" dirty="0">
                <a:solidFill>
                  <a:srgbClr val="0A0A0A"/>
                </a:solidFill>
                <a:effectLst/>
                <a:latin typeface="Google Sans"/>
              </a:rPr>
              <a:t>ChatGPT-5 offers substantial improvements over GPT-4, featuring </a:t>
            </a:r>
            <a:r>
              <a:rPr lang="en-IE" sz="2800" dirty="0"/>
              <a:t>superior reasoning, significantly enhanced coding (up to 74.9% accuracy) and math performance, and a 45–80% lower hallucination rate</a:t>
            </a:r>
            <a:r>
              <a:rPr lang="en-IE" sz="2800" b="0" i="0" dirty="0">
                <a:solidFill>
                  <a:srgbClr val="0A0A0A"/>
                </a:solidFill>
                <a:effectLst/>
                <a:latin typeface="Google Sans"/>
              </a:rPr>
              <a:t>.</a:t>
            </a:r>
          </a:p>
          <a:p>
            <a:endParaRPr lang="en-IE" dirty="0">
              <a:solidFill>
                <a:srgbClr val="0A0A0A"/>
              </a:solidFill>
              <a:latin typeface="Google Sans"/>
            </a:endParaRPr>
          </a:p>
          <a:p>
            <a:r>
              <a:rPr lang="en-IE" sz="2800" b="0" i="0" dirty="0">
                <a:solidFill>
                  <a:srgbClr val="0A0A0A"/>
                </a:solidFill>
                <a:effectLst/>
                <a:latin typeface="Google Sans"/>
              </a:rPr>
              <a:t> It supports larger context windows (400K+ tokens), enabling better analysis of long documents, and provides more personalized, emotionally intelligent, and human-like conversations. </a:t>
            </a:r>
            <a:endParaRPr lang="en-GB" sz="4000" dirty="0"/>
          </a:p>
          <a:p>
            <a:endParaRPr lang="en-US" dirty="0"/>
          </a:p>
        </p:txBody>
      </p:sp>
    </p:spTree>
    <p:extLst>
      <p:ext uri="{BB962C8B-B14F-4D97-AF65-F5344CB8AC3E}">
        <p14:creationId xmlns:p14="http://schemas.microsoft.com/office/powerpoint/2010/main" val="18743991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D929FD-A0A6-AA21-ECB3-54862DFE619D}"/>
              </a:ext>
            </a:extLst>
          </p:cNvPr>
          <p:cNvSpPr>
            <a:spLocks noGrp="1"/>
          </p:cNvSpPr>
          <p:nvPr>
            <p:ph type="title"/>
          </p:nvPr>
        </p:nvSpPr>
        <p:spPr>
          <a:xfrm>
            <a:off x="686834" y="1153572"/>
            <a:ext cx="3200400" cy="4461163"/>
          </a:xfrm>
        </p:spPr>
        <p:txBody>
          <a:bodyPr>
            <a:normAutofit/>
          </a:bodyPr>
          <a:lstStyle/>
          <a:p>
            <a:r>
              <a:rPr lang="en-GB" dirty="0">
                <a:solidFill>
                  <a:srgbClr val="FFFFFF"/>
                </a:solidFill>
              </a:rPr>
              <a:t>Risk</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49C39F64-756D-10BE-EF74-2BE7A0B2A28A}"/>
              </a:ext>
            </a:extLst>
          </p:cNvPr>
          <p:cNvSpPr>
            <a:spLocks noGrp="1"/>
          </p:cNvSpPr>
          <p:nvPr>
            <p:ph idx="1"/>
          </p:nvPr>
        </p:nvSpPr>
        <p:spPr>
          <a:xfrm>
            <a:off x="4447308" y="591344"/>
            <a:ext cx="6906491" cy="5585619"/>
          </a:xfrm>
        </p:spPr>
        <p:txBody>
          <a:bodyPr anchor="ctr">
            <a:normAutofit/>
          </a:bodyPr>
          <a:lstStyle/>
          <a:p>
            <a:r>
              <a:rPr lang="en-GB" b="0" i="0" dirty="0">
                <a:effectLst/>
                <a:latin typeface="var(--ds-type-system-serif)"/>
              </a:rPr>
              <a:t>There are also legal issues. </a:t>
            </a:r>
            <a:r>
              <a:rPr lang="en-GB" b="0" i="1" dirty="0">
                <a:effectLst/>
                <a:latin typeface="var(--ds-type-system-serif)"/>
              </a:rPr>
              <a:t>Stability AI</a:t>
            </a:r>
            <a:r>
              <a:rPr lang="en-GB" b="0" i="0" dirty="0">
                <a:effectLst/>
                <a:latin typeface="var(--ds-type-system-serif)"/>
              </a:rPr>
              <a:t>, a company which produces an image-generation model called Stable Diffusion, has been sued by Getty Images</a:t>
            </a:r>
          </a:p>
          <a:p>
            <a:r>
              <a:rPr lang="en-GB" b="0" i="0" dirty="0">
                <a:effectLst/>
                <a:latin typeface="var(--ds-type-system-serif)"/>
              </a:rPr>
              <a:t>LLMs are already incredibly powerful and have improved so quickly that many of those working on them have taken fright.</a:t>
            </a:r>
          </a:p>
          <a:p>
            <a:r>
              <a:rPr lang="en-GB" b="0" i="0" dirty="0">
                <a:effectLst/>
                <a:latin typeface="var(--ds-type-system-serif)"/>
              </a:rPr>
              <a:t>That creates risks, of all kinds. </a:t>
            </a:r>
          </a:p>
          <a:p>
            <a:pPr marL="0" indent="0">
              <a:buNone/>
            </a:pPr>
            <a:endParaRPr lang="en-GB" dirty="0"/>
          </a:p>
        </p:txBody>
      </p:sp>
    </p:spTree>
    <p:extLst>
      <p:ext uri="{BB962C8B-B14F-4D97-AF65-F5344CB8AC3E}">
        <p14:creationId xmlns:p14="http://schemas.microsoft.com/office/powerpoint/2010/main" val="37139079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DeepSeek</a:t>
            </a:r>
            <a:endParaRPr lang="en-IE" dirty="0"/>
          </a:p>
        </p:txBody>
      </p:sp>
      <p:sp>
        <p:nvSpPr>
          <p:cNvPr id="3" name="Content Placeholder 2"/>
          <p:cNvSpPr>
            <a:spLocks noGrp="1"/>
          </p:cNvSpPr>
          <p:nvPr>
            <p:ph idx="1"/>
          </p:nvPr>
        </p:nvSpPr>
        <p:spPr>
          <a:xfrm>
            <a:off x="838200" y="1825625"/>
            <a:ext cx="6651171" cy="4351338"/>
          </a:xfrm>
        </p:spPr>
        <p:txBody>
          <a:bodyPr>
            <a:normAutofit/>
          </a:bodyPr>
          <a:lstStyle/>
          <a:p>
            <a:r>
              <a:rPr lang="en-US" b="1" dirty="0"/>
              <a:t>January 2025</a:t>
            </a:r>
            <a:r>
              <a:rPr lang="en-US" dirty="0"/>
              <a:t>: Chinese AI startup </a:t>
            </a:r>
            <a:r>
              <a:rPr lang="en-US" dirty="0" err="1"/>
              <a:t>DeepSeek</a:t>
            </a:r>
            <a:r>
              <a:rPr lang="en-US" dirty="0"/>
              <a:t> launched</a:t>
            </a:r>
          </a:p>
          <a:p>
            <a:r>
              <a:rPr lang="en-US" dirty="0"/>
              <a:t>AI models from </a:t>
            </a:r>
            <a:r>
              <a:rPr lang="en-US" dirty="0" err="1"/>
              <a:t>ChatGPT</a:t>
            </a:r>
            <a:r>
              <a:rPr lang="en-US" dirty="0"/>
              <a:t> to </a:t>
            </a:r>
            <a:r>
              <a:rPr lang="en-US" dirty="0" err="1"/>
              <a:t>DeepSeek</a:t>
            </a:r>
            <a:r>
              <a:rPr lang="en-US" dirty="0"/>
              <a:t> require advanced chips to power their training. </a:t>
            </a:r>
          </a:p>
          <a:p>
            <a:r>
              <a:rPr lang="en-US" dirty="0"/>
              <a:t>The USA administration has since 2021 widened the scope of bans designed to stop these chips from being exported to China and used to train Chinese firms' AI models.</a:t>
            </a:r>
          </a:p>
          <a:p>
            <a:endParaRPr lang="en-US" dirty="0"/>
          </a:p>
          <a:p>
            <a:endParaRPr lang="en-IE"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4425" y="156368"/>
            <a:ext cx="2619375" cy="1743075"/>
          </a:xfrm>
          <a:prstGeom prst="rect">
            <a:avLst/>
          </a:prstGeom>
        </p:spPr>
      </p:pic>
    </p:spTree>
    <p:extLst>
      <p:ext uri="{BB962C8B-B14F-4D97-AF65-F5344CB8AC3E}">
        <p14:creationId xmlns:p14="http://schemas.microsoft.com/office/powerpoint/2010/main" val="22623960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DeepSeek</a:t>
            </a:r>
            <a:endParaRPr lang="en-IE" dirty="0"/>
          </a:p>
        </p:txBody>
      </p:sp>
      <p:sp>
        <p:nvSpPr>
          <p:cNvPr id="3" name="Content Placeholder 2"/>
          <p:cNvSpPr>
            <a:spLocks noGrp="1"/>
          </p:cNvSpPr>
          <p:nvPr>
            <p:ph idx="1"/>
          </p:nvPr>
        </p:nvSpPr>
        <p:spPr>
          <a:xfrm>
            <a:off x="838200" y="1825625"/>
            <a:ext cx="7115629" cy="4351338"/>
          </a:xfrm>
        </p:spPr>
        <p:txBody>
          <a:bodyPr>
            <a:normAutofit/>
          </a:bodyPr>
          <a:lstStyle/>
          <a:p>
            <a:r>
              <a:rPr lang="en-US" dirty="0"/>
              <a:t>DeepSeek-V3 claims it uses </a:t>
            </a:r>
            <a:r>
              <a:rPr lang="en-US" dirty="0" err="1"/>
              <a:t>Nvidia's</a:t>
            </a:r>
            <a:r>
              <a:rPr lang="en-US" dirty="0"/>
              <a:t> H800 chips(older than current chips) for training, spending less than $6 million.</a:t>
            </a:r>
          </a:p>
          <a:p>
            <a:pPr marL="0" indent="0">
              <a:buNone/>
            </a:pPr>
            <a:endParaRPr lang="en-US" dirty="0"/>
          </a:p>
          <a:p>
            <a:endParaRPr lang="en-IE"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3829" y="3572782"/>
            <a:ext cx="3399971" cy="2189389"/>
          </a:xfrm>
          <a:prstGeom prst="rect">
            <a:avLst/>
          </a:prstGeom>
        </p:spPr>
      </p:pic>
    </p:spTree>
    <p:extLst>
      <p:ext uri="{BB962C8B-B14F-4D97-AF65-F5344CB8AC3E}">
        <p14:creationId xmlns:p14="http://schemas.microsoft.com/office/powerpoint/2010/main" val="18171662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1. Genuinely smarter, efficient </a:t>
            </a:r>
            <a:r>
              <a:rPr lang="en-US" b="1" dirty="0" err="1"/>
              <a:t>DeepSeek</a:t>
            </a:r>
            <a:r>
              <a:rPr lang="en-US" b="1" dirty="0"/>
              <a:t> AI architecture</a:t>
            </a:r>
            <a:endParaRPr lang="en-IE" dirty="0"/>
          </a:p>
        </p:txBody>
      </p:sp>
      <p:sp>
        <p:nvSpPr>
          <p:cNvPr id="3" name="Content Placeholder 2"/>
          <p:cNvSpPr>
            <a:spLocks noGrp="1"/>
          </p:cNvSpPr>
          <p:nvPr>
            <p:ph idx="1"/>
          </p:nvPr>
        </p:nvSpPr>
        <p:spPr/>
        <p:txBody>
          <a:bodyPr>
            <a:normAutofit/>
          </a:bodyPr>
          <a:lstStyle/>
          <a:p>
            <a:pPr fontAlgn="base"/>
            <a:r>
              <a:rPr lang="en-US" dirty="0"/>
              <a:t>DeepSeek-V3 is built on a mixture-of-experts (</a:t>
            </a:r>
            <a:r>
              <a:rPr lang="en-US" dirty="0" err="1"/>
              <a:t>MoE</a:t>
            </a:r>
            <a:r>
              <a:rPr lang="en-US" dirty="0"/>
              <a:t>) architecture, which means it doesn’t fire on all cylinders together. Instead, it activates only 37 billion of its 671 billion parameters per token, making it a leaner machine. </a:t>
            </a:r>
          </a:p>
          <a:p>
            <a:pPr fontAlgn="base"/>
            <a:r>
              <a:rPr lang="en-US" dirty="0"/>
              <a:t>It is not just about saving computational power – it also handles complex tasks like advanced coding, mathematical reasoning, &amp; nuanced problem-solving.</a:t>
            </a:r>
          </a:p>
        </p:txBody>
      </p:sp>
    </p:spTree>
    <p:extLst>
      <p:ext uri="{BB962C8B-B14F-4D97-AF65-F5344CB8AC3E}">
        <p14:creationId xmlns:p14="http://schemas.microsoft.com/office/powerpoint/2010/main" val="27230272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2. </a:t>
            </a:r>
            <a:r>
              <a:rPr lang="en-US" b="1" dirty="0" err="1"/>
              <a:t>DeepSeek</a:t>
            </a:r>
            <a:r>
              <a:rPr lang="en-US" b="1" dirty="0"/>
              <a:t> is inexpensive</a:t>
            </a:r>
            <a:endParaRPr lang="en-IE" dirty="0"/>
          </a:p>
        </p:txBody>
      </p:sp>
      <p:sp>
        <p:nvSpPr>
          <p:cNvPr id="3" name="Content Placeholder 2"/>
          <p:cNvSpPr>
            <a:spLocks noGrp="1"/>
          </p:cNvSpPr>
          <p:nvPr>
            <p:ph idx="1"/>
          </p:nvPr>
        </p:nvSpPr>
        <p:spPr/>
        <p:txBody>
          <a:bodyPr/>
          <a:lstStyle/>
          <a:p>
            <a:pPr fontAlgn="base"/>
            <a:r>
              <a:rPr lang="en-US" dirty="0"/>
              <a:t>DeepSeek-V3 is very affordable compared to competitors. </a:t>
            </a:r>
          </a:p>
          <a:p>
            <a:pPr fontAlgn="base"/>
            <a:r>
              <a:rPr lang="en-US" dirty="0"/>
              <a:t>While OpenAI’s GPT-4 can cost up to $15 per million input tokens and $60 per million output tokens, DeepSeek-V3’s pricing is $0.14 per million input and $0.28 per million output. </a:t>
            </a:r>
            <a:r>
              <a:rPr lang="en-US" i="1" dirty="0"/>
              <a:t>This is disruptive</a:t>
            </a:r>
          </a:p>
          <a:p>
            <a:pPr fontAlgn="base"/>
            <a:r>
              <a:rPr lang="en-US" dirty="0"/>
              <a:t>This drastic price difference could make AI tools more accessible to smaller businesses, startups, </a:t>
            </a:r>
            <a:r>
              <a:rPr lang="en-US" dirty="0" err="1"/>
              <a:t>etc</a:t>
            </a:r>
            <a:endParaRPr lang="en-IE" dirty="0"/>
          </a:p>
        </p:txBody>
      </p:sp>
    </p:spTree>
    <p:extLst>
      <p:ext uri="{BB962C8B-B14F-4D97-AF65-F5344CB8AC3E}">
        <p14:creationId xmlns:p14="http://schemas.microsoft.com/office/powerpoint/2010/main" val="23188398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 </a:t>
            </a:r>
            <a:r>
              <a:rPr lang="en-US" b="1" dirty="0" err="1"/>
              <a:t>DeepSeek</a:t>
            </a:r>
            <a:r>
              <a:rPr lang="en-US" b="1" dirty="0"/>
              <a:t> is open-source, free for all</a:t>
            </a:r>
            <a:endParaRPr lang="en-IE" dirty="0"/>
          </a:p>
        </p:txBody>
      </p:sp>
      <p:sp>
        <p:nvSpPr>
          <p:cNvPr id="3" name="Content Placeholder 2"/>
          <p:cNvSpPr>
            <a:spLocks noGrp="1"/>
          </p:cNvSpPr>
          <p:nvPr>
            <p:ph idx="1"/>
          </p:nvPr>
        </p:nvSpPr>
        <p:spPr/>
        <p:txBody>
          <a:bodyPr>
            <a:normAutofit/>
          </a:bodyPr>
          <a:lstStyle/>
          <a:p>
            <a:pPr fontAlgn="base"/>
            <a:r>
              <a:rPr lang="en-US" dirty="0"/>
              <a:t>While many companies keep their AI models locked up behind proprietary licenses, </a:t>
            </a:r>
            <a:r>
              <a:rPr lang="en-US" dirty="0" err="1"/>
              <a:t>DeepSeek</a:t>
            </a:r>
            <a:r>
              <a:rPr lang="en-US" dirty="0"/>
              <a:t> has taken a bold step by making it Open Source. </a:t>
            </a:r>
          </a:p>
          <a:p>
            <a:pPr fontAlgn="base"/>
            <a:r>
              <a:rPr lang="en-US" dirty="0"/>
              <a:t>It encourages collaboration, rapid innovation, and more tailored applications.</a:t>
            </a:r>
          </a:p>
          <a:p>
            <a:endParaRPr lang="en-IE" dirty="0"/>
          </a:p>
        </p:txBody>
      </p:sp>
    </p:spTree>
    <p:extLst>
      <p:ext uri="{BB962C8B-B14F-4D97-AF65-F5344CB8AC3E}">
        <p14:creationId xmlns:p14="http://schemas.microsoft.com/office/powerpoint/2010/main" val="8061011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4. Navigating the geopolitical tightrope</a:t>
            </a:r>
            <a:endParaRPr lang="en-IE" dirty="0"/>
          </a:p>
        </p:txBody>
      </p:sp>
      <p:sp>
        <p:nvSpPr>
          <p:cNvPr id="3" name="Content Placeholder 2"/>
          <p:cNvSpPr>
            <a:spLocks noGrp="1"/>
          </p:cNvSpPr>
          <p:nvPr>
            <p:ph idx="1"/>
          </p:nvPr>
        </p:nvSpPr>
        <p:spPr/>
        <p:txBody>
          <a:bodyPr>
            <a:normAutofit lnSpcReduction="10000"/>
          </a:bodyPr>
          <a:lstStyle/>
          <a:p>
            <a:pPr fontAlgn="base"/>
            <a:r>
              <a:rPr lang="en-US" dirty="0" err="1"/>
              <a:t>DeepSeek’s</a:t>
            </a:r>
            <a:r>
              <a:rPr lang="en-US" dirty="0"/>
              <a:t> rise also reflects a bigger picture. </a:t>
            </a:r>
          </a:p>
          <a:p>
            <a:pPr fontAlgn="base"/>
            <a:r>
              <a:rPr lang="en-US" dirty="0"/>
              <a:t>By creating a model that sidesteps hardware dependencies, the company is showing how innovation can flourish even in challenging circumstances. </a:t>
            </a:r>
          </a:p>
          <a:p>
            <a:pPr fontAlgn="base"/>
            <a:r>
              <a:rPr lang="en-US" dirty="0"/>
              <a:t>With U.S. export restrictions limiting access to advanced chips, many predicted that Chinese AI development would face significant setbacks. Instead, companies like </a:t>
            </a:r>
            <a:r>
              <a:rPr lang="en-US" dirty="0" err="1"/>
              <a:t>DeepSeek</a:t>
            </a:r>
            <a:r>
              <a:rPr lang="en-US" dirty="0"/>
              <a:t> have showcased how innovation and strategic design can overcome these barriers.</a:t>
            </a:r>
          </a:p>
          <a:p>
            <a:pPr fontAlgn="base"/>
            <a:r>
              <a:rPr lang="en-US" dirty="0"/>
              <a:t>This strategy has broader implications. It demonstrates how countries or companies facing technological restrictions can stay competitive through smarter design rather than sheer computational power</a:t>
            </a:r>
            <a:endParaRPr lang="en-IE" dirty="0"/>
          </a:p>
        </p:txBody>
      </p:sp>
    </p:spTree>
    <p:extLst>
      <p:ext uri="{BB962C8B-B14F-4D97-AF65-F5344CB8AC3E}">
        <p14:creationId xmlns:p14="http://schemas.microsoft.com/office/powerpoint/2010/main" val="5616549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E" dirty="0"/>
          </a:p>
        </p:txBody>
      </p:sp>
      <p:sp>
        <p:nvSpPr>
          <p:cNvPr id="3" name="Content Placeholder 2"/>
          <p:cNvSpPr>
            <a:spLocks noGrp="1"/>
          </p:cNvSpPr>
          <p:nvPr>
            <p:ph idx="1"/>
          </p:nvPr>
        </p:nvSpPr>
        <p:spPr/>
        <p:txBody>
          <a:bodyPr/>
          <a:lstStyle/>
          <a:p>
            <a:r>
              <a:rPr lang="en-US" dirty="0"/>
              <a:t>DeepSeek-V3 is a prime example of how fresh ideas and clever strategies can shake up even the most competitive industries. </a:t>
            </a:r>
          </a:p>
          <a:p>
            <a:r>
              <a:rPr lang="en-US" dirty="0"/>
              <a:t>By blending architectural ingenuity, cost-effectiveness, open-source accessibility, and adaptability, it’s setting a new standard for what’s possible in AI.</a:t>
            </a:r>
            <a:endParaRPr lang="en-IE"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5371" y="4122511"/>
            <a:ext cx="3399971" cy="2189389"/>
          </a:xfrm>
          <a:prstGeom prst="rect">
            <a:avLst/>
          </a:prstGeom>
        </p:spPr>
      </p:pic>
    </p:spTree>
    <p:extLst>
      <p:ext uri="{BB962C8B-B14F-4D97-AF65-F5344CB8AC3E}">
        <p14:creationId xmlns:p14="http://schemas.microsoft.com/office/powerpoint/2010/main" val="1747853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Organic</Template>
  <TotalTime>541</TotalTime>
  <Words>3574</Words>
  <Application>Microsoft Macintosh PowerPoint</Application>
  <PresentationFormat>Widescreen</PresentationFormat>
  <Paragraphs>228</Paragraphs>
  <Slides>43</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43</vt:i4>
      </vt:variant>
    </vt:vector>
  </HeadingPairs>
  <TitlesOfParts>
    <vt:vector size="51" baseType="lpstr">
      <vt:lpstr>Arial</vt:lpstr>
      <vt:lpstr>Calibri</vt:lpstr>
      <vt:lpstr>Calibri Light</vt:lpstr>
      <vt:lpstr>Google Sans</vt:lpstr>
      <vt:lpstr>MiloTE</vt:lpstr>
      <vt:lpstr>Söhne</vt:lpstr>
      <vt:lpstr>var(--ds-type-system-serif)</vt:lpstr>
      <vt:lpstr>Office Theme</vt:lpstr>
      <vt:lpstr>ai</vt:lpstr>
      <vt:lpstr>Understanding Artificial Intelligence </vt:lpstr>
      <vt:lpstr> </vt:lpstr>
      <vt:lpstr> </vt:lpstr>
      <vt:lpstr>PowerPoint Presentation</vt:lpstr>
      <vt:lpstr> </vt:lpstr>
      <vt:lpstr>Definition of AI:</vt:lpstr>
      <vt:lpstr> </vt:lpstr>
      <vt:lpstr>The Power of Big Data </vt:lpstr>
      <vt:lpstr>PowerPoint Presentation</vt:lpstr>
      <vt:lpstr>Big Data &amp; Traditional Analytics</vt:lpstr>
      <vt:lpstr>Data Products</vt:lpstr>
      <vt:lpstr>Data Products</vt:lpstr>
      <vt:lpstr>AWS Report (Feb 2025) Usage in Europe </vt:lpstr>
      <vt:lpstr>AWS Report (Feb 2025) Usage in Europe </vt:lpstr>
      <vt:lpstr>AWS – AI in Cloud</vt:lpstr>
      <vt:lpstr>AWS – Offers Choice of LLMs</vt:lpstr>
      <vt:lpstr>AWS- Examples</vt:lpstr>
      <vt:lpstr>Chip Wars    </vt:lpstr>
      <vt:lpstr> </vt:lpstr>
      <vt:lpstr> </vt:lpstr>
      <vt:lpstr> </vt:lpstr>
      <vt:lpstr> </vt:lpstr>
      <vt:lpstr> </vt:lpstr>
      <vt:lpstr> </vt:lpstr>
      <vt:lpstr>Satya Nadella</vt:lpstr>
      <vt:lpstr>  </vt:lpstr>
      <vt:lpstr>What is ChatGPT?</vt:lpstr>
      <vt:lpstr> </vt:lpstr>
      <vt:lpstr>How does it work?</vt:lpstr>
      <vt:lpstr>PowerPoint Presentation</vt:lpstr>
      <vt:lpstr>LLMs would know the grammar rules of English..</vt:lpstr>
      <vt:lpstr>Process the data </vt:lpstr>
      <vt:lpstr> </vt:lpstr>
      <vt:lpstr>ChatGPT-5</vt:lpstr>
      <vt:lpstr>Risk</vt:lpstr>
      <vt:lpstr>DeepSeek</vt:lpstr>
      <vt:lpstr>DeepSeek</vt:lpstr>
      <vt:lpstr>1. Genuinely smarter, efficient DeepSeek AI architecture</vt:lpstr>
      <vt:lpstr>2. DeepSeek is inexpensive</vt:lpstr>
      <vt:lpstr>3. DeepSeek is open-source, free for all</vt:lpstr>
      <vt:lpstr>4. Navigating the geopolitical tightrope</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c:title>
  <dc:creator>Microsoft Office User</dc:creator>
  <cp:lastModifiedBy>Clare Branigan</cp:lastModifiedBy>
  <cp:revision>48</cp:revision>
  <dcterms:created xsi:type="dcterms:W3CDTF">2023-04-17T17:45:42Z</dcterms:created>
  <dcterms:modified xsi:type="dcterms:W3CDTF">2026-01-27T17:59:47Z</dcterms:modified>
</cp:coreProperties>
</file>