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74" r:id="rId7"/>
    <p:sldId id="262" r:id="rId8"/>
    <p:sldId id="275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24"/>
    <p:restoredTop sz="75997"/>
  </p:normalViewPr>
  <p:slideViewPr>
    <p:cSldViewPr snapToGrid="0" snapToObjects="1">
      <p:cViewPr varScale="1">
        <p:scale>
          <a:sx n="87" d="100"/>
          <a:sy n="87" d="100"/>
        </p:scale>
        <p:origin x="9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4472" y="2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278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 better results faster -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 how to phrase tasks so the model doesn’t wander.</a:t>
            </a:r>
            <a:r>
              <a:rPr lang="en-AU" dirty="0">
                <a:effectLst/>
              </a:rPr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spot failure early -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recognise when something needs checking 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dont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on it)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these tools responsibly - cost of being wrong can be real.</a:t>
            </a:r>
            <a:r>
              <a:rPr lang="en-AU" dirty="0">
                <a:effectLst/>
              </a:rPr>
              <a:t> 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isn’t “AI theory” lecture -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Practical user manual, next lectures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an LLM is (1 sentence)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wording changes outputs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 + context window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hallucinations happen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Broad term - classic machine learning, computer vision, robotics, recommender systems, rules-based systems</a:t>
            </a:r>
            <a:r>
              <a:rPr lang="en-AU" dirty="0">
                <a:effectLst/>
              </a:rPr>
              <a:t> etc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Focus: generative AI, specifically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sounds basic, but trained on huge amount of text where model learns patterns in language: </a:t>
            </a: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how explanations are usually written, how arguments are structured, common coding conventions, and what “sounds right” in different contexts.</a:t>
            </a: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point: it’s not “thinking” like a person, and it’s not a database that stores facts like Wikipedia. It’s generating the most plausible continuation given your prompt and the text it has already produced.</a:t>
            </a: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matters is: it produces outputs from context, not from 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Trained to predict the next token from prior tokens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Learns language patterns at scale (structure, tone, explanation style)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493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isn’t an aggregated Google search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it’s a text generator trained on lots of data that writes an answer from the context you give it.</a:t>
            </a:r>
            <a:r>
              <a:rPr lang="en-AU" dirty="0">
                <a:effectLst/>
              </a:rPr>
              <a:t> 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window = what the model can “see” at once (in tokens)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chats: older details drop out → drift/contradictions/forgotten constraints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It’s not “remembering” — it’s using the current window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= what the model weights/focuses on within the window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Recency often dominates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 structure + repeated constraints stick better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Buried requirements get missed if competing with louder text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Generates one token at a time: predict → append → repeat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where the fluency comes from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trained on massive amounts of data and it understands the relationships between works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underlying assumption may not be true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Wrong early assumption can snowball (builds on itself)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big reasons you can get different outputs for “the same” request.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First: prompt sensitivity. Small changes in wording can change what the model thinks the task is.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Second: sampling randomness. Doesn’t always pick the single most likely token —sample among good options. helps creativity, adds variation.</a:t>
            </a: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Confident wrong details = hallucination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 cause: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optimised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plausible text, not guaranteed truth</a:t>
            </a: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6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Triangle 22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1/18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7315200" y="438912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92440" y="438912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69680" y="438912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46920" y="438912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24160" y="438912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0" y="493776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92440" y="493776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69680" y="493776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46920" y="493776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424160" y="493776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0" y="548640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92440" y="548640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69680" y="548640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46920" y="548640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424160" y="5486400"/>
            <a:ext cx="640080" cy="384048"/>
          </a:xfrm>
          <a:prstGeom prst="round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1874520"/>
            <a:ext cx="10874959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How LLMs work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and why they behave the way they do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658368" y="3337560"/>
            <a:ext cx="29260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352044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Mental model → behaviour → limits → sanity-checking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1259007" y="6601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Triangle 18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2/18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Work faster: better prompts → better drafts (reports, code, comms)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Avoid costly mistakes: know when outputs can be confidently wrong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Make smart choices: when to use LLMs vs search/tools vs humans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24928" y="1600200"/>
            <a:ext cx="410839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24928" y="1600200"/>
            <a:ext cx="10972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53528" y="1746504"/>
            <a:ext cx="37883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53528" y="2039112"/>
            <a:ext cx="3788359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Drafts, summaries, first-pass 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24928" y="3108960"/>
            <a:ext cx="410839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24928" y="3108960"/>
            <a:ext cx="10972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53528" y="3255264"/>
            <a:ext cx="37883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53528" y="3547872"/>
            <a:ext cx="3788359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Spot failure modes early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24928" y="4617720"/>
            <a:ext cx="410839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24928" y="4617720"/>
            <a:ext cx="109728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53528" y="4764024"/>
            <a:ext cx="37883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53528" y="5056632"/>
            <a:ext cx="3788359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 tool responsibly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259007" y="6601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Triangle 17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3/18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After today, you’ll be able to explain…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What “next-token prediction” means (and why it’s so fluent)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Tokens + context window (and why prompts need structure)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Attention (why some parts of your prompt dominate)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Why outputs vary (wording, randomness, settings)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Why hallucinations happen and how to catch them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24928" y="1920240"/>
            <a:ext cx="4108399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53528" y="2084832"/>
            <a:ext cx="36511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79128" y="2606040"/>
            <a:ext cx="0" cy="1371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24928" y="2788920"/>
            <a:ext cx="410839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53528" y="2953512"/>
            <a:ext cx="36511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79128" y="3474720"/>
            <a:ext cx="0" cy="1371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24928" y="3657600"/>
            <a:ext cx="410839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528" y="3822192"/>
            <a:ext cx="36511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79128" y="4343400"/>
            <a:ext cx="0" cy="1371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24928" y="4526280"/>
            <a:ext cx="410839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53528" y="4690872"/>
            <a:ext cx="36511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Sanity-check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259007" y="6601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Triangle 20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4/18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253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What “AI” means in this lecture series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“AI” is an umbrella: rules, search, ML, robotics, etc.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Modern generative AI: models that produce new text/images/audio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LLMs are one slice: language-in → language-out systems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We’ll focus on behaviour, not implementation maths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24928" y="1965960"/>
            <a:ext cx="4108399" cy="65836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53528" y="2130552"/>
            <a:ext cx="365119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AI (umbrella)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479128" y="2624328"/>
            <a:ext cx="0" cy="10972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24928" y="2788920"/>
            <a:ext cx="4108399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53528" y="2953512"/>
            <a:ext cx="365119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479128" y="3447288"/>
            <a:ext cx="0" cy="10972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24928" y="3611880"/>
            <a:ext cx="4108399" cy="658368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528" y="3776472"/>
            <a:ext cx="365119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479128" y="4270248"/>
            <a:ext cx="0" cy="10972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24928" y="4434840"/>
            <a:ext cx="4108399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53528" y="4599432"/>
            <a:ext cx="365119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79128" y="5093208"/>
            <a:ext cx="0" cy="10972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24928" y="5257800"/>
            <a:ext cx="4108399" cy="658368"/>
          </a:xfrm>
          <a:prstGeom prst="roundRect">
            <a:avLst/>
          </a:prstGeom>
          <a:solidFill>
            <a:srgbClr val="BFDB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53528" y="5422392"/>
            <a:ext cx="365119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LLMs (today)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259007" y="6601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Triangle 15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5/18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What an LLM is (simple definition)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en-AU" dirty="0">
                <a:solidFill/>
                <a:latin typeface="Aptos"/>
              </a:rPr>
              <a:t>An LLM is a super-advanced autocomplete that starts with your prompt and builds an answer, one chunk at a time, from the given context window.</a:t>
            </a:r>
          </a:p>
        </p:txBody>
      </p:sp>
      <p:sp>
        <p:nvSpPr>
          <p:cNvPr id="5" name="Shape 3"/>
          <p:cNvSpPr/>
          <p:nvPr/>
        </p:nvSpPr>
        <p:spPr>
          <a:xfrm>
            <a:off x="7650328" y="2331720"/>
            <a:ext cx="3657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33208" y="244144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(prompt)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479128" y="3108960"/>
            <a:ext cx="0" cy="4114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50328" y="3611880"/>
            <a:ext cx="3657600" cy="7772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33208" y="37216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(model)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479128" y="4389120"/>
            <a:ext cx="0" cy="4114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50328" y="4892040"/>
            <a:ext cx="3657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33208" y="50017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(response)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259007" y="6601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Triangle 19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6/18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755648" cy="2103120"/>
          </a:xfrm>
          <a:prstGeom prst="roundRect">
            <a:avLst/>
          </a:prstGeom>
          <a:solidFill>
            <a:srgbClr val="EBF6FE"/>
          </a:solidFill>
          <a:ln w="19050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r>
              <a:rPr sz="1300" b="1" dirty="0">
                <a:solidFill>
                  <a:srgbClr val="1C1C1C"/>
                </a:solidFill>
                <a:latin typeface="Aptos"/>
              </a:rPr>
              <a:t>1) Prompt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C1C1C"/>
                </a:solidFill>
                <a:latin typeface="Aptos"/>
              </a:rPr>
              <a:t>“Write a short, polite email
asking for a 2-day extension
on an assignment.”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691640"/>
            <a:ext cx="1755648" cy="2103120"/>
          </a:xfrm>
          <a:prstGeom prst="roundRect">
            <a:avLst/>
          </a:prstGeom>
          <a:solidFill>
            <a:srgbClr val="EBF6FE"/>
          </a:solidFill>
          <a:ln w="19050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r>
              <a:rPr sz="1300" b="1" dirty="0">
                <a:solidFill>
                  <a:srgbClr val="1C1C1C"/>
                </a:solidFill>
                <a:latin typeface="Aptos"/>
              </a:rPr>
              <a:t>2) Tokens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C1C1C"/>
                </a:solidFill>
                <a:latin typeface="Aptos"/>
              </a:rPr>
              <a:t>Split the prompt into
small text chunks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1755648" cy="2103120"/>
          </a:xfrm>
          <a:prstGeom prst="roundRect">
            <a:avLst/>
          </a:prstGeom>
          <a:solidFill>
            <a:srgbClr val="EBF6FE"/>
          </a:solidFill>
          <a:ln w="19050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r>
              <a:rPr sz="1300" b="1" dirty="0">
                <a:solidFill>
                  <a:srgbClr val="1C1C1C"/>
                </a:solidFill>
                <a:latin typeface="Aptos"/>
              </a:rPr>
              <a:t>3) Context window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C1C1C"/>
                </a:solidFill>
                <a:latin typeface="Aptos"/>
              </a:rPr>
              <a:t>Load into what it can ‘see’
(prompt + recent chat)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91640"/>
            <a:ext cx="1755648" cy="2103120"/>
          </a:xfrm>
          <a:prstGeom prst="roundRect">
            <a:avLst/>
          </a:prstGeom>
          <a:solidFill>
            <a:srgbClr val="EBF6FE"/>
          </a:solidFill>
          <a:ln w="19050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r>
              <a:rPr sz="1300" b="1" dirty="0">
                <a:solidFill>
                  <a:srgbClr val="1C1C1C"/>
                </a:solidFill>
                <a:latin typeface="Aptos"/>
              </a:rPr>
              <a:t>4) Attention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C1C1C"/>
                </a:solidFill>
                <a:latin typeface="Aptos"/>
              </a:rPr>
              <a:t>Weights the key bits:
polite email | 2-day extension | assignment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91640"/>
            <a:ext cx="1755648" cy="2103120"/>
          </a:xfrm>
          <a:prstGeom prst="roundRect">
            <a:avLst/>
          </a:prstGeom>
          <a:solidFill>
            <a:srgbClr val="EBF6FE"/>
          </a:solidFill>
          <a:ln w="19050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r>
              <a:rPr sz="1300" b="1" dirty="0">
                <a:solidFill>
                  <a:srgbClr val="1C1C1C"/>
                </a:solidFill>
                <a:latin typeface="Aptos"/>
              </a:rPr>
              <a:t>5) Generate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C1C1C"/>
                </a:solidFill>
                <a:latin typeface="Aptos"/>
              </a:rPr>
              <a:t>Predict → add → repeat
(one chunk at a time)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1691640"/>
            <a:ext cx="1755648" cy="2103120"/>
          </a:xfrm>
          <a:prstGeom prst="roundRect">
            <a:avLst/>
          </a:prstGeom>
          <a:solidFill>
            <a:srgbClr val="EBF6FE"/>
          </a:solidFill>
          <a:ln w="19050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r>
              <a:rPr sz="1300" b="1" dirty="0">
                <a:solidFill>
                  <a:srgbClr val="1C1C1C"/>
                </a:solidFill>
                <a:latin typeface="Aptos"/>
              </a:rPr>
              <a:t>6) Output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C1C1C"/>
                </a:solidFill>
                <a:latin typeface="Aptos"/>
              </a:rPr>
              <a:t>“Hi [Name], I’m writing to request
 a two-day extension…”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04288" y="2743200"/>
            <a:ext cx="164592" cy="0"/>
          </a:xfrm>
          <a:prstGeom prst="line">
            <a:avLst/>
          </a:prstGeom>
          <a:ln w="25400">
            <a:solidFill>
              <a:srgbClr val="227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24528" y="2743200"/>
            <a:ext cx="164592" cy="0"/>
          </a:xfrm>
          <a:prstGeom prst="line">
            <a:avLst/>
          </a:prstGeom>
          <a:ln w="25400">
            <a:solidFill>
              <a:srgbClr val="227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44768" y="2743200"/>
            <a:ext cx="164592" cy="0"/>
          </a:xfrm>
          <a:prstGeom prst="line">
            <a:avLst/>
          </a:prstGeom>
          <a:ln w="25400">
            <a:solidFill>
              <a:srgbClr val="227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65008" y="2743200"/>
            <a:ext cx="164592" cy="0"/>
          </a:xfrm>
          <a:prstGeom prst="line">
            <a:avLst/>
          </a:prstGeom>
          <a:ln w="25400">
            <a:solidFill>
              <a:srgbClr val="227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85248" y="2743200"/>
            <a:ext cx="164592" cy="0"/>
          </a:xfrm>
          <a:prstGeom prst="line">
            <a:avLst/>
          </a:prstGeom>
          <a:ln w="25400">
            <a:solidFill>
              <a:srgbClr val="227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977639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5F5F5F"/>
                </a:solidFill>
                <a:latin typeface="Aptos"/>
              </a:rPr>
              <a:t>Same flow for any prompt: the model builds the answer from the text inside its context window.</a:t>
            </a: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0048E9E1-552C-8F20-63F2-656FCC6EDA4C}"/>
              </a:ext>
            </a:extLst>
          </p:cNvPr>
          <p:cNvSpPr/>
          <p:nvPr/>
        </p:nvSpPr>
        <p:spPr>
          <a:xfrm>
            <a:off x="11259007" y="6601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9F8B6EF9-4120-154C-E4F2-78F2DEED58DB}"/>
              </a:ext>
            </a:extLst>
          </p:cNvPr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23C631E-B15D-2CF4-981E-FD23235ADBD2}"/>
              </a:ext>
            </a:extLst>
          </p:cNvPr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Basic Example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Triangle 15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7/18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LLM vs search engine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LLM: generates an answer (pattern completion)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Search: retrieves sources (grounded evidence)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 LLM for drafting and synthesis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 search for fresh facts, names, numbers, citations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Best practice: hybrid → sources + model + verification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24928" y="1691640"/>
            <a:ext cx="1917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53528" y="1874520"/>
            <a:ext cx="145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53528" y="2377440"/>
            <a:ext cx="145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Writes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Explains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Summarises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16288" y="1691640"/>
            <a:ext cx="1917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44888" y="1874520"/>
            <a:ext cx="145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44888" y="2377440"/>
            <a:ext cx="145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Finds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Quotes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Cites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24928" y="4114800"/>
            <a:ext cx="4108399" cy="12801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528" y="4251960"/>
            <a:ext cx="3651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Hybrid workflow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53528" y="4599432"/>
            <a:ext cx="365119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 sources as inputs → ask the model to synthesise → verify key claims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259007" y="6601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Triangle 22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8/18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70408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>
                <a:solidFill>
                  <a:srgbClr val="1C1C1C"/>
                </a:solidFill>
                <a:latin typeface="Aptos"/>
              </a:rPr>
              <a:t>Example prompt: "Please summarise this article in 3 dot points."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847898" cy="502920"/>
          </a:xfrm>
          <a:prstGeom prst="roundRect">
            <a:avLst/>
          </a:prstGeom>
          <a:solidFill>
            <a:srgbClr val="EBF6FE"/>
          </a:solidFill>
          <a:ln w="15875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C1C1C"/>
                </a:solidFill>
                <a:latin typeface="Aptos"/>
              </a:rPr>
              <a:t>Please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7978" y="2697480"/>
            <a:ext cx="847898" cy="502920"/>
          </a:xfrm>
          <a:prstGeom prst="roundRect">
            <a:avLst/>
          </a:prstGeom>
          <a:solidFill>
            <a:srgbClr val="EBF6FE"/>
          </a:solidFill>
          <a:ln w="15875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dirty="0" err="1">
                <a:solidFill>
                  <a:srgbClr val="1C1C1C"/>
                </a:solidFill>
                <a:latin typeface="Aptos"/>
              </a:rPr>
              <a:t>summar</a:t>
            </a:r>
            <a:endParaRPr sz="1400" dirty="0">
              <a:solidFill>
                <a:srgbClr val="1C1C1C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27316" y="2697480"/>
            <a:ext cx="423949" cy="502920"/>
          </a:xfrm>
          <a:prstGeom prst="roundRect">
            <a:avLst/>
          </a:prstGeom>
          <a:solidFill>
            <a:srgbClr val="EBF6FE"/>
          </a:solidFill>
          <a:ln w="15875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 err="1">
                <a:solidFill>
                  <a:srgbClr val="1C1C1C"/>
                </a:solidFill>
                <a:latin typeface="Aptos"/>
              </a:rPr>
              <a:t>ise</a:t>
            </a:r>
            <a:endParaRPr sz="1200" dirty="0">
              <a:solidFill>
                <a:srgbClr val="1C1C1C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42705" y="2697480"/>
            <a:ext cx="565265" cy="502920"/>
          </a:xfrm>
          <a:prstGeom prst="roundRect">
            <a:avLst/>
          </a:prstGeom>
          <a:solidFill>
            <a:srgbClr val="EBF6FE"/>
          </a:solidFill>
          <a:ln w="15875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C1C1C"/>
                </a:solidFill>
                <a:latin typeface="Aptos"/>
              </a:rPr>
              <a:t>this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9410" y="2697480"/>
            <a:ext cx="989214" cy="502920"/>
          </a:xfrm>
          <a:prstGeom prst="roundRect">
            <a:avLst/>
          </a:prstGeom>
          <a:solidFill>
            <a:srgbClr val="EBF6FE"/>
          </a:solidFill>
          <a:ln w="15875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C1C1C"/>
                </a:solidFill>
                <a:latin typeface="Aptos"/>
              </a:rPr>
              <a:t>article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65" y="2697480"/>
            <a:ext cx="423949" cy="502920"/>
          </a:xfrm>
          <a:prstGeom prst="roundRect">
            <a:avLst/>
          </a:prstGeom>
          <a:solidFill>
            <a:srgbClr val="EBF6FE"/>
          </a:solidFill>
          <a:ln w="15875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C1C1C"/>
                </a:solidFill>
                <a:latin typeface="Aptos"/>
              </a:rPr>
              <a:t>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95454" y="2697480"/>
            <a:ext cx="423949" cy="502920"/>
          </a:xfrm>
          <a:prstGeom prst="roundRect">
            <a:avLst/>
          </a:prstGeom>
          <a:solidFill>
            <a:srgbClr val="EBF6FE"/>
          </a:solidFill>
          <a:ln w="15875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C1C1C"/>
                </a:solidFill>
                <a:latin typeface="Aptos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0843" y="2697480"/>
            <a:ext cx="465513" cy="502920"/>
          </a:xfrm>
          <a:prstGeom prst="roundRect">
            <a:avLst/>
          </a:prstGeom>
          <a:solidFill>
            <a:srgbClr val="EBF6FE"/>
          </a:solidFill>
          <a:ln w="15875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1C1C1C"/>
                </a:solidFill>
                <a:latin typeface="Aptos"/>
              </a:rPr>
              <a:t>dot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6232" y="2697480"/>
            <a:ext cx="847898" cy="502920"/>
          </a:xfrm>
          <a:prstGeom prst="roundRect">
            <a:avLst/>
          </a:prstGeom>
          <a:solidFill>
            <a:srgbClr val="EBF6FE"/>
          </a:solidFill>
          <a:ln w="15875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C1C1C"/>
                </a:solidFill>
                <a:latin typeface="Aptos"/>
              </a:rPr>
              <a:t>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65570" y="2697480"/>
            <a:ext cx="423949" cy="502920"/>
          </a:xfrm>
          <a:prstGeom prst="roundRect">
            <a:avLst/>
          </a:prstGeom>
          <a:solidFill>
            <a:srgbClr val="EBF6FE"/>
          </a:solidFill>
          <a:ln w="15875">
            <a:solidFill>
              <a:srgbClr val="22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C1C1C"/>
                </a:solidFill>
                <a:latin typeface="Apto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7040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F5F5F"/>
                </a:solidFill>
                <a:latin typeface="Aptos"/>
              </a:rPr>
              <a:t>Notice how a single word can split (e.g., "summarise" → "summar" + "ise").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600200"/>
            <a:ext cx="3886200" cy="308152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1737360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rPr dirty="0">
                <a:solidFill/>
                <a:latin typeface="Aptos"/>
              </a:rPr>
              <a:t>Tokens are text chunks (not whole words).</a:t>
            </a:r>
          </a:p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rPr dirty="0">
                <a:solidFill/>
                <a:latin typeface="Aptos"/>
              </a:rPr>
              <a:t>Tokens can be words, sub-words, or punctuation.</a:t>
            </a:r>
          </a:p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rPr dirty="0">
                <a:solidFill/>
                <a:latin typeface="Aptos"/>
              </a:rPr>
              <a:t>Small wording changes -&gt; different tokens -&gt; different outputs.</a:t>
            </a:r>
          </a:p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rPr dirty="0">
                <a:solidFill/>
                <a:latin typeface="Aptos"/>
              </a:rPr>
              <a:t>The context limit is measured in tokens.</a:t>
            </a:r>
          </a:p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rPr dirty="0">
                <a:solidFill/>
                <a:latin typeface="Aptos"/>
              </a:rPr>
              <a:t>More tokens usually means more cost/time.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How LLMs work • Tokens</a:t>
            </a:r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F7DE53DB-67AC-CF8F-2EEA-FF4B7C0F4AF7}"/>
              </a:ext>
            </a:extLst>
          </p:cNvPr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E5F33AB3-2111-4474-DDE6-8F4238AF367A}"/>
              </a:ext>
            </a:extLst>
          </p:cNvPr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Tokens: how the model reads your text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Triangle 11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9/18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Context window: what the model can “see”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Models have a finite context window (token limit)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Long chats push early details out of view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Symptoms: forgotten constraints, inconsistent answers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Fixes: summarise, restate key points, attach docs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24928" y="2468880"/>
            <a:ext cx="4108399" cy="502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4928" y="2148840"/>
            <a:ext cx="4108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Conversation history (tokens)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273708" y="2505456"/>
            <a:ext cx="2054200" cy="429768"/>
          </a:xfrm>
          <a:prstGeom prst="roundRect">
            <a:avLst/>
          </a:prstGeom>
          <a:solidFill>
            <a:srgbClr val="DBEAFE">
              <a:alpha val="90000"/>
            </a:srgbClr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84548" y="2587752"/>
            <a:ext cx="14379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24928" y="3383280"/>
            <a:ext cx="41083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Older parts drop out → restate what matters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259007" y="6601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Triangle 27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10/18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Attention: how it decides what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Intuition: it weights different parts of the input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Recency + salience often dominate (last instructions win)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Clear structure helps: headings, bullets, “Constraints:”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You can “steer” attention with examples and formatting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24928" y="1691640"/>
            <a:ext cx="4108399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53528" y="1856232"/>
            <a:ext cx="3651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Prompt (structured)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6096" y="2258568"/>
            <a:ext cx="3706063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17536" y="2331720"/>
            <a:ext cx="33403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Task: summarise the article in 5 bullets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121847" y="2386584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26096" y="2788920"/>
            <a:ext cx="3706063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17536" y="2862072"/>
            <a:ext cx="33403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Audience: first-year students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121847" y="2916936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6096" y="3319272"/>
            <a:ext cx="3706063" cy="420624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17536" y="3392424"/>
            <a:ext cx="33403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Constraints: Australian English; no jargon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121847" y="344728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26096" y="3849624"/>
            <a:ext cx="3706063" cy="42062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17536" y="3922776"/>
            <a:ext cx="33403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Include: 2 examples + 1 analogy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121847" y="397764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26096" y="4379976"/>
            <a:ext cx="3706063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17536" y="4453128"/>
            <a:ext cx="33403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…(lots of text)…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121847" y="4507992"/>
            <a:ext cx="164592" cy="164592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26096" y="4910328"/>
            <a:ext cx="3706063" cy="420624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17536" y="4983480"/>
            <a:ext cx="33403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Final instruction: keep it under 120 words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121847" y="503834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24928" y="5760720"/>
            <a:ext cx="4108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Stronger borders/markers ≈ more influence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249771" y="6629400"/>
            <a:ext cx="35110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Triangle 19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11/18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How an answer is generated (next-token loop)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Predict → append → repeat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Fluency comes from many small, likely steps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Errors can propagate once a wrong path starts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16368" y="1965960"/>
            <a:ext cx="328543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44968" y="2075688"/>
            <a:ext cx="282823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1) Take context (your prompt + history)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59088" y="2651760"/>
            <a:ext cx="0" cy="2743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16368" y="2971800"/>
            <a:ext cx="3285439" cy="68580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44968" y="3081528"/>
            <a:ext cx="282823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2) Predict next token probabilities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59088" y="3657600"/>
            <a:ext cx="0" cy="2743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16368" y="3977640"/>
            <a:ext cx="328543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44968" y="4087368"/>
            <a:ext cx="282823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3) Choose one token (sampling)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59088" y="4663440"/>
            <a:ext cx="0" cy="2743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16368" y="4983480"/>
            <a:ext cx="328543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44968" y="5093208"/>
            <a:ext cx="282823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4) Append token → new context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213287" y="2057400"/>
            <a:ext cx="0" cy="35204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893247" y="56235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259007" y="6620256"/>
            <a:ext cx="34186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Triangle 18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12/18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Why answers can differ 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Prompt wording changes interpretation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Randomness: sampling temperature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Different models + settings behave differently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Tip: for consistency, lock format + constraints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24928" y="2011680"/>
            <a:ext cx="4108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Prompt framing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24928" y="2423160"/>
            <a:ext cx="4108399" cy="310896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95387" y="2459736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95319" y="2971800"/>
            <a:ext cx="4108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Temperature / randomness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24927" y="3378708"/>
            <a:ext cx="4108399" cy="310896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95387" y="341985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24926" y="3922776"/>
            <a:ext cx="4108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Model + settings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58761" y="4361872"/>
            <a:ext cx="4108399" cy="310896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95387" y="440265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95318" y="4898822"/>
            <a:ext cx="4019137" cy="770457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98569" y="4944543"/>
            <a:ext cx="36511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Consistency recipe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98569" y="5310303"/>
            <a:ext cx="365119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Same prompt + same constraints + lower temperature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249771" y="6583496"/>
            <a:ext cx="3511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Triangle 15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13/18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Hallucinations: confident wrong answers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Hallucination = fluent text that isn’t supported by evidence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Why: pattern completion without grounding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Triggers: niche facts, missing context, “be definitive” pressure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Red flag: citations that don’t exist or don’t match the claim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24928" y="1965960"/>
            <a:ext cx="4108399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62088" y="2057400"/>
            <a:ext cx="383407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10366" y="5696712"/>
            <a:ext cx="82295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27848" y="2468880"/>
            <a:ext cx="0" cy="301752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27848" y="5486400"/>
            <a:ext cx="3102559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10728" y="2651760"/>
            <a:ext cx="2560320" cy="1828800"/>
          </a:xfrm>
          <a:prstGeom prst="ellipse">
            <a:avLst/>
          </a:prstGeom>
          <a:solidFill>
            <a:srgbClr val="FEE2E2">
              <a:alpha val="90000"/>
            </a:srgbClr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10728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036808" y="4023360"/>
            <a:ext cx="0" cy="1463040"/>
          </a:xfrm>
          <a:prstGeom prst="roundRect">
            <a:avLst/>
          </a:prstGeom>
          <a:solidFill>
            <a:srgbClr val="DCFCE7">
              <a:alpha val="9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 flipH="1">
            <a:off x="11036807" y="4297680"/>
            <a:ext cx="121984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(sources / data)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222062" y="6601968"/>
            <a:ext cx="37881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Triangle 26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14/18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What LLMs are good at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Drafting: outlines, emails, first-pass reports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Summarising: compress long text into key points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Rephrasing: clarity, tone, Australian English style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Explaining: step-by-step concepts + analogies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Brainstorming: options, edge cases, checklists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24928" y="1691640"/>
            <a:ext cx="19399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24928" y="1691640"/>
            <a:ext cx="10972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53528" y="1837944"/>
            <a:ext cx="16198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53528" y="2057400"/>
            <a:ext cx="16198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Turn my notes into a 1-page brief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93428" y="1691640"/>
            <a:ext cx="19399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593428" y="1691640"/>
            <a:ext cx="10972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22028" y="1837944"/>
            <a:ext cx="16198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Summarise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22028" y="2057400"/>
            <a:ext cx="16198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Give me the 5 takeaways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24928" y="2880360"/>
            <a:ext cx="19399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24928" y="2880360"/>
            <a:ext cx="109728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53528" y="3026664"/>
            <a:ext cx="16198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Rephrase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53528" y="3181142"/>
            <a:ext cx="16198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Make this clearer and more professional.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93428" y="2880360"/>
            <a:ext cx="19399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593428" y="2880360"/>
            <a:ext cx="10972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822028" y="3026664"/>
            <a:ext cx="16198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08312" y="3246120"/>
            <a:ext cx="16198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Teach this like I’m new to it.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24928" y="4069080"/>
            <a:ext cx="410839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24928" y="4069080"/>
            <a:ext cx="109728" cy="9601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53528" y="4215384"/>
            <a:ext cx="37883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Brainstorm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53528" y="4507992"/>
            <a:ext cx="3788359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List risks + mitigations.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240535" y="6583496"/>
            <a:ext cx="3603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Triangle 11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15/18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What LLMs are risky at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Fresh facts (today’s numbers, breaking news)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Niche claims without sources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Maths without checks (especially multi-step)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Legal/medical certainty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Confidential or sensitive data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24928" y="1965960"/>
            <a:ext cx="4108399" cy="41148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44968" y="2377440"/>
            <a:ext cx="1005840" cy="91440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44968" y="2532888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979408" y="2468880"/>
            <a:ext cx="22795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Mitigate with: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79408" y="2880360"/>
            <a:ext cx="2279599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/>
                <a:ea typeface="Calibri" pitchFamily="34" charset="-122"/>
                <a:cs typeface="Calibri" pitchFamily="34" charset="-120"/>
              </a:rPr>
              <a:t>• Use sources (links, docs, data)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/>
                <a:ea typeface="Calibri" pitchFamily="34" charset="-122"/>
                <a:cs typeface="Calibri" pitchFamily="34" charset="-120"/>
              </a:rPr>
              <a:t>• Ask for uncertainty + assumptions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/>
                <a:ea typeface="Calibri" pitchFamily="34" charset="-122"/>
                <a:cs typeface="Calibri" pitchFamily="34" charset="-120"/>
              </a:rPr>
              <a:t>• Cross-check with calculators/tools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/>
                <a:ea typeface="Calibri" pitchFamily="34" charset="-122"/>
                <a:cs typeface="Calibri" pitchFamily="34" charset="-120"/>
              </a:rPr>
              <a:t>• Use professionals for high-stakes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/>
                <a:ea typeface="Calibri" pitchFamily="34" charset="-122"/>
                <a:cs typeface="Calibri" pitchFamily="34" charset="-120"/>
              </a:rPr>
              <a:t>• Don’t share restricted info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240535" y="6611204"/>
            <a:ext cx="36033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Triangle 30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16/18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Trust-but-verify checklist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Is this high-stakes or hard to undo?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Are there numbers, dates, names, citations?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What assumptions did it make?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Can I reproduce the logic / steps?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Check 2 sources (or the original doc)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If unsure: ask it to show uncertainty + alternatives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24928" y="176479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43216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73568" y="1691640"/>
            <a:ext cx="3559759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10728" y="1837944"/>
            <a:ext cx="32397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Is this high-stakes or hard to undo?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24928" y="249631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43216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73568" y="2423160"/>
            <a:ext cx="3559759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10728" y="2569464"/>
            <a:ext cx="32397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Are there numbers, dates, names, citations?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24928" y="322783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43216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73568" y="3154680"/>
            <a:ext cx="3559759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10728" y="3300984"/>
            <a:ext cx="32397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What assumptions did it make?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24928" y="395935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43216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73568" y="3886200"/>
            <a:ext cx="3559759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10728" y="4032504"/>
            <a:ext cx="32397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Can I reproduce the logic / steps?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24928" y="469087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43216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73568" y="4617720"/>
            <a:ext cx="3559759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10728" y="4764024"/>
            <a:ext cx="32397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Check 2 sources (or the original doc)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24928" y="542239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43216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73568" y="5349240"/>
            <a:ext cx="3559759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10728" y="5495544"/>
            <a:ext cx="32397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If unsure: ask it to show uncertainty + alternatives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1212827" y="6583496"/>
            <a:ext cx="388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Triangle 18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17/18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2" name="Shape 0"/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Demo 1: wording changes output (interactive)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2636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Same task → 3 prompts → compare the outputs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Watch for: scope, tone, assumptions, structure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Audience vote: which prompt gave the best result?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24928" y="1600200"/>
            <a:ext cx="410839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24928" y="1600200"/>
            <a:ext cx="109728" cy="1234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53528" y="1746504"/>
            <a:ext cx="37883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Prompt A (vague)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53528" y="2039112"/>
            <a:ext cx="3788359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Help me study for my AI exam tomorrow.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24928" y="3063240"/>
            <a:ext cx="410839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24928" y="3063240"/>
            <a:ext cx="10972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53528" y="3209544"/>
            <a:ext cx="37883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Prompt B (structured)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53528" y="3502152"/>
            <a:ext cx="3788359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Create a 2-hour study plan for an intro ML exam. Include 4 topics and 6 practice questions.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24928" y="4526280"/>
            <a:ext cx="410839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24928" y="4526280"/>
            <a:ext cx="10972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53528" y="4672584"/>
            <a:ext cx="37883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Prompt C (role + format)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53528" y="4965192"/>
            <a:ext cx="3788359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You are a tutor. Make a 2-hour plan in 10-min blocks. Prioritise high-yield topics, include self-check questions, finish with a recap.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259007" y="6611204"/>
            <a:ext cx="34186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417320"/>
            <a:ext cx="10881360" cy="44805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Triangle 8"/>
          <p:cNvSpPr/>
          <p:nvPr/>
        </p:nvSpPr>
        <p:spPr>
          <a:xfrm>
            <a:off x="10180015" y="0"/>
            <a:ext cx="2011680" cy="1463040"/>
          </a:xfrm>
          <a:prstGeom prst="rtTriangle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777240"/>
            <a:ext cx="164592" cy="502920"/>
          </a:xfrm>
          <a:prstGeom prst="roundRect">
            <a:avLst/>
          </a:prstGeom>
          <a:solidFill>
            <a:srgbClr val="22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6291072"/>
            <a:ext cx="10637215" cy="27432"/>
          </a:xfrm>
          <a:prstGeom prst="rect">
            <a:avLst/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57255" y="6355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5F5F"/>
                </a:solidFill>
                <a:latin typeface="Aptos"/>
              </a:rPr>
              <a:t>18/18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5F5F"/>
                </a:solidFill>
                <a:latin typeface="Aptos"/>
              </a:rPr>
              <a:t>How LLMs work • Mental model → behaviour → limits → sanity-checking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7514"/>
            <a:ext cx="104241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/>
                <a:latin typeface="Aptos"/>
              </a:rPr>
              <a:t>Tokens:</a:t>
            </a:r>
            <a:r>
              <a:rPr lang="en-AU" sz="2000" dirty="0">
                <a:solidFill/>
                <a:latin typeface="Aptos"/>
              </a:rPr>
              <a:t> your text is split into small chunks; the model predicts and outputs one chunk at a time.</a:t>
            </a:r>
          </a:p>
          <a:p>
            <a:endParaRPr lang="en-AU" sz="2000" dirty="0"/>
          </a:p>
          <a:p>
            <a:r>
              <a:rPr lang="en-AU" sz="2000" b="1" dirty="0">
                <a:solidFill/>
                <a:latin typeface="Aptos"/>
              </a:rPr>
              <a:t>Context window:</a:t>
            </a:r>
            <a:r>
              <a:rPr lang="en-AU" sz="2000" dirty="0">
                <a:solidFill/>
                <a:latin typeface="Aptos"/>
              </a:rPr>
              <a:t> the “working memory” — only the text inside it can influence the answer.</a:t>
            </a:r>
          </a:p>
          <a:p>
            <a:endParaRPr lang="en-AU" sz="2000" dirty="0"/>
          </a:p>
          <a:p>
            <a:r>
              <a:rPr lang="en-AU" sz="2000" b="1" dirty="0">
                <a:solidFill/>
                <a:latin typeface="Aptos"/>
              </a:rPr>
              <a:t>Attention:</a:t>
            </a:r>
            <a:r>
              <a:rPr lang="en-AU" sz="2000" dirty="0">
                <a:solidFill/>
                <a:latin typeface="Aptos"/>
              </a:rPr>
              <a:t> the model’s focus — it weights some parts of the context more than others while generating.</a:t>
            </a:r>
          </a:p>
          <a:p>
            <a:endParaRPr lang="en-AU" sz="2000" dirty="0"/>
          </a:p>
          <a:p>
            <a:r>
              <a:rPr lang="en-AU" sz="2000" b="1" dirty="0">
                <a:solidFill/>
                <a:latin typeface="Aptos"/>
              </a:rPr>
              <a:t>Next-token generation:</a:t>
            </a:r>
            <a:r>
              <a:rPr lang="en-AU" sz="2000" dirty="0">
                <a:solidFill/>
                <a:latin typeface="Aptos"/>
              </a:rPr>
              <a:t> it builds the reply step-by-step by predicting the next chunk, which keeps it fluent but can lock in early mistakes.</a:t>
            </a:r>
          </a:p>
          <a:p>
            <a:endParaRPr lang="en-AU" sz="2000" dirty="0"/>
          </a:p>
          <a:p>
            <a:r>
              <a:rPr lang="en-AU" sz="2000" b="1" dirty="0">
                <a:solidFill/>
                <a:latin typeface="Aptos"/>
              </a:rPr>
              <a:t>Trust-but-verify:</a:t>
            </a:r>
            <a:r>
              <a:rPr lang="en-AU" sz="2000" dirty="0">
                <a:solidFill/>
                <a:latin typeface="Aptos"/>
              </a:rPr>
              <a:t> use it for drafts and thinking; verify facts, numbers, quotes, and “latest” claims with sources.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32120"/>
            <a:ext cx="10789920" cy="914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56235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27AB4"/>
                </a:solidFill>
                <a:latin typeface="Aptos"/>
              </a:rPr>
              <a:t>Next lecture: how to get consistently good results (briefs, templates, iteration, verification)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5F84E7F7-C5EE-939F-78FD-85737F8E7577}"/>
              </a:ext>
            </a:extLst>
          </p:cNvPr>
          <p:cNvSpPr/>
          <p:nvPr/>
        </p:nvSpPr>
        <p:spPr>
          <a:xfrm>
            <a:off x="658368" y="1188720"/>
            <a:ext cx="10874959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198387B-9A08-997E-F758-DA26A2D500DF}"/>
              </a:ext>
            </a:extLst>
          </p:cNvPr>
          <p:cNvSpPr/>
          <p:nvPr/>
        </p:nvSpPr>
        <p:spPr>
          <a:xfrm>
            <a:off x="658368" y="411480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Key takeaways + what’s next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19577</TotalTime>
  <Words>2098</Words>
  <Application>Microsoft Macintosh PowerPoint</Application>
  <PresentationFormat>Widescreen</PresentationFormat>
  <Paragraphs>346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Clare Branigan</cp:lastModifiedBy>
  <cp:revision>7</cp:revision>
  <dcterms:created xsi:type="dcterms:W3CDTF">2026-01-28T00:01:34Z</dcterms:created>
  <dcterms:modified xsi:type="dcterms:W3CDTF">2026-02-14T08:39:52Z</dcterms:modified>
</cp:coreProperties>
</file>